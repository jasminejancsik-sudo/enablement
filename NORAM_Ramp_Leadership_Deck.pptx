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id="{74052852-e033-b08e-809f-50c7f92c7209}">
          <p14:sldIdLst>
            <p14:sldId id="256"/>
            <p14:sldId id="257"/>
          </p14:sldIdLst>
        </p14:section>
        <p14:section name="The Case" id="{fbc41d01-db46-8459-c682-27580bd1c059}">
          <p14:sldIdLst>
            <p14:sldId id="258"/>
            <p14:sldId id="259"/>
          </p14:sldIdLst>
        </p14:section>
        <p14:section name="The Plan" id="{418017bd-e29b-9312-ddf9-6f198c0555c6}">
          <p14:sldIdLst>
            <p14:sldId id="260"/>
            <p14:sldId id="261"/>
            <p14:sldId id="262"/>
          </p14:sldIdLst>
        </p14:section>
        <p14:section name="The Ask" id="{d7aebacc-b296-ba4f-0077-12cf8f4df52d}">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session: agree the ramp model, the gates per role, and what we need from leadership to pilot it with the next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version. The problem: one-off training fades and ramp isn't measured consistently. The approach: ramp by milestones, manager-owned, with certification gates and reinforcement. The ask: manager ownership, agreed gates, data access and a pilot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well-established findings. Ebbinghaus' forgetting curve: without reinforcement, most new information is lost within days to weeks. And the 70-20-10 heuristic: most learning happens on the job and through others, not in formal training. So a ramp plan that is mostly classroom time leaves most of the learning to chance.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design changes. Each comes from adult learning research: adults learn best when it's relevant now, problem-centred, practised with feedback and reinforced over time. The manager shift is the one that most needs leadership backing.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Pre-boarding is light. Two weeks of onboarding cover only what's needed for a credible first conversation. Ramp to day 90 runs on live deals, weekly manager coaching and certification gates. Everboarding starts with no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gates for discussion. Targets marked with ~ or 'target' are placeholders to agree with each leader. AE first closed deal often lands after day 90 because of cycle length, so AE gates up to day 90 are skill and pipeline 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Kirkpatrick levels 3 and 4: behaviour on the job and business results. Leading indicators warn us early who's off track; lagging indicators prove impact. All of it is compared against a baseline from the last 4–6 cohorts, reported in the quarterly impact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asks. The first is the most important: managers owning the 30/60/90 plan and holding a weekly ramp 1:1. Enablement will provide the kits, scorecards and certifications so this doesn't add design work for managers.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1: baseline and validate gates with each leader. Month 2: build manager kits, certifications and automated reinforcement. Month 3: pilot starts with the next cohort. At day 90 of the pilot, report results against the baseline and iterate.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decision. If leaders want changes to gates or targets, capture them here and confirm owners for each ask before the meeting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977640"/>
            <a:ext cx="10698480" cy="91440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
        <p:nvSpPr>
          <p:cNvPr id="4" name="Text 0"/>
          <p:cNvSpPr/>
          <p:nvPr/>
        </p:nvSpPr>
        <p:spPr>
          <a:xfrm>
            <a:off x="731520" y="6126480"/>
            <a:ext cx="7315200" cy="320040"/>
          </a:xfrm>
          <a:prstGeom prst="rect">
            <a:avLst/>
          </a:prstGeom>
          <a:noFill/>
          <a:ln/>
        </p:spPr>
        <p:txBody>
          <a:bodyPr wrap="square" lIns="0" tIns="0" rIns="0" bIns="0" rtlCol="0" anchor="ctr"/>
          <a:lstStyle/>
          <a:p>
            <a:pPr indent="0" marL="0">
              <a:buNone/>
            </a:pPr>
            <a:r>
              <a:rPr lang="en-US" sz="1200" dirty="0">
                <a:solidFill>
                  <a:schemeClr val="bg2"/>
                </a:solidFill>
              </a:rPr>
              <a:t>Checkout.com · NORAM Revenue Enablement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840480"/>
            <a:ext cx="960120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4" name="Text 0"/>
          <p:cNvSpPr/>
          <p:nvPr/>
        </p:nvSpPr>
        <p:spPr>
          <a:xfrm>
            <a:off x="731520" y="6126480"/>
            <a:ext cx="7315200" cy="320040"/>
          </a:xfrm>
          <a:prstGeom prst="rect">
            <a:avLst/>
          </a:prstGeom>
          <a:noFill/>
          <a:ln/>
        </p:spPr>
        <p:txBody>
          <a:bodyPr wrap="square" lIns="0" tIns="0" rIns="0" bIns="0" rtlCol="0" anchor="ctr"/>
          <a:lstStyle/>
          <a:p>
            <a:pPr indent="0" marL="0">
              <a:buNone/>
            </a:pPr>
            <a:r>
              <a:rPr lang="en-US" sz="1000" dirty="0">
                <a:solidFill>
                  <a:schemeClr val="bg2"/>
                </a:solidFill>
              </a:rPr>
              <a:t>Checkout.com · NORAM Revenue Enablement</a:t>
            </a:r>
            <a:endParaRPr lang="en-US" sz="1000" dirty="0"/>
          </a:p>
        </p:txBody>
      </p:sp>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Checkout.com · NORAM Revenue Enablement</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slideLayout" Target="../slideLayouts/slideLayout4.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Ramping NORAM commercial hires faster</a:t>
            </a:r>
            <a:endParaRPr lang="en-US" sz="4400" dirty="0"/>
          </a:p>
        </p:txBody>
      </p:sp>
      <p:sp>
        <p:nvSpPr>
          <p:cNvPr id="3" name="Text 0"/>
          <p:cNvSpPr/>
          <p:nvPr>
            <p:ph idx="101" type="body" hasCustomPrompt="1"/>
          </p:nvPr>
        </p:nvSpPr>
        <p:spPr>
          <a:xfrm>
            <a:off x="731520" y="3977640"/>
            <a:ext cx="10698480" cy="914400"/>
          </a:xfrm>
          <a:prstGeom prst="rect">
            <a:avLst/>
          </a:prstGeom>
          <a:noFill/>
          <a:ln/>
        </p:spPr>
        <p:txBody>
          <a:bodyPr wrap="square" lIns="0" tIns="0" rIns="0" bIns="0" rtlCol="0" anchor="t"/>
          <a:lstStyle/>
          <a:p>
            <a:pPr algn="l" indent="0" marL="0">
              <a:buNone/>
            </a:pPr>
            <a:r>
              <a:rPr lang="en-US" sz="2000" dirty="0">
                <a:solidFill>
                  <a:schemeClr val="accent6"/>
                </a:solidFill>
              </a:rPr>
              <a:t>A milestone-based ramp model, built on how adults learn · Proposal for NORAM leadership</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Summary: manager-owned ramp, measurable gates</a:t>
            </a:r>
            <a:endParaRPr lang="en-US" sz="3200" dirty="0"/>
          </a:p>
        </p:txBody>
      </p:sp>
      <p:sp>
        <p:nvSpPr>
          <p:cNvPr id="4" name="The problem card"/>
          <p:cNvSpPr/>
          <p:nvPr/>
        </p:nvSpPr>
        <p:spPr>
          <a:xfrm>
            <a:off x="548640" y="1463040"/>
            <a:ext cx="3566160" cy="4480560"/>
          </a:xfrm>
          <a:prstGeom prst="roundRect">
            <a:avLst>
              <a:gd name="adj" fmla="val 2051"/>
            </a:avLst>
          </a:prstGeom>
          <a:solidFill>
            <a:schemeClr val="bg2"/>
          </a:solidFill>
          <a:ln w="12700">
            <a:solidFill>
              <a:schemeClr val="bg2"/>
            </a:solidFill>
            <a:prstDash val="solid"/>
          </a:ln>
        </p:spPr>
      </p:sp>
      <p:sp>
        <p:nvSpPr>
          <p:cNvPr id="5" name="The problem icon circle"/>
          <p:cNvSpPr/>
          <p:nvPr/>
        </p:nvSpPr>
        <p:spPr>
          <a:xfrm>
            <a:off x="914400" y="1828800"/>
            <a:ext cx="822960" cy="822960"/>
          </a:xfrm>
          <a:prstGeom prst="ellipse">
            <a:avLst/>
          </a:prstGeom>
          <a:solidFill>
            <a:schemeClr val="accent1"/>
          </a:solidFill>
          <a:ln w="12700">
            <a:solidFill>
              <a:schemeClr val="accent1"/>
            </a:solidFill>
            <a:prstDash val="solid"/>
          </a:ln>
        </p:spPr>
      </p:sp>
      <p:pic>
        <p:nvPicPr>
          <p:cNvPr id="6" name="The problem icon" descr="The problem icon">    </p:cNvPr>
          <p:cNvPicPr>
            <a:picLocks noChangeAspect="1"/>
          </p:cNvPicPr>
          <p:nvPr/>
        </p:nvPicPr>
        <p:blipFill>
          <a:blip r:embed="rId1"/>
          <a:stretch>
            <a:fillRect/>
          </a:stretch>
        </p:blipFill>
        <p:spPr>
          <a:xfrm>
            <a:off x="1120140" y="2034540"/>
            <a:ext cx="411480" cy="411480"/>
          </a:xfrm>
          <a:prstGeom prst="rect">
            <a:avLst/>
          </a:prstGeom>
        </p:spPr>
      </p:pic>
      <p:sp>
        <p:nvSpPr>
          <p:cNvPr id="7" name="Text 3"/>
          <p:cNvSpPr txBox="1"/>
          <p:nvPr/>
        </p:nvSpPr>
        <p:spPr>
          <a:xfrm>
            <a:off x="914400" y="2880360"/>
            <a:ext cx="2834640" cy="548640"/>
          </a:xfrm>
          <a:prstGeom prst="rect">
            <a:avLst/>
          </a:prstGeom>
          <a:noFill/>
          <a:ln/>
        </p:spPr>
        <p:txBody>
          <a:bodyPr wrap="square" lIns="0" tIns="0" rIns="0" bIns="0" rtlCol="0" anchor="t"/>
          <a:lstStyle/>
          <a:p>
            <a:pPr indent="0" marL="0">
              <a:buNone/>
            </a:pPr>
            <a:r>
              <a:rPr lang="en-US" sz="2400" b="1" dirty="0">
                <a:solidFill>
                  <a:schemeClr val="tx1"/>
                </a:solidFill>
              </a:rPr>
              <a:t>The problem</a:t>
            </a:r>
            <a:endParaRPr lang="en-US" sz="2400" dirty="0"/>
          </a:p>
        </p:txBody>
      </p:sp>
      <p:sp>
        <p:nvSpPr>
          <p:cNvPr id="8" name="Text 4"/>
          <p:cNvSpPr txBox="1"/>
          <p:nvPr/>
        </p:nvSpPr>
        <p:spPr>
          <a:xfrm>
            <a:off x="914400" y="3520440"/>
            <a:ext cx="2834640" cy="2194560"/>
          </a:xfrm>
          <a:prstGeom prst="rect">
            <a:avLst/>
          </a:prstGeom>
          <a:noFill/>
          <a:ln/>
        </p:spPr>
        <p:txBody>
          <a:bodyPr wrap="square" lIns="0" tIns="0" rIns="0" bIns="0" rtlCol="0" anchor="t"/>
          <a:lstStyle/>
          <a:p>
            <a:pPr indent="0" marL="0">
              <a:buNone/>
            </a:pPr>
            <a:r>
              <a:rPr lang="en-US" sz="1700" dirty="0">
                <a:solidFill>
                  <a:schemeClr val="accent3"/>
                </a:solidFill>
              </a:rPr>
              <a:t>Most training is forgotten within weeks without reinforcement, and we have no consistent baseline for ramp time by role.</a:t>
            </a:r>
            <a:endParaRPr lang="en-US" sz="1700" dirty="0"/>
          </a:p>
        </p:txBody>
      </p:sp>
      <p:sp>
        <p:nvSpPr>
          <p:cNvPr id="9" name="The approach card"/>
          <p:cNvSpPr/>
          <p:nvPr/>
        </p:nvSpPr>
        <p:spPr>
          <a:xfrm>
            <a:off x="4297680" y="1463040"/>
            <a:ext cx="3566160" cy="4480560"/>
          </a:xfrm>
          <a:prstGeom prst="roundRect">
            <a:avLst>
              <a:gd name="adj" fmla="val 2051"/>
            </a:avLst>
          </a:prstGeom>
          <a:solidFill>
            <a:schemeClr val="bg2"/>
          </a:solidFill>
          <a:ln w="12700">
            <a:solidFill>
              <a:schemeClr val="bg2"/>
            </a:solidFill>
            <a:prstDash val="solid"/>
          </a:ln>
        </p:spPr>
      </p:sp>
      <p:sp>
        <p:nvSpPr>
          <p:cNvPr id="10" name="The approach icon circle"/>
          <p:cNvSpPr/>
          <p:nvPr/>
        </p:nvSpPr>
        <p:spPr>
          <a:xfrm>
            <a:off x="4663440" y="1828800"/>
            <a:ext cx="822960" cy="822960"/>
          </a:xfrm>
          <a:prstGeom prst="ellipse">
            <a:avLst/>
          </a:prstGeom>
          <a:solidFill>
            <a:schemeClr val="accent1"/>
          </a:solidFill>
          <a:ln w="12700">
            <a:solidFill>
              <a:schemeClr val="accent1"/>
            </a:solidFill>
            <a:prstDash val="solid"/>
          </a:ln>
        </p:spPr>
      </p:sp>
      <p:pic>
        <p:nvPicPr>
          <p:cNvPr id="11" name="The approach icon" descr="The approach icon">    </p:cNvPr>
          <p:cNvPicPr>
            <a:picLocks noChangeAspect="1"/>
          </p:cNvPicPr>
          <p:nvPr/>
        </p:nvPicPr>
        <p:blipFill>
          <a:blip r:embed="rId2"/>
          <a:stretch>
            <a:fillRect/>
          </a:stretch>
        </p:blipFill>
        <p:spPr>
          <a:xfrm>
            <a:off x="4869180" y="2034540"/>
            <a:ext cx="411480" cy="411480"/>
          </a:xfrm>
          <a:prstGeom prst="rect">
            <a:avLst/>
          </a:prstGeom>
        </p:spPr>
      </p:pic>
      <p:sp>
        <p:nvSpPr>
          <p:cNvPr id="12" name="Text 7"/>
          <p:cNvSpPr txBox="1"/>
          <p:nvPr/>
        </p:nvSpPr>
        <p:spPr>
          <a:xfrm>
            <a:off x="4663440" y="2880360"/>
            <a:ext cx="2834640" cy="548640"/>
          </a:xfrm>
          <a:prstGeom prst="rect">
            <a:avLst/>
          </a:prstGeom>
          <a:noFill/>
          <a:ln/>
        </p:spPr>
        <p:txBody>
          <a:bodyPr wrap="square" lIns="0" tIns="0" rIns="0" bIns="0" rtlCol="0" anchor="t"/>
          <a:lstStyle/>
          <a:p>
            <a:pPr indent="0" marL="0">
              <a:buNone/>
            </a:pPr>
            <a:r>
              <a:rPr lang="en-US" sz="2400" b="1" dirty="0">
                <a:solidFill>
                  <a:schemeClr val="tx1"/>
                </a:solidFill>
              </a:rPr>
              <a:t>The approach</a:t>
            </a:r>
            <a:endParaRPr lang="en-US" sz="2400" dirty="0"/>
          </a:p>
        </p:txBody>
      </p:sp>
      <p:sp>
        <p:nvSpPr>
          <p:cNvPr id="13" name="Text 8"/>
          <p:cNvSpPr txBox="1"/>
          <p:nvPr/>
        </p:nvSpPr>
        <p:spPr>
          <a:xfrm>
            <a:off x="4663440" y="3520440"/>
            <a:ext cx="2834640" cy="2194560"/>
          </a:xfrm>
          <a:prstGeom prst="rect">
            <a:avLst/>
          </a:prstGeom>
          <a:noFill/>
          <a:ln/>
        </p:spPr>
        <p:txBody>
          <a:bodyPr wrap="square" lIns="0" tIns="0" rIns="0" bIns="0" rtlCol="0" anchor="t"/>
          <a:lstStyle/>
          <a:p>
            <a:pPr indent="0" marL="0">
              <a:buNone/>
            </a:pPr>
            <a:r>
              <a:rPr lang="en-US" sz="1700" dirty="0">
                <a:solidFill>
                  <a:schemeClr val="accent3"/>
                </a:solidFill>
              </a:rPr>
              <a:t>Ramp by milestones, not calendar. Managers own a 30/60/90 plan per role, with certification gates and spaced reinforcement.</a:t>
            </a:r>
            <a:endParaRPr lang="en-US" sz="1700" dirty="0"/>
          </a:p>
        </p:txBody>
      </p:sp>
      <p:sp>
        <p:nvSpPr>
          <p:cNvPr id="14" name="The ask card"/>
          <p:cNvSpPr/>
          <p:nvPr/>
        </p:nvSpPr>
        <p:spPr>
          <a:xfrm>
            <a:off x="8046720" y="1463040"/>
            <a:ext cx="3566160" cy="4480560"/>
          </a:xfrm>
          <a:prstGeom prst="roundRect">
            <a:avLst>
              <a:gd name="adj" fmla="val 2051"/>
            </a:avLst>
          </a:prstGeom>
          <a:solidFill>
            <a:schemeClr val="tx2"/>
          </a:solidFill>
          <a:ln w="12700">
            <a:solidFill>
              <a:schemeClr val="tx2"/>
            </a:solidFill>
            <a:prstDash val="solid"/>
          </a:ln>
        </p:spPr>
      </p:sp>
      <p:sp>
        <p:nvSpPr>
          <p:cNvPr id="15" name="The ask icon circle"/>
          <p:cNvSpPr/>
          <p:nvPr/>
        </p:nvSpPr>
        <p:spPr>
          <a:xfrm>
            <a:off x="8412480" y="1828800"/>
            <a:ext cx="822960" cy="822960"/>
          </a:xfrm>
          <a:prstGeom prst="ellipse">
            <a:avLst/>
          </a:prstGeom>
          <a:solidFill>
            <a:schemeClr val="accent2"/>
          </a:solidFill>
          <a:ln w="12700">
            <a:solidFill>
              <a:schemeClr val="accent2"/>
            </a:solidFill>
            <a:prstDash val="solid"/>
          </a:ln>
        </p:spPr>
      </p:sp>
      <p:pic>
        <p:nvPicPr>
          <p:cNvPr id="16" name="The ask icon" descr="The ask icon">    </p:cNvPr>
          <p:cNvPicPr>
            <a:picLocks noChangeAspect="1"/>
          </p:cNvPicPr>
          <p:nvPr/>
        </p:nvPicPr>
        <p:blipFill>
          <a:blip r:embed="rId3"/>
          <a:stretch>
            <a:fillRect/>
          </a:stretch>
        </p:blipFill>
        <p:spPr>
          <a:xfrm>
            <a:off x="8618220" y="2034540"/>
            <a:ext cx="411480" cy="411480"/>
          </a:xfrm>
          <a:prstGeom prst="rect">
            <a:avLst/>
          </a:prstGeom>
        </p:spPr>
      </p:pic>
      <p:sp>
        <p:nvSpPr>
          <p:cNvPr id="17" name="Text 11"/>
          <p:cNvSpPr txBox="1"/>
          <p:nvPr/>
        </p:nvSpPr>
        <p:spPr>
          <a:xfrm>
            <a:off x="8412480" y="2880360"/>
            <a:ext cx="2834640" cy="548640"/>
          </a:xfrm>
          <a:prstGeom prst="rect">
            <a:avLst/>
          </a:prstGeom>
          <a:noFill/>
          <a:ln/>
        </p:spPr>
        <p:txBody>
          <a:bodyPr wrap="square" lIns="0" tIns="0" rIns="0" bIns="0" rtlCol="0" anchor="t"/>
          <a:lstStyle/>
          <a:p>
            <a:pPr indent="0" marL="0">
              <a:buNone/>
            </a:pPr>
            <a:r>
              <a:rPr lang="en-US" sz="2400" b="1" dirty="0">
                <a:solidFill>
                  <a:schemeClr val="bg1"/>
                </a:solidFill>
              </a:rPr>
              <a:t>The ask</a:t>
            </a:r>
            <a:endParaRPr lang="en-US" sz="2400" dirty="0"/>
          </a:p>
        </p:txBody>
      </p:sp>
      <p:sp>
        <p:nvSpPr>
          <p:cNvPr id="18" name="Text 12"/>
          <p:cNvSpPr txBox="1"/>
          <p:nvPr/>
        </p:nvSpPr>
        <p:spPr>
          <a:xfrm>
            <a:off x="8412480" y="3520440"/>
            <a:ext cx="2834640" cy="2194560"/>
          </a:xfrm>
          <a:prstGeom prst="rect">
            <a:avLst/>
          </a:prstGeom>
          <a:noFill/>
          <a:ln/>
        </p:spPr>
        <p:txBody>
          <a:bodyPr wrap="square" lIns="0" tIns="0" rIns="0" bIns="0" rtlCol="0" anchor="t"/>
          <a:lstStyle/>
          <a:p>
            <a:pPr indent="0" marL="0">
              <a:buNone/>
            </a:pPr>
            <a:r>
              <a:rPr lang="en-US" sz="1700" dirty="0">
                <a:solidFill>
                  <a:schemeClr val="accent6"/>
                </a:solidFill>
              </a:rPr>
              <a:t>Manager ownership of ramp, agreed gates per role, Salesforce and Gong data for a baseline, and a pilot with the next cohort.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Most learning happens on the job, not in training</a:t>
            </a:r>
            <a:endParaRPr lang="en-US" sz="3200" dirty="0"/>
          </a:p>
        </p:txBody>
      </p:sp>
      <p:sp>
        <p:nvSpPr>
          <p:cNvPr id="4" name="forgetting card"/>
          <p:cNvSpPr/>
          <p:nvPr/>
        </p:nvSpPr>
        <p:spPr>
          <a:xfrm>
            <a:off x="548640" y="1463040"/>
            <a:ext cx="5120640" cy="4480560"/>
          </a:xfrm>
          <a:prstGeom prst="roundRect">
            <a:avLst>
              <a:gd name="adj" fmla="val 1633"/>
            </a:avLst>
          </a:prstGeom>
          <a:solidFill>
            <a:schemeClr val="tx2"/>
          </a:solidFill>
          <a:ln w="12700">
            <a:solidFill>
              <a:schemeClr val="tx2"/>
            </a:solidFill>
            <a:prstDash val="solid"/>
          </a:ln>
        </p:spPr>
      </p:sp>
      <p:sp>
        <p:nvSpPr>
          <p:cNvPr id="5" name="Text 2"/>
          <p:cNvSpPr txBox="1"/>
          <p:nvPr/>
        </p:nvSpPr>
        <p:spPr>
          <a:xfrm>
            <a:off x="914400" y="1828800"/>
            <a:ext cx="4389120" cy="822960"/>
          </a:xfrm>
          <a:prstGeom prst="rect">
            <a:avLst/>
          </a:prstGeom>
          <a:noFill/>
          <a:ln/>
        </p:spPr>
        <p:txBody>
          <a:bodyPr wrap="square" lIns="0" tIns="0" rIns="0" bIns="0" rtlCol="0" anchor="t"/>
          <a:lstStyle/>
          <a:p>
            <a:pPr indent="0" marL="0">
              <a:buNone/>
            </a:pPr>
            <a:r>
              <a:rPr lang="en-US" sz="3600" b="1" dirty="0">
                <a:solidFill>
                  <a:schemeClr val="accent6"/>
                </a:solidFill>
              </a:rPr>
              <a:t>Days to weeks</a:t>
            </a:r>
            <a:endParaRPr lang="en-US" sz="3600" dirty="0"/>
          </a:p>
        </p:txBody>
      </p:sp>
      <p:sp>
        <p:nvSpPr>
          <p:cNvPr id="6" name="Text 3"/>
          <p:cNvSpPr txBox="1"/>
          <p:nvPr/>
        </p:nvSpPr>
        <p:spPr>
          <a:xfrm>
            <a:off x="914400" y="2834640"/>
            <a:ext cx="4389120" cy="1188720"/>
          </a:xfrm>
          <a:prstGeom prst="rect">
            <a:avLst/>
          </a:prstGeom>
          <a:noFill/>
          <a:ln/>
        </p:spPr>
        <p:txBody>
          <a:bodyPr wrap="square" lIns="0" tIns="0" rIns="0" bIns="0" rtlCol="0" anchor="t"/>
          <a:lstStyle/>
          <a:p>
            <a:pPr indent="0" marL="0">
              <a:buNone/>
            </a:pPr>
            <a:r>
              <a:rPr lang="en-US" sz="1800" dirty="0">
                <a:solidFill>
                  <a:schemeClr val="bg1"/>
                </a:solidFill>
              </a:rPr>
              <a:t>is how long most new information lasts without reinforcement (Ebbinghaus' forgetting curve).</a:t>
            </a:r>
            <a:endParaRPr lang="en-US" sz="1800" dirty="0"/>
          </a:p>
        </p:txBody>
      </p:sp>
      <p:sp>
        <p:nvSpPr>
          <p:cNvPr id="7" name="Text 4"/>
          <p:cNvSpPr txBox="1"/>
          <p:nvPr/>
        </p:nvSpPr>
        <p:spPr>
          <a:xfrm>
            <a:off x="914400" y="4297680"/>
            <a:ext cx="4389120" cy="1280160"/>
          </a:xfrm>
          <a:prstGeom prst="rect">
            <a:avLst/>
          </a:prstGeom>
          <a:noFill/>
          <a:ln/>
        </p:spPr>
        <p:txBody>
          <a:bodyPr wrap="square" lIns="0" tIns="0" rIns="0" bIns="0" rtlCol="0" anchor="t"/>
          <a:lstStyle/>
          <a:p>
            <a:pPr indent="0" marL="0">
              <a:buNone/>
            </a:pPr>
            <a:r>
              <a:rPr lang="en-US" sz="1600" b="1" dirty="0">
                <a:solidFill>
                  <a:schemeClr val="accent2"/>
                </a:solidFill>
              </a:rPr>
              <a:t>So: </a:t>
            </a:r>
            <a:pPr indent="0" marL="0">
              <a:buNone/>
            </a:pPr>
            <a:r>
              <a:rPr lang="en-US" sz="1600" dirty="0">
                <a:solidFill>
                  <a:schemeClr val="bg1"/>
                </a:solidFill>
              </a:rPr>
              <a:t>every key topic needs spaced reinforcement over 4–6 weeks, not a single session.</a:t>
            </a:r>
            <a:endParaRPr lang="en-US" sz="1600" dirty="0"/>
          </a:p>
        </p:txBody>
      </p:sp>
      <p:sp>
        <p:nvSpPr>
          <p:cNvPr id="8" name="Text 5"/>
          <p:cNvSpPr txBox="1"/>
          <p:nvPr/>
        </p:nvSpPr>
        <p:spPr>
          <a:xfrm>
            <a:off x="6035040" y="1463040"/>
            <a:ext cx="5577840" cy="411480"/>
          </a:xfrm>
          <a:prstGeom prst="rect">
            <a:avLst/>
          </a:prstGeom>
          <a:noFill/>
          <a:ln/>
        </p:spPr>
        <p:txBody>
          <a:bodyPr wrap="square" lIns="0" tIns="0" rIns="0" bIns="0" rtlCol="0" anchor="t"/>
          <a:lstStyle/>
          <a:p>
            <a:pPr indent="0" marL="0">
              <a:buNone/>
            </a:pPr>
            <a:r>
              <a:rPr lang="en-US" sz="1800" b="1" dirty="0">
                <a:solidFill>
                  <a:schemeClr val="tx1"/>
                </a:solidFill>
              </a:rPr>
              <a:t>Where learning happens (70-20-10)</a:t>
            </a:r>
            <a:endParaRPr lang="en-US" sz="1800" dirty="0"/>
          </a:p>
        </p:txBody>
      </p:sp>
      <p:sp>
        <p:nvSpPr>
          <p:cNvPr id="9" name="On the job bar"/>
          <p:cNvSpPr/>
          <p:nvPr/>
        </p:nvSpPr>
        <p:spPr>
          <a:xfrm>
            <a:off x="6035040" y="2103120"/>
            <a:ext cx="4206240" cy="548640"/>
          </a:xfrm>
          <a:prstGeom prst="roundRect">
            <a:avLst>
              <a:gd name="adj" fmla="val 10000"/>
            </a:avLst>
          </a:prstGeom>
          <a:solidFill>
            <a:schemeClr val="accent1"/>
          </a:solidFill>
          <a:ln w="12700">
            <a:solidFill>
              <a:schemeClr val="accent1"/>
            </a:solidFill>
            <a:prstDash val="solid"/>
          </a:ln>
        </p:spPr>
      </p:sp>
      <p:sp>
        <p:nvSpPr>
          <p:cNvPr id="10" name="Text 7"/>
          <p:cNvSpPr txBox="1"/>
          <p:nvPr/>
        </p:nvSpPr>
        <p:spPr>
          <a:xfrm>
            <a:off x="10378440" y="2103120"/>
            <a:ext cx="914400" cy="548640"/>
          </a:xfrm>
          <a:prstGeom prst="rect">
            <a:avLst/>
          </a:prstGeom>
          <a:noFill/>
          <a:ln/>
        </p:spPr>
        <p:txBody>
          <a:bodyPr wrap="square" lIns="0" tIns="0" rIns="0" bIns="0" rtlCol="0" anchor="ctr"/>
          <a:lstStyle/>
          <a:p>
            <a:pPr indent="0" marL="0">
              <a:buNone/>
            </a:pPr>
            <a:r>
              <a:rPr lang="en-US" sz="2200" b="1" dirty="0">
                <a:solidFill>
                  <a:schemeClr val="tx1"/>
                </a:solidFill>
              </a:rPr>
              <a:t>70%</a:t>
            </a:r>
            <a:endParaRPr lang="en-US" sz="2200" dirty="0"/>
          </a:p>
        </p:txBody>
      </p:sp>
      <p:sp>
        <p:nvSpPr>
          <p:cNvPr id="11" name="Text 8"/>
          <p:cNvSpPr txBox="1"/>
          <p:nvPr/>
        </p:nvSpPr>
        <p:spPr>
          <a:xfrm>
            <a:off x="6035040" y="2697480"/>
            <a:ext cx="5577840" cy="365760"/>
          </a:xfrm>
          <a:prstGeom prst="rect">
            <a:avLst/>
          </a:prstGeom>
          <a:noFill/>
          <a:ln/>
        </p:spPr>
        <p:txBody>
          <a:bodyPr wrap="square" lIns="0" tIns="0" rIns="0" bIns="0" rtlCol="0" anchor="t"/>
          <a:lstStyle/>
          <a:p>
            <a:pPr indent="0" marL="0">
              <a:buNone/>
            </a:pPr>
            <a:r>
              <a:rPr lang="en-US" sz="1400" b="1" dirty="0">
                <a:solidFill>
                  <a:schemeClr val="tx1"/>
                </a:solidFill>
              </a:rPr>
              <a:t>On the job: </a:t>
            </a:r>
            <a:pPr indent="0" marL="0">
              <a:buNone/>
            </a:pPr>
            <a:r>
              <a:rPr lang="en-US" sz="1400" dirty="0">
                <a:solidFill>
                  <a:schemeClr val="accent3"/>
                </a:solidFill>
              </a:rPr>
              <a:t>Live deals, owning accounts</a:t>
            </a:r>
            <a:endParaRPr lang="en-US" sz="1400" dirty="0"/>
          </a:p>
        </p:txBody>
      </p:sp>
      <p:sp>
        <p:nvSpPr>
          <p:cNvPr id="12" name="Through others bar"/>
          <p:cNvSpPr/>
          <p:nvPr/>
        </p:nvSpPr>
        <p:spPr>
          <a:xfrm>
            <a:off x="6035040" y="3291840"/>
            <a:ext cx="1463040" cy="548640"/>
          </a:xfrm>
          <a:prstGeom prst="roundRect">
            <a:avLst>
              <a:gd name="adj" fmla="val 10000"/>
            </a:avLst>
          </a:prstGeom>
          <a:solidFill>
            <a:schemeClr val="accent4"/>
          </a:solidFill>
          <a:ln w="12700">
            <a:solidFill>
              <a:schemeClr val="accent4"/>
            </a:solidFill>
            <a:prstDash val="solid"/>
          </a:ln>
        </p:spPr>
      </p:sp>
      <p:sp>
        <p:nvSpPr>
          <p:cNvPr id="13" name="Text 10"/>
          <p:cNvSpPr txBox="1"/>
          <p:nvPr/>
        </p:nvSpPr>
        <p:spPr>
          <a:xfrm>
            <a:off x="7635240" y="3291840"/>
            <a:ext cx="914400" cy="548640"/>
          </a:xfrm>
          <a:prstGeom prst="rect">
            <a:avLst/>
          </a:prstGeom>
          <a:noFill/>
          <a:ln/>
        </p:spPr>
        <p:txBody>
          <a:bodyPr wrap="square" lIns="0" tIns="0" rIns="0" bIns="0" rtlCol="0" anchor="ctr"/>
          <a:lstStyle/>
          <a:p>
            <a:pPr indent="0" marL="0">
              <a:buNone/>
            </a:pPr>
            <a:r>
              <a:rPr lang="en-US" sz="2200" b="1" dirty="0">
                <a:solidFill>
                  <a:schemeClr val="tx1"/>
                </a:solidFill>
              </a:rPr>
              <a:t>20%</a:t>
            </a:r>
            <a:endParaRPr lang="en-US" sz="2200" dirty="0"/>
          </a:p>
        </p:txBody>
      </p:sp>
      <p:sp>
        <p:nvSpPr>
          <p:cNvPr id="14" name="Text 11"/>
          <p:cNvSpPr txBox="1"/>
          <p:nvPr/>
        </p:nvSpPr>
        <p:spPr>
          <a:xfrm>
            <a:off x="6035040" y="3886200"/>
            <a:ext cx="5577840" cy="365760"/>
          </a:xfrm>
          <a:prstGeom prst="rect">
            <a:avLst/>
          </a:prstGeom>
          <a:noFill/>
          <a:ln/>
        </p:spPr>
        <p:txBody>
          <a:bodyPr wrap="square" lIns="0" tIns="0" rIns="0" bIns="0" rtlCol="0" anchor="t"/>
          <a:lstStyle/>
          <a:p>
            <a:pPr indent="0" marL="0">
              <a:buNone/>
            </a:pPr>
            <a:r>
              <a:rPr lang="en-US" sz="1400" b="1" dirty="0">
                <a:solidFill>
                  <a:schemeClr val="tx1"/>
                </a:solidFill>
              </a:rPr>
              <a:t>Through others: </a:t>
            </a:r>
            <a:pPr indent="0" marL="0">
              <a:buNone/>
            </a:pPr>
            <a:r>
              <a:rPr lang="en-US" sz="1400" dirty="0">
                <a:solidFill>
                  <a:schemeClr val="accent3"/>
                </a:solidFill>
              </a:rPr>
              <a:t>Manager coaching, shadowing, peers</a:t>
            </a:r>
            <a:endParaRPr lang="en-US" sz="1400" dirty="0"/>
          </a:p>
        </p:txBody>
      </p:sp>
      <p:sp>
        <p:nvSpPr>
          <p:cNvPr id="15" name="Formal training bar"/>
          <p:cNvSpPr/>
          <p:nvPr/>
        </p:nvSpPr>
        <p:spPr>
          <a:xfrm>
            <a:off x="6035040" y="4480560"/>
            <a:ext cx="914400" cy="548640"/>
          </a:xfrm>
          <a:prstGeom prst="roundRect">
            <a:avLst>
              <a:gd name="adj" fmla="val 10000"/>
            </a:avLst>
          </a:prstGeom>
          <a:solidFill>
            <a:schemeClr val="accent3"/>
          </a:solidFill>
          <a:ln w="12700">
            <a:solidFill>
              <a:schemeClr val="accent3"/>
            </a:solidFill>
            <a:prstDash val="solid"/>
          </a:ln>
        </p:spPr>
      </p:sp>
      <p:sp>
        <p:nvSpPr>
          <p:cNvPr id="16" name="Text 13"/>
          <p:cNvSpPr txBox="1"/>
          <p:nvPr/>
        </p:nvSpPr>
        <p:spPr>
          <a:xfrm>
            <a:off x="7086600" y="4480560"/>
            <a:ext cx="914400" cy="548640"/>
          </a:xfrm>
          <a:prstGeom prst="rect">
            <a:avLst/>
          </a:prstGeom>
          <a:noFill/>
          <a:ln/>
        </p:spPr>
        <p:txBody>
          <a:bodyPr wrap="square" lIns="0" tIns="0" rIns="0" bIns="0" rtlCol="0" anchor="ctr"/>
          <a:lstStyle/>
          <a:p>
            <a:pPr indent="0" marL="0">
              <a:buNone/>
            </a:pPr>
            <a:r>
              <a:rPr lang="en-US" sz="2200" b="1" dirty="0">
                <a:solidFill>
                  <a:schemeClr val="tx1"/>
                </a:solidFill>
              </a:rPr>
              <a:t>10%</a:t>
            </a:r>
            <a:endParaRPr lang="en-US" sz="2200" dirty="0"/>
          </a:p>
        </p:txBody>
      </p:sp>
      <p:sp>
        <p:nvSpPr>
          <p:cNvPr id="17" name="Text 14"/>
          <p:cNvSpPr txBox="1"/>
          <p:nvPr/>
        </p:nvSpPr>
        <p:spPr>
          <a:xfrm>
            <a:off x="6035040" y="5074920"/>
            <a:ext cx="5577840" cy="365760"/>
          </a:xfrm>
          <a:prstGeom prst="rect">
            <a:avLst/>
          </a:prstGeom>
          <a:noFill/>
          <a:ln/>
        </p:spPr>
        <p:txBody>
          <a:bodyPr wrap="square" lIns="0" tIns="0" rIns="0" bIns="0" rtlCol="0" anchor="t"/>
          <a:lstStyle/>
          <a:p>
            <a:pPr indent="0" marL="0">
              <a:buNone/>
            </a:pPr>
            <a:r>
              <a:rPr lang="en-US" sz="1400" b="1" dirty="0">
                <a:solidFill>
                  <a:schemeClr val="tx1"/>
                </a:solidFill>
              </a:rPr>
              <a:t>Formal training: </a:t>
            </a:r>
            <a:pPr indent="0" marL="0">
              <a:buNone/>
            </a:pPr>
            <a:r>
              <a:rPr lang="en-US" sz="1400" dirty="0">
                <a:solidFill>
                  <a:schemeClr val="accent3"/>
                </a:solidFill>
              </a:rPr>
              <a:t>Modules, workshops, e-learning</a:t>
            </a:r>
            <a:endParaRPr lang="en-US" sz="1400" dirty="0"/>
          </a:p>
        </p:txBody>
      </p:sp>
      <p:sp>
        <p:nvSpPr>
          <p:cNvPr id="18" name="Text 15"/>
          <p:cNvSpPr txBox="1"/>
          <p:nvPr/>
        </p:nvSpPr>
        <p:spPr>
          <a:xfrm>
            <a:off x="6035040" y="5577840"/>
            <a:ext cx="5577840" cy="365760"/>
          </a:xfrm>
          <a:prstGeom prst="rect">
            <a:avLst/>
          </a:prstGeom>
          <a:noFill/>
          <a:ln/>
        </p:spPr>
        <p:txBody>
          <a:bodyPr wrap="square" lIns="0" tIns="0" rIns="0" bIns="0" rtlCol="0" anchor="t"/>
          <a:lstStyle/>
          <a:p>
            <a:pPr indent="0" marL="0">
              <a:buNone/>
            </a:pPr>
            <a:r>
              <a:rPr lang="en-US" sz="1200" i="1" dirty="0">
                <a:solidFill>
                  <a:schemeClr val="accent3"/>
                </a:solidFill>
              </a:rPr>
              <a:t>70-20-10 is a rough guide, not a precise ratio.</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Five shifts in how we ramp</a:t>
            </a:r>
            <a:endParaRPr lang="en-US" sz="3200" dirty="0"/>
          </a:p>
        </p:txBody>
      </p:sp>
      <p:sp>
        <p:nvSpPr>
          <p:cNvPr id="4" name="Text 1"/>
          <p:cNvSpPr txBox="1"/>
          <p:nvPr/>
        </p:nvSpPr>
        <p:spPr>
          <a:xfrm>
            <a:off x="1188720" y="1325880"/>
            <a:ext cx="3657600" cy="320040"/>
          </a:xfrm>
          <a:prstGeom prst="rect">
            <a:avLst/>
          </a:prstGeom>
          <a:noFill/>
          <a:ln/>
        </p:spPr>
        <p:txBody>
          <a:bodyPr wrap="square" lIns="0" tIns="0" rIns="0" bIns="0" rtlCol="0" anchor="t"/>
          <a:lstStyle/>
          <a:p>
            <a:pPr indent="0" marL="0">
              <a:buNone/>
            </a:pPr>
            <a:r>
              <a:rPr lang="en-US" sz="1400" b="1" dirty="0">
                <a:solidFill>
                  <a:schemeClr val="accent5"/>
                </a:solidFill>
              </a:rPr>
              <a:t>From</a:t>
            </a:r>
            <a:endParaRPr lang="en-US" sz="1400" dirty="0"/>
          </a:p>
        </p:txBody>
      </p:sp>
      <p:sp>
        <p:nvSpPr>
          <p:cNvPr id="5" name="Text 2"/>
          <p:cNvSpPr txBox="1"/>
          <p:nvPr/>
        </p:nvSpPr>
        <p:spPr>
          <a:xfrm>
            <a:off x="6675120" y="1325880"/>
            <a:ext cx="3657600" cy="320040"/>
          </a:xfrm>
          <a:prstGeom prst="rect">
            <a:avLst/>
          </a:prstGeom>
          <a:noFill/>
          <a:ln/>
        </p:spPr>
        <p:txBody>
          <a:bodyPr wrap="square" lIns="0" tIns="0" rIns="0" bIns="0" rtlCol="0" anchor="t"/>
          <a:lstStyle/>
          <a:p>
            <a:pPr indent="0" marL="0">
              <a:buNone/>
            </a:pPr>
            <a:r>
              <a:rPr lang="en-US" sz="1400" b="1" dirty="0">
                <a:solidFill>
                  <a:schemeClr val="accent1"/>
                </a:solidFill>
              </a:rPr>
              <a:t>To</a:t>
            </a:r>
            <a:endParaRPr lang="en-US" sz="1400" dirty="0"/>
          </a:p>
        </p:txBody>
      </p:sp>
      <p:sp>
        <p:nvSpPr>
          <p:cNvPr id="6" name="from 1"/>
          <p:cNvSpPr/>
          <p:nvPr/>
        </p:nvSpPr>
        <p:spPr>
          <a:xfrm>
            <a:off x="548640" y="1737360"/>
            <a:ext cx="4846320" cy="731520"/>
          </a:xfrm>
          <a:prstGeom prst="roundRect">
            <a:avLst>
              <a:gd name="adj" fmla="val 10000"/>
            </a:avLst>
          </a:prstGeom>
          <a:solidFill>
            <a:schemeClr val="bg2"/>
          </a:solidFill>
          <a:ln w="12700">
            <a:solidFill>
              <a:schemeClr val="bg2"/>
            </a:solidFill>
            <a:prstDash val="solid"/>
          </a:ln>
        </p:spPr>
      </p:sp>
      <p:pic>
        <p:nvPicPr>
          <p:cNvPr id="7" name="from icon 1" descr="from">    </p:cNvPr>
          <p:cNvPicPr>
            <a:picLocks noChangeAspect="1"/>
          </p:cNvPicPr>
          <p:nvPr/>
        </p:nvPicPr>
        <p:blipFill>
          <a:blip r:embed="rId1"/>
          <a:stretch>
            <a:fillRect/>
          </a:stretch>
        </p:blipFill>
        <p:spPr>
          <a:xfrm>
            <a:off x="731520" y="1920240"/>
            <a:ext cx="365760" cy="365760"/>
          </a:xfrm>
          <a:prstGeom prst="rect">
            <a:avLst/>
          </a:prstGeom>
        </p:spPr>
      </p:pic>
      <p:sp>
        <p:nvSpPr>
          <p:cNvPr id="8" name="Text 4"/>
          <p:cNvSpPr txBox="1"/>
          <p:nvPr/>
        </p:nvSpPr>
        <p:spPr>
          <a:xfrm>
            <a:off x="1234440" y="1737360"/>
            <a:ext cx="4023360" cy="731520"/>
          </a:xfrm>
          <a:prstGeom prst="rect">
            <a:avLst/>
          </a:prstGeom>
          <a:noFill/>
          <a:ln/>
        </p:spPr>
        <p:txBody>
          <a:bodyPr wrap="square" lIns="0" tIns="0" rIns="0" bIns="0" rtlCol="0" anchor="ctr"/>
          <a:lstStyle/>
          <a:p>
            <a:pPr indent="0" marL="0">
              <a:buNone/>
            </a:pPr>
            <a:r>
              <a:rPr lang="en-US" sz="1600" dirty="0">
                <a:solidFill>
                  <a:schemeClr val="accent3"/>
                </a:solidFill>
              </a:rPr>
              <a:t>Ramp measured by time in seat</a:t>
            </a:r>
            <a:endParaRPr lang="en-US" sz="1600" dirty="0"/>
          </a:p>
        </p:txBody>
      </p:sp>
      <p:pic>
        <p:nvPicPr>
          <p:cNvPr id="9" name="arrow 1" descr="becomes">    </p:cNvPr>
          <p:cNvPicPr>
            <a:picLocks noChangeAspect="1"/>
          </p:cNvPicPr>
          <p:nvPr/>
        </p:nvPicPr>
        <p:blipFill>
          <a:blip r:embed="rId2"/>
          <a:stretch>
            <a:fillRect/>
          </a:stretch>
        </p:blipFill>
        <p:spPr>
          <a:xfrm>
            <a:off x="5532120" y="1938528"/>
            <a:ext cx="329184" cy="329184"/>
          </a:xfrm>
          <a:prstGeom prst="rect">
            <a:avLst/>
          </a:prstGeom>
        </p:spPr>
      </p:pic>
      <p:sp>
        <p:nvSpPr>
          <p:cNvPr id="10" name="to 1"/>
          <p:cNvSpPr/>
          <p:nvPr/>
        </p:nvSpPr>
        <p:spPr>
          <a:xfrm>
            <a:off x="6035040" y="1737360"/>
            <a:ext cx="5577840" cy="731520"/>
          </a:xfrm>
          <a:prstGeom prst="roundRect">
            <a:avLst>
              <a:gd name="adj" fmla="val 10000"/>
            </a:avLst>
          </a:prstGeom>
          <a:solidFill>
            <a:schemeClr val="bg2"/>
          </a:solidFill>
          <a:ln w="12700">
            <a:solidFill>
              <a:schemeClr val="bg2"/>
            </a:solidFill>
            <a:prstDash val="solid"/>
          </a:ln>
        </p:spPr>
      </p:sp>
      <p:pic>
        <p:nvPicPr>
          <p:cNvPr id="11" name="to icon 1" descr="to">    </p:cNvPr>
          <p:cNvPicPr>
            <a:picLocks noChangeAspect="1"/>
          </p:cNvPicPr>
          <p:nvPr/>
        </p:nvPicPr>
        <p:blipFill>
          <a:blip r:embed="rId3"/>
          <a:stretch>
            <a:fillRect/>
          </a:stretch>
        </p:blipFill>
        <p:spPr>
          <a:xfrm>
            <a:off x="6217920" y="1920240"/>
            <a:ext cx="365760" cy="365760"/>
          </a:xfrm>
          <a:prstGeom prst="rect">
            <a:avLst/>
          </a:prstGeom>
        </p:spPr>
      </p:pic>
      <p:sp>
        <p:nvSpPr>
          <p:cNvPr id="12" name="Text 6"/>
          <p:cNvSpPr txBox="1"/>
          <p:nvPr/>
        </p:nvSpPr>
        <p:spPr>
          <a:xfrm>
            <a:off x="6720840" y="1737360"/>
            <a:ext cx="4754880" cy="731520"/>
          </a:xfrm>
          <a:prstGeom prst="rect">
            <a:avLst/>
          </a:prstGeom>
          <a:noFill/>
          <a:ln/>
        </p:spPr>
        <p:txBody>
          <a:bodyPr wrap="square" lIns="0" tIns="0" rIns="0" bIns="0" rtlCol="0" anchor="ctr"/>
          <a:lstStyle/>
          <a:p>
            <a:pPr indent="0" marL="0">
              <a:buNone/>
            </a:pPr>
            <a:r>
              <a:rPr lang="en-US" sz="1600" b="1" dirty="0">
                <a:solidFill>
                  <a:schemeClr val="tx1"/>
                </a:solidFill>
              </a:rPr>
              <a:t>Ramp measured by milestones: first meeting, first opp, first deal</a:t>
            </a:r>
            <a:endParaRPr lang="en-US" sz="1600" dirty="0"/>
          </a:p>
        </p:txBody>
      </p:sp>
      <p:sp>
        <p:nvSpPr>
          <p:cNvPr id="13" name="from 2"/>
          <p:cNvSpPr/>
          <p:nvPr/>
        </p:nvSpPr>
        <p:spPr>
          <a:xfrm>
            <a:off x="548640" y="2606040"/>
            <a:ext cx="4846320" cy="731520"/>
          </a:xfrm>
          <a:prstGeom prst="roundRect">
            <a:avLst>
              <a:gd name="adj" fmla="val 10000"/>
            </a:avLst>
          </a:prstGeom>
          <a:solidFill>
            <a:schemeClr val="bg2"/>
          </a:solidFill>
          <a:ln w="12700">
            <a:solidFill>
              <a:schemeClr val="bg2"/>
            </a:solidFill>
            <a:prstDash val="solid"/>
          </a:ln>
        </p:spPr>
      </p:sp>
      <p:pic>
        <p:nvPicPr>
          <p:cNvPr id="14" name="from icon 2" descr="from">    </p:cNvPr>
          <p:cNvPicPr>
            <a:picLocks noChangeAspect="1"/>
          </p:cNvPicPr>
          <p:nvPr/>
        </p:nvPicPr>
        <p:blipFill>
          <a:blip r:embed="rId4"/>
          <a:stretch>
            <a:fillRect/>
          </a:stretch>
        </p:blipFill>
        <p:spPr>
          <a:xfrm>
            <a:off x="731520" y="2788920"/>
            <a:ext cx="365760" cy="365760"/>
          </a:xfrm>
          <a:prstGeom prst="rect">
            <a:avLst/>
          </a:prstGeom>
        </p:spPr>
      </p:pic>
      <p:sp>
        <p:nvSpPr>
          <p:cNvPr id="15" name="Text 8"/>
          <p:cNvSpPr txBox="1"/>
          <p:nvPr/>
        </p:nvSpPr>
        <p:spPr>
          <a:xfrm>
            <a:off x="1234440" y="2606040"/>
            <a:ext cx="4023360" cy="731520"/>
          </a:xfrm>
          <a:prstGeom prst="rect">
            <a:avLst/>
          </a:prstGeom>
          <a:noFill/>
          <a:ln/>
        </p:spPr>
        <p:txBody>
          <a:bodyPr wrap="square" lIns="0" tIns="0" rIns="0" bIns="0" rtlCol="0" anchor="ctr"/>
          <a:lstStyle/>
          <a:p>
            <a:pPr indent="0" marL="0">
              <a:buNone/>
            </a:pPr>
            <a:r>
              <a:rPr lang="en-US" sz="1600" dirty="0">
                <a:solidFill>
                  <a:schemeClr val="accent3"/>
                </a:solidFill>
              </a:rPr>
              <a:t>Firehose week 1 of slides</a:t>
            </a:r>
            <a:endParaRPr lang="en-US" sz="1600" dirty="0"/>
          </a:p>
        </p:txBody>
      </p:sp>
      <p:pic>
        <p:nvPicPr>
          <p:cNvPr id="16" name="arrow 2" descr="becomes">    </p:cNvPr>
          <p:cNvPicPr>
            <a:picLocks noChangeAspect="1"/>
          </p:cNvPicPr>
          <p:nvPr/>
        </p:nvPicPr>
        <p:blipFill>
          <a:blip r:embed="rId5"/>
          <a:stretch>
            <a:fillRect/>
          </a:stretch>
        </p:blipFill>
        <p:spPr>
          <a:xfrm>
            <a:off x="5532120" y="2807208"/>
            <a:ext cx="329184" cy="329184"/>
          </a:xfrm>
          <a:prstGeom prst="rect">
            <a:avLst/>
          </a:prstGeom>
        </p:spPr>
      </p:pic>
      <p:sp>
        <p:nvSpPr>
          <p:cNvPr id="17" name="to 2"/>
          <p:cNvSpPr/>
          <p:nvPr/>
        </p:nvSpPr>
        <p:spPr>
          <a:xfrm>
            <a:off x="6035040" y="2606040"/>
            <a:ext cx="5577840" cy="731520"/>
          </a:xfrm>
          <a:prstGeom prst="roundRect">
            <a:avLst>
              <a:gd name="adj" fmla="val 10000"/>
            </a:avLst>
          </a:prstGeom>
          <a:solidFill>
            <a:schemeClr val="bg2"/>
          </a:solidFill>
          <a:ln w="12700">
            <a:solidFill>
              <a:schemeClr val="bg2"/>
            </a:solidFill>
            <a:prstDash val="solid"/>
          </a:ln>
        </p:spPr>
      </p:sp>
      <p:pic>
        <p:nvPicPr>
          <p:cNvPr id="18" name="to icon 2" descr="to">    </p:cNvPr>
          <p:cNvPicPr>
            <a:picLocks noChangeAspect="1"/>
          </p:cNvPicPr>
          <p:nvPr/>
        </p:nvPicPr>
        <p:blipFill>
          <a:blip r:embed="rId6"/>
          <a:stretch>
            <a:fillRect/>
          </a:stretch>
        </p:blipFill>
        <p:spPr>
          <a:xfrm>
            <a:off x="6217920" y="2788920"/>
            <a:ext cx="365760" cy="365760"/>
          </a:xfrm>
          <a:prstGeom prst="rect">
            <a:avLst/>
          </a:prstGeom>
        </p:spPr>
      </p:pic>
      <p:sp>
        <p:nvSpPr>
          <p:cNvPr id="19" name="Text 10"/>
          <p:cNvSpPr txBox="1"/>
          <p:nvPr/>
        </p:nvSpPr>
        <p:spPr>
          <a:xfrm>
            <a:off x="6720840" y="2606040"/>
            <a:ext cx="4754880" cy="731520"/>
          </a:xfrm>
          <a:prstGeom prst="rect">
            <a:avLst/>
          </a:prstGeom>
          <a:noFill/>
          <a:ln/>
        </p:spPr>
        <p:txBody>
          <a:bodyPr wrap="square" lIns="0" tIns="0" rIns="0" bIns="0" rtlCol="0" anchor="ctr"/>
          <a:lstStyle/>
          <a:p>
            <a:pPr indent="0" marL="0">
              <a:buNone/>
            </a:pPr>
            <a:r>
              <a:rPr lang="en-US" sz="1600" b="1" dirty="0">
                <a:solidFill>
                  <a:schemeClr val="tx1"/>
                </a:solidFill>
              </a:rPr>
              <a:t>Minimum viable week 1, then learn by doing on live deals</a:t>
            </a:r>
            <a:endParaRPr lang="en-US" sz="1600" dirty="0"/>
          </a:p>
        </p:txBody>
      </p:sp>
      <p:sp>
        <p:nvSpPr>
          <p:cNvPr id="20" name="from 3"/>
          <p:cNvSpPr/>
          <p:nvPr/>
        </p:nvSpPr>
        <p:spPr>
          <a:xfrm>
            <a:off x="548640" y="3474720"/>
            <a:ext cx="4846320" cy="731520"/>
          </a:xfrm>
          <a:prstGeom prst="roundRect">
            <a:avLst>
              <a:gd name="adj" fmla="val 10000"/>
            </a:avLst>
          </a:prstGeom>
          <a:solidFill>
            <a:schemeClr val="bg2"/>
          </a:solidFill>
          <a:ln w="12700">
            <a:solidFill>
              <a:schemeClr val="bg2"/>
            </a:solidFill>
            <a:prstDash val="solid"/>
          </a:ln>
        </p:spPr>
      </p:sp>
      <p:pic>
        <p:nvPicPr>
          <p:cNvPr id="21" name="from icon 3" descr="from">    </p:cNvPr>
          <p:cNvPicPr>
            <a:picLocks noChangeAspect="1"/>
          </p:cNvPicPr>
          <p:nvPr/>
        </p:nvPicPr>
        <p:blipFill>
          <a:blip r:embed="rId7"/>
          <a:stretch>
            <a:fillRect/>
          </a:stretch>
        </p:blipFill>
        <p:spPr>
          <a:xfrm>
            <a:off x="731520" y="3657600"/>
            <a:ext cx="365760" cy="365760"/>
          </a:xfrm>
          <a:prstGeom prst="rect">
            <a:avLst/>
          </a:prstGeom>
        </p:spPr>
      </p:pic>
      <p:sp>
        <p:nvSpPr>
          <p:cNvPr id="22" name="Text 12"/>
          <p:cNvSpPr txBox="1"/>
          <p:nvPr/>
        </p:nvSpPr>
        <p:spPr>
          <a:xfrm>
            <a:off x="1234440" y="3474720"/>
            <a:ext cx="4023360" cy="731520"/>
          </a:xfrm>
          <a:prstGeom prst="rect">
            <a:avLst/>
          </a:prstGeom>
          <a:noFill/>
          <a:ln/>
        </p:spPr>
        <p:txBody>
          <a:bodyPr wrap="square" lIns="0" tIns="0" rIns="0" bIns="0" rtlCol="0" anchor="ctr"/>
          <a:lstStyle/>
          <a:p>
            <a:pPr indent="0" marL="0">
              <a:buNone/>
            </a:pPr>
            <a:r>
              <a:rPr lang="en-US" sz="1600" dirty="0">
                <a:solidFill>
                  <a:schemeClr val="accent3"/>
                </a:solidFill>
              </a:rPr>
              <a:t>Completion of modules</a:t>
            </a:r>
            <a:endParaRPr lang="en-US" sz="1600" dirty="0"/>
          </a:p>
        </p:txBody>
      </p:sp>
      <p:pic>
        <p:nvPicPr>
          <p:cNvPr id="23" name="arrow 3" descr="becomes">    </p:cNvPr>
          <p:cNvPicPr>
            <a:picLocks noChangeAspect="1"/>
          </p:cNvPicPr>
          <p:nvPr/>
        </p:nvPicPr>
        <p:blipFill>
          <a:blip r:embed="rId8"/>
          <a:stretch>
            <a:fillRect/>
          </a:stretch>
        </p:blipFill>
        <p:spPr>
          <a:xfrm>
            <a:off x="5532120" y="3675888"/>
            <a:ext cx="329184" cy="329184"/>
          </a:xfrm>
          <a:prstGeom prst="rect">
            <a:avLst/>
          </a:prstGeom>
        </p:spPr>
      </p:pic>
      <p:sp>
        <p:nvSpPr>
          <p:cNvPr id="24" name="to 3"/>
          <p:cNvSpPr/>
          <p:nvPr/>
        </p:nvSpPr>
        <p:spPr>
          <a:xfrm>
            <a:off x="6035040" y="3474720"/>
            <a:ext cx="5577840" cy="731520"/>
          </a:xfrm>
          <a:prstGeom prst="roundRect">
            <a:avLst>
              <a:gd name="adj" fmla="val 10000"/>
            </a:avLst>
          </a:prstGeom>
          <a:solidFill>
            <a:schemeClr val="bg2"/>
          </a:solidFill>
          <a:ln w="12700">
            <a:solidFill>
              <a:schemeClr val="bg2"/>
            </a:solidFill>
            <a:prstDash val="solid"/>
          </a:ln>
        </p:spPr>
      </p:sp>
      <p:pic>
        <p:nvPicPr>
          <p:cNvPr id="25" name="to icon 3" descr="to">    </p:cNvPr>
          <p:cNvPicPr>
            <a:picLocks noChangeAspect="1"/>
          </p:cNvPicPr>
          <p:nvPr/>
        </p:nvPicPr>
        <p:blipFill>
          <a:blip r:embed="rId9"/>
          <a:stretch>
            <a:fillRect/>
          </a:stretch>
        </p:blipFill>
        <p:spPr>
          <a:xfrm>
            <a:off x="6217920" y="3657600"/>
            <a:ext cx="365760" cy="365760"/>
          </a:xfrm>
          <a:prstGeom prst="rect">
            <a:avLst/>
          </a:prstGeom>
        </p:spPr>
      </p:pic>
      <p:sp>
        <p:nvSpPr>
          <p:cNvPr id="26" name="Text 14"/>
          <p:cNvSpPr txBox="1"/>
          <p:nvPr/>
        </p:nvSpPr>
        <p:spPr>
          <a:xfrm>
            <a:off x="6720840" y="3474720"/>
            <a:ext cx="4754880" cy="731520"/>
          </a:xfrm>
          <a:prstGeom prst="rect">
            <a:avLst/>
          </a:prstGeom>
          <a:noFill/>
          <a:ln/>
        </p:spPr>
        <p:txBody>
          <a:bodyPr wrap="square" lIns="0" tIns="0" rIns="0" bIns="0" rtlCol="0" anchor="ctr"/>
          <a:lstStyle/>
          <a:p>
            <a:pPr indent="0" marL="0">
              <a:buNone/>
            </a:pPr>
            <a:r>
              <a:rPr lang="en-US" sz="1600" b="1" dirty="0">
                <a:solidFill>
                  <a:schemeClr val="tx1"/>
                </a:solidFill>
              </a:rPr>
              <a:t>Certification gates that show ability</a:t>
            </a:r>
            <a:endParaRPr lang="en-US" sz="1600" dirty="0"/>
          </a:p>
        </p:txBody>
      </p:sp>
      <p:sp>
        <p:nvSpPr>
          <p:cNvPr id="27" name="from 4"/>
          <p:cNvSpPr/>
          <p:nvPr/>
        </p:nvSpPr>
        <p:spPr>
          <a:xfrm>
            <a:off x="548640" y="4343400"/>
            <a:ext cx="4846320" cy="731520"/>
          </a:xfrm>
          <a:prstGeom prst="roundRect">
            <a:avLst>
              <a:gd name="adj" fmla="val 10000"/>
            </a:avLst>
          </a:prstGeom>
          <a:solidFill>
            <a:schemeClr val="bg2"/>
          </a:solidFill>
          <a:ln w="12700">
            <a:solidFill>
              <a:schemeClr val="bg2"/>
            </a:solidFill>
            <a:prstDash val="solid"/>
          </a:ln>
        </p:spPr>
      </p:sp>
      <p:pic>
        <p:nvPicPr>
          <p:cNvPr id="28" name="from icon 4" descr="from">    </p:cNvPr>
          <p:cNvPicPr>
            <a:picLocks noChangeAspect="1"/>
          </p:cNvPicPr>
          <p:nvPr/>
        </p:nvPicPr>
        <p:blipFill>
          <a:blip r:embed="rId10"/>
          <a:stretch>
            <a:fillRect/>
          </a:stretch>
        </p:blipFill>
        <p:spPr>
          <a:xfrm>
            <a:off x="731520" y="4526280"/>
            <a:ext cx="365760" cy="365760"/>
          </a:xfrm>
          <a:prstGeom prst="rect">
            <a:avLst/>
          </a:prstGeom>
        </p:spPr>
      </p:pic>
      <p:sp>
        <p:nvSpPr>
          <p:cNvPr id="29" name="Text 16"/>
          <p:cNvSpPr txBox="1"/>
          <p:nvPr/>
        </p:nvSpPr>
        <p:spPr>
          <a:xfrm>
            <a:off x="1234440" y="4343400"/>
            <a:ext cx="4023360" cy="731520"/>
          </a:xfrm>
          <a:prstGeom prst="rect">
            <a:avLst/>
          </a:prstGeom>
          <a:noFill/>
          <a:ln/>
        </p:spPr>
        <p:txBody>
          <a:bodyPr wrap="square" lIns="0" tIns="0" rIns="0" bIns="0" rtlCol="0" anchor="ctr"/>
          <a:lstStyle/>
          <a:p>
            <a:pPr indent="0" marL="0">
              <a:buNone/>
            </a:pPr>
            <a:r>
              <a:rPr lang="en-US" sz="1600" dirty="0">
                <a:solidFill>
                  <a:schemeClr val="accent3"/>
                </a:solidFill>
              </a:rPr>
              <a:t>Enablement owns onboarding</a:t>
            </a:r>
            <a:endParaRPr lang="en-US" sz="1600" dirty="0"/>
          </a:p>
        </p:txBody>
      </p:sp>
      <p:pic>
        <p:nvPicPr>
          <p:cNvPr id="30" name="arrow 4" descr="becomes">    </p:cNvPr>
          <p:cNvPicPr>
            <a:picLocks noChangeAspect="1"/>
          </p:cNvPicPr>
          <p:nvPr/>
        </p:nvPicPr>
        <p:blipFill>
          <a:blip r:embed="rId11"/>
          <a:stretch>
            <a:fillRect/>
          </a:stretch>
        </p:blipFill>
        <p:spPr>
          <a:xfrm>
            <a:off x="5532120" y="4544568"/>
            <a:ext cx="329184" cy="329184"/>
          </a:xfrm>
          <a:prstGeom prst="rect">
            <a:avLst/>
          </a:prstGeom>
        </p:spPr>
      </p:pic>
      <p:sp>
        <p:nvSpPr>
          <p:cNvPr id="31" name="to 4"/>
          <p:cNvSpPr/>
          <p:nvPr/>
        </p:nvSpPr>
        <p:spPr>
          <a:xfrm>
            <a:off x="6035040" y="4343400"/>
            <a:ext cx="5577840" cy="731520"/>
          </a:xfrm>
          <a:prstGeom prst="roundRect">
            <a:avLst>
              <a:gd name="adj" fmla="val 10000"/>
            </a:avLst>
          </a:prstGeom>
          <a:solidFill>
            <a:schemeClr val="tx2"/>
          </a:solidFill>
          <a:ln w="12700">
            <a:solidFill>
              <a:schemeClr val="tx2"/>
            </a:solidFill>
            <a:prstDash val="solid"/>
          </a:ln>
        </p:spPr>
      </p:sp>
      <p:pic>
        <p:nvPicPr>
          <p:cNvPr id="32" name="to icon 4" descr="to">    </p:cNvPr>
          <p:cNvPicPr>
            <a:picLocks noChangeAspect="1"/>
          </p:cNvPicPr>
          <p:nvPr/>
        </p:nvPicPr>
        <p:blipFill>
          <a:blip r:embed="rId12"/>
          <a:stretch>
            <a:fillRect/>
          </a:stretch>
        </p:blipFill>
        <p:spPr>
          <a:xfrm>
            <a:off x="6217920" y="4526280"/>
            <a:ext cx="365760" cy="365760"/>
          </a:xfrm>
          <a:prstGeom prst="rect">
            <a:avLst/>
          </a:prstGeom>
        </p:spPr>
      </p:pic>
      <p:sp>
        <p:nvSpPr>
          <p:cNvPr id="33" name="Text 18"/>
          <p:cNvSpPr txBox="1"/>
          <p:nvPr/>
        </p:nvSpPr>
        <p:spPr>
          <a:xfrm>
            <a:off x="6720840" y="4343400"/>
            <a:ext cx="4754880" cy="731520"/>
          </a:xfrm>
          <a:prstGeom prst="rect">
            <a:avLst/>
          </a:prstGeom>
          <a:noFill/>
          <a:ln/>
        </p:spPr>
        <p:txBody>
          <a:bodyPr wrap="square" lIns="0" tIns="0" rIns="0" bIns="0" rtlCol="0" anchor="ctr"/>
          <a:lstStyle/>
          <a:p>
            <a:pPr indent="0" marL="0">
              <a:buNone/>
            </a:pPr>
            <a:r>
              <a:rPr lang="en-US" sz="1600" b="1" dirty="0">
                <a:solidFill>
                  <a:schemeClr val="bg1"/>
                </a:solidFill>
              </a:rPr>
              <a:t>Managers own the 30/60/90 plan, enablement equips them</a:t>
            </a:r>
            <a:endParaRPr lang="en-US" sz="1600" dirty="0"/>
          </a:p>
        </p:txBody>
      </p:sp>
      <p:sp>
        <p:nvSpPr>
          <p:cNvPr id="34" name="from 5"/>
          <p:cNvSpPr/>
          <p:nvPr/>
        </p:nvSpPr>
        <p:spPr>
          <a:xfrm>
            <a:off x="548640" y="5212080"/>
            <a:ext cx="4846320" cy="731520"/>
          </a:xfrm>
          <a:prstGeom prst="roundRect">
            <a:avLst>
              <a:gd name="adj" fmla="val 10000"/>
            </a:avLst>
          </a:prstGeom>
          <a:solidFill>
            <a:schemeClr val="bg2"/>
          </a:solidFill>
          <a:ln w="12700">
            <a:solidFill>
              <a:schemeClr val="bg2"/>
            </a:solidFill>
            <a:prstDash val="solid"/>
          </a:ln>
        </p:spPr>
      </p:sp>
      <p:pic>
        <p:nvPicPr>
          <p:cNvPr id="35" name="from icon 5" descr="from">    </p:cNvPr>
          <p:cNvPicPr>
            <a:picLocks noChangeAspect="1"/>
          </p:cNvPicPr>
          <p:nvPr/>
        </p:nvPicPr>
        <p:blipFill>
          <a:blip r:embed="rId13"/>
          <a:stretch>
            <a:fillRect/>
          </a:stretch>
        </p:blipFill>
        <p:spPr>
          <a:xfrm>
            <a:off x="731520" y="5394960"/>
            <a:ext cx="365760" cy="365760"/>
          </a:xfrm>
          <a:prstGeom prst="rect">
            <a:avLst/>
          </a:prstGeom>
        </p:spPr>
      </p:pic>
      <p:sp>
        <p:nvSpPr>
          <p:cNvPr id="36" name="Text 20"/>
          <p:cNvSpPr txBox="1"/>
          <p:nvPr/>
        </p:nvSpPr>
        <p:spPr>
          <a:xfrm>
            <a:off x="1234440" y="5212080"/>
            <a:ext cx="4023360" cy="731520"/>
          </a:xfrm>
          <a:prstGeom prst="rect">
            <a:avLst/>
          </a:prstGeom>
          <a:noFill/>
          <a:ln/>
        </p:spPr>
        <p:txBody>
          <a:bodyPr wrap="square" lIns="0" tIns="0" rIns="0" bIns="0" rtlCol="0" anchor="ctr"/>
          <a:lstStyle/>
          <a:p>
            <a:pPr indent="0" marL="0">
              <a:buNone/>
            </a:pPr>
            <a:r>
              <a:rPr lang="en-US" sz="1600" dirty="0">
                <a:solidFill>
                  <a:schemeClr val="accent3"/>
                </a:solidFill>
              </a:rPr>
              <a:t>Ramp ends at day 90</a:t>
            </a:r>
            <a:endParaRPr lang="en-US" sz="1600" dirty="0"/>
          </a:p>
        </p:txBody>
      </p:sp>
      <p:pic>
        <p:nvPicPr>
          <p:cNvPr id="37" name="arrow 5" descr="becomes">    </p:cNvPr>
          <p:cNvPicPr>
            <a:picLocks noChangeAspect="1"/>
          </p:cNvPicPr>
          <p:nvPr/>
        </p:nvPicPr>
        <p:blipFill>
          <a:blip r:embed="rId14"/>
          <a:stretch>
            <a:fillRect/>
          </a:stretch>
        </p:blipFill>
        <p:spPr>
          <a:xfrm>
            <a:off x="5532120" y="5413248"/>
            <a:ext cx="329184" cy="329184"/>
          </a:xfrm>
          <a:prstGeom prst="rect">
            <a:avLst/>
          </a:prstGeom>
        </p:spPr>
      </p:pic>
      <p:sp>
        <p:nvSpPr>
          <p:cNvPr id="38" name="to 5"/>
          <p:cNvSpPr/>
          <p:nvPr/>
        </p:nvSpPr>
        <p:spPr>
          <a:xfrm>
            <a:off x="6035040" y="5212080"/>
            <a:ext cx="5577840" cy="731520"/>
          </a:xfrm>
          <a:prstGeom prst="roundRect">
            <a:avLst>
              <a:gd name="adj" fmla="val 10000"/>
            </a:avLst>
          </a:prstGeom>
          <a:solidFill>
            <a:schemeClr val="bg2"/>
          </a:solidFill>
          <a:ln w="12700">
            <a:solidFill>
              <a:schemeClr val="bg2"/>
            </a:solidFill>
            <a:prstDash val="solid"/>
          </a:ln>
        </p:spPr>
      </p:sp>
      <p:pic>
        <p:nvPicPr>
          <p:cNvPr id="39" name="to icon 5" descr="to">    </p:cNvPr>
          <p:cNvPicPr>
            <a:picLocks noChangeAspect="1"/>
          </p:cNvPicPr>
          <p:nvPr/>
        </p:nvPicPr>
        <p:blipFill>
          <a:blip r:embed="rId15"/>
          <a:stretch>
            <a:fillRect/>
          </a:stretch>
        </p:blipFill>
        <p:spPr>
          <a:xfrm>
            <a:off x="6217920" y="5394960"/>
            <a:ext cx="365760" cy="365760"/>
          </a:xfrm>
          <a:prstGeom prst="rect">
            <a:avLst/>
          </a:prstGeom>
        </p:spPr>
      </p:pic>
      <p:sp>
        <p:nvSpPr>
          <p:cNvPr id="40" name="Text 22"/>
          <p:cNvSpPr txBox="1"/>
          <p:nvPr/>
        </p:nvSpPr>
        <p:spPr>
          <a:xfrm>
            <a:off x="6720840" y="5212080"/>
            <a:ext cx="4754880" cy="731520"/>
          </a:xfrm>
          <a:prstGeom prst="rect">
            <a:avLst/>
          </a:prstGeom>
          <a:noFill/>
          <a:ln/>
        </p:spPr>
        <p:txBody>
          <a:bodyPr wrap="square" lIns="0" tIns="0" rIns="0" bIns="0" rtlCol="0" anchor="ctr"/>
          <a:lstStyle/>
          <a:p>
            <a:pPr indent="0" marL="0">
              <a:buNone/>
            </a:pPr>
            <a:r>
              <a:rPr lang="en-US" sz="1600" b="1" dirty="0">
                <a:solidFill>
                  <a:schemeClr val="tx1"/>
                </a:solidFill>
              </a:rPr>
              <a:t>Straight into everboarding and recertification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model: four phases, owned by the manager</a:t>
            </a:r>
            <a:endParaRPr lang="en-US" sz="3200" dirty="0"/>
          </a:p>
        </p:txBody>
      </p:sp>
      <p:sp>
        <p:nvSpPr>
          <p:cNvPr id="4" name="Pre-boarding card"/>
          <p:cNvSpPr/>
          <p:nvPr/>
        </p:nvSpPr>
        <p:spPr>
          <a:xfrm>
            <a:off x="548640" y="1463040"/>
            <a:ext cx="2560320" cy="3566160"/>
          </a:xfrm>
          <a:prstGeom prst="roundRect">
            <a:avLst>
              <a:gd name="adj" fmla="val 2857"/>
            </a:avLst>
          </a:prstGeom>
          <a:solidFill>
            <a:schemeClr val="bg2"/>
          </a:solidFill>
          <a:ln w="12700">
            <a:solidFill>
              <a:schemeClr val="bg2"/>
            </a:solidFill>
            <a:prstDash val="solid"/>
          </a:ln>
        </p:spPr>
      </p:sp>
      <p:sp>
        <p:nvSpPr>
          <p:cNvPr id="5" name="Pre-boarding icon circle"/>
          <p:cNvSpPr/>
          <p:nvPr/>
        </p:nvSpPr>
        <p:spPr>
          <a:xfrm>
            <a:off x="822960" y="1737360"/>
            <a:ext cx="685800" cy="685800"/>
          </a:xfrm>
          <a:prstGeom prst="ellipse">
            <a:avLst/>
          </a:prstGeom>
          <a:solidFill>
            <a:schemeClr val="accent1"/>
          </a:solidFill>
          <a:ln w="12700">
            <a:solidFill>
              <a:schemeClr val="accent1"/>
            </a:solidFill>
            <a:prstDash val="solid"/>
          </a:ln>
        </p:spPr>
      </p:sp>
      <p:pic>
        <p:nvPicPr>
          <p:cNvPr id="6" name="Pre-boarding icon" descr="Pre-boarding icon">    </p:cNvPr>
          <p:cNvPicPr>
            <a:picLocks noChangeAspect="1"/>
          </p:cNvPicPr>
          <p:nvPr/>
        </p:nvPicPr>
        <p:blipFill>
          <a:blip r:embed="rId1"/>
          <a:stretch>
            <a:fillRect/>
          </a:stretch>
        </p:blipFill>
        <p:spPr>
          <a:xfrm>
            <a:off x="994410" y="1908810"/>
            <a:ext cx="342900" cy="342900"/>
          </a:xfrm>
          <a:prstGeom prst="rect">
            <a:avLst/>
          </a:prstGeom>
        </p:spPr>
      </p:pic>
      <p:sp>
        <p:nvSpPr>
          <p:cNvPr id="7" name="Text 3"/>
          <p:cNvSpPr txBox="1"/>
          <p:nvPr/>
        </p:nvSpPr>
        <p:spPr>
          <a:xfrm>
            <a:off x="822960" y="2560320"/>
            <a:ext cx="2103120" cy="457200"/>
          </a:xfrm>
          <a:prstGeom prst="rect">
            <a:avLst/>
          </a:prstGeom>
          <a:noFill/>
          <a:ln/>
        </p:spPr>
        <p:txBody>
          <a:bodyPr wrap="square" lIns="0" tIns="0" rIns="0" bIns="0" rtlCol="0" anchor="t"/>
          <a:lstStyle/>
          <a:p>
            <a:pPr indent="0" marL="0">
              <a:buNone/>
            </a:pPr>
            <a:r>
              <a:rPr lang="en-US" sz="2200" b="1" dirty="0">
                <a:solidFill>
                  <a:schemeClr val="tx1"/>
                </a:solidFill>
              </a:rPr>
              <a:t>Pre-boarding</a:t>
            </a:r>
            <a:endParaRPr lang="en-US" sz="2200" dirty="0"/>
          </a:p>
        </p:txBody>
      </p:sp>
      <p:sp>
        <p:nvSpPr>
          <p:cNvPr id="8" name="Text 4"/>
          <p:cNvSpPr txBox="1"/>
          <p:nvPr/>
        </p:nvSpPr>
        <p:spPr>
          <a:xfrm>
            <a:off x="822960" y="3017520"/>
            <a:ext cx="2103120" cy="365760"/>
          </a:xfrm>
          <a:prstGeom prst="rect">
            <a:avLst/>
          </a:prstGeom>
          <a:noFill/>
          <a:ln/>
        </p:spPr>
        <p:txBody>
          <a:bodyPr wrap="square" lIns="0" tIns="0" rIns="0" bIns="0" rtlCol="0" anchor="t"/>
          <a:lstStyle/>
          <a:p>
            <a:pPr indent="0" marL="0">
              <a:buNone/>
            </a:pPr>
            <a:r>
              <a:rPr lang="en-US" sz="1400" b="1" dirty="0">
                <a:solidFill>
                  <a:schemeClr val="accent1"/>
                </a:solidFill>
              </a:rPr>
              <a:t>Before day 1</a:t>
            </a:r>
            <a:endParaRPr lang="en-US" sz="1400" dirty="0"/>
          </a:p>
        </p:txBody>
      </p:sp>
      <p:sp>
        <p:nvSpPr>
          <p:cNvPr id="9" name="Text 5"/>
          <p:cNvSpPr txBox="1"/>
          <p:nvPr/>
        </p:nvSpPr>
        <p:spPr>
          <a:xfrm>
            <a:off x="822960" y="3474720"/>
            <a:ext cx="2103120" cy="1371600"/>
          </a:xfrm>
          <a:prstGeom prst="rect">
            <a:avLst/>
          </a:prstGeom>
          <a:noFill/>
          <a:ln/>
        </p:spPr>
        <p:txBody>
          <a:bodyPr wrap="square" lIns="0" tIns="0" rIns="0" bIns="0" rtlCol="0" anchor="t"/>
          <a:lstStyle/>
          <a:p>
            <a:pPr indent="0" marL="0">
              <a:buNone/>
            </a:pPr>
            <a:r>
              <a:rPr lang="en-US" sz="1500" dirty="0">
                <a:solidFill>
                  <a:schemeClr val="accent3"/>
                </a:solidFill>
              </a:rPr>
              <a:t>Access, buddy, manager drafts the 30/60/90</a:t>
            </a:r>
            <a:endParaRPr lang="en-US" sz="1500" dirty="0"/>
          </a:p>
        </p:txBody>
      </p:sp>
      <p:sp>
        <p:nvSpPr>
          <p:cNvPr id="10" name="arrow 1"/>
          <p:cNvSpPr/>
          <p:nvPr/>
        </p:nvSpPr>
        <p:spPr>
          <a:xfrm>
            <a:off x="3163824" y="3063240"/>
            <a:ext cx="164592" cy="365760"/>
          </a:xfrm>
          <a:prstGeom prst="chevron">
            <a:avLst/>
          </a:prstGeom>
          <a:solidFill>
            <a:schemeClr val="accent3"/>
          </a:solidFill>
          <a:ln w="12700">
            <a:solidFill>
              <a:schemeClr val="accent3"/>
            </a:solidFill>
            <a:prstDash val="solid"/>
          </a:ln>
        </p:spPr>
      </p:sp>
      <p:sp>
        <p:nvSpPr>
          <p:cNvPr id="11" name="Onboard card"/>
          <p:cNvSpPr/>
          <p:nvPr/>
        </p:nvSpPr>
        <p:spPr>
          <a:xfrm>
            <a:off x="3383280" y="1463040"/>
            <a:ext cx="2560320" cy="3566160"/>
          </a:xfrm>
          <a:prstGeom prst="roundRect">
            <a:avLst>
              <a:gd name="adj" fmla="val 2857"/>
            </a:avLst>
          </a:prstGeom>
          <a:solidFill>
            <a:schemeClr val="bg2"/>
          </a:solidFill>
          <a:ln w="12700">
            <a:solidFill>
              <a:schemeClr val="bg2"/>
            </a:solidFill>
            <a:prstDash val="solid"/>
          </a:ln>
        </p:spPr>
      </p:sp>
      <p:sp>
        <p:nvSpPr>
          <p:cNvPr id="12" name="Onboard icon circle"/>
          <p:cNvSpPr/>
          <p:nvPr/>
        </p:nvSpPr>
        <p:spPr>
          <a:xfrm>
            <a:off x="3657600" y="1737360"/>
            <a:ext cx="685800" cy="685800"/>
          </a:xfrm>
          <a:prstGeom prst="ellipse">
            <a:avLst/>
          </a:prstGeom>
          <a:solidFill>
            <a:schemeClr val="accent1"/>
          </a:solidFill>
          <a:ln w="12700">
            <a:solidFill>
              <a:schemeClr val="accent1"/>
            </a:solidFill>
            <a:prstDash val="solid"/>
          </a:ln>
        </p:spPr>
      </p:sp>
      <p:pic>
        <p:nvPicPr>
          <p:cNvPr id="13" name="Onboard icon" descr="Onboard icon">    </p:cNvPr>
          <p:cNvPicPr>
            <a:picLocks noChangeAspect="1"/>
          </p:cNvPicPr>
          <p:nvPr/>
        </p:nvPicPr>
        <p:blipFill>
          <a:blip r:embed="rId2"/>
          <a:stretch>
            <a:fillRect/>
          </a:stretch>
        </p:blipFill>
        <p:spPr>
          <a:xfrm>
            <a:off x="3829050" y="1908810"/>
            <a:ext cx="342900" cy="342900"/>
          </a:xfrm>
          <a:prstGeom prst="rect">
            <a:avLst/>
          </a:prstGeom>
        </p:spPr>
      </p:pic>
      <p:sp>
        <p:nvSpPr>
          <p:cNvPr id="14" name="Text 9"/>
          <p:cNvSpPr txBox="1"/>
          <p:nvPr/>
        </p:nvSpPr>
        <p:spPr>
          <a:xfrm>
            <a:off x="3657600" y="2560320"/>
            <a:ext cx="2103120" cy="457200"/>
          </a:xfrm>
          <a:prstGeom prst="rect">
            <a:avLst/>
          </a:prstGeom>
          <a:noFill/>
          <a:ln/>
        </p:spPr>
        <p:txBody>
          <a:bodyPr wrap="square" lIns="0" tIns="0" rIns="0" bIns="0" rtlCol="0" anchor="t"/>
          <a:lstStyle/>
          <a:p>
            <a:pPr indent="0" marL="0">
              <a:buNone/>
            </a:pPr>
            <a:r>
              <a:rPr lang="en-US" sz="2200" b="1" dirty="0">
                <a:solidFill>
                  <a:schemeClr val="tx1"/>
                </a:solidFill>
              </a:rPr>
              <a:t>Onboard</a:t>
            </a:r>
            <a:endParaRPr lang="en-US" sz="2200" dirty="0"/>
          </a:p>
        </p:txBody>
      </p:sp>
      <p:sp>
        <p:nvSpPr>
          <p:cNvPr id="15" name="Text 10"/>
          <p:cNvSpPr txBox="1"/>
          <p:nvPr/>
        </p:nvSpPr>
        <p:spPr>
          <a:xfrm>
            <a:off x="3657600" y="3017520"/>
            <a:ext cx="2103120" cy="365760"/>
          </a:xfrm>
          <a:prstGeom prst="rect">
            <a:avLst/>
          </a:prstGeom>
          <a:noFill/>
          <a:ln/>
        </p:spPr>
        <p:txBody>
          <a:bodyPr wrap="square" lIns="0" tIns="0" rIns="0" bIns="0" rtlCol="0" anchor="t"/>
          <a:lstStyle/>
          <a:p>
            <a:pPr indent="0" marL="0">
              <a:buNone/>
            </a:pPr>
            <a:r>
              <a:rPr lang="en-US" sz="1400" b="1" dirty="0">
                <a:solidFill>
                  <a:schemeClr val="accent1"/>
                </a:solidFill>
              </a:rPr>
              <a:t>Weeks 1–2</a:t>
            </a:r>
            <a:endParaRPr lang="en-US" sz="1400" dirty="0"/>
          </a:p>
        </p:txBody>
      </p:sp>
      <p:sp>
        <p:nvSpPr>
          <p:cNvPr id="16" name="Text 11"/>
          <p:cNvSpPr txBox="1"/>
          <p:nvPr/>
        </p:nvSpPr>
        <p:spPr>
          <a:xfrm>
            <a:off x="3657600" y="3474720"/>
            <a:ext cx="2103120" cy="1371600"/>
          </a:xfrm>
          <a:prstGeom prst="rect">
            <a:avLst/>
          </a:prstGeom>
          <a:noFill/>
          <a:ln/>
        </p:spPr>
        <p:txBody>
          <a:bodyPr wrap="square" lIns="0" tIns="0" rIns="0" bIns="0" rtlCol="0" anchor="t"/>
          <a:lstStyle/>
          <a:p>
            <a:pPr indent="0" marL="0">
              <a:buNone/>
            </a:pPr>
            <a:r>
              <a:rPr lang="en-US" sz="1500" dirty="0">
                <a:solidFill>
                  <a:schemeClr val="accent3"/>
                </a:solidFill>
              </a:rPr>
              <a:t>Checkout &amp; payments basics, DEPTH intro, tools, first certification</a:t>
            </a:r>
            <a:endParaRPr lang="en-US" sz="1500" dirty="0"/>
          </a:p>
        </p:txBody>
      </p:sp>
      <p:sp>
        <p:nvSpPr>
          <p:cNvPr id="17" name="arrow 2"/>
          <p:cNvSpPr/>
          <p:nvPr/>
        </p:nvSpPr>
        <p:spPr>
          <a:xfrm>
            <a:off x="5998464" y="3063240"/>
            <a:ext cx="164592" cy="365760"/>
          </a:xfrm>
          <a:prstGeom prst="chevron">
            <a:avLst/>
          </a:prstGeom>
          <a:solidFill>
            <a:schemeClr val="accent3"/>
          </a:solidFill>
          <a:ln w="12700">
            <a:solidFill>
              <a:schemeClr val="accent3"/>
            </a:solidFill>
            <a:prstDash val="solid"/>
          </a:ln>
        </p:spPr>
      </p:sp>
      <p:sp>
        <p:nvSpPr>
          <p:cNvPr id="18" name="Ramp card"/>
          <p:cNvSpPr/>
          <p:nvPr/>
        </p:nvSpPr>
        <p:spPr>
          <a:xfrm>
            <a:off x="6217920" y="1463040"/>
            <a:ext cx="2560320" cy="3566160"/>
          </a:xfrm>
          <a:prstGeom prst="roundRect">
            <a:avLst>
              <a:gd name="adj" fmla="val 2857"/>
            </a:avLst>
          </a:prstGeom>
          <a:solidFill>
            <a:schemeClr val="tx2"/>
          </a:solidFill>
          <a:ln w="12700">
            <a:solidFill>
              <a:schemeClr val="tx2"/>
            </a:solidFill>
            <a:prstDash val="solid"/>
          </a:ln>
        </p:spPr>
      </p:sp>
      <p:sp>
        <p:nvSpPr>
          <p:cNvPr id="19" name="Ramp icon circle"/>
          <p:cNvSpPr/>
          <p:nvPr/>
        </p:nvSpPr>
        <p:spPr>
          <a:xfrm>
            <a:off x="6492240" y="1737360"/>
            <a:ext cx="685800" cy="685800"/>
          </a:xfrm>
          <a:prstGeom prst="ellipse">
            <a:avLst/>
          </a:prstGeom>
          <a:solidFill>
            <a:schemeClr val="accent6"/>
          </a:solidFill>
          <a:ln w="12700">
            <a:solidFill>
              <a:schemeClr val="accent6"/>
            </a:solidFill>
            <a:prstDash val="solid"/>
          </a:ln>
        </p:spPr>
      </p:sp>
      <p:pic>
        <p:nvPicPr>
          <p:cNvPr id="20" name="Ramp icon" descr="Ramp icon">    </p:cNvPr>
          <p:cNvPicPr>
            <a:picLocks noChangeAspect="1"/>
          </p:cNvPicPr>
          <p:nvPr/>
        </p:nvPicPr>
        <p:blipFill>
          <a:blip r:embed="rId3"/>
          <a:stretch>
            <a:fillRect/>
          </a:stretch>
        </p:blipFill>
        <p:spPr>
          <a:xfrm>
            <a:off x="6663690" y="1908810"/>
            <a:ext cx="342900" cy="342900"/>
          </a:xfrm>
          <a:prstGeom prst="rect">
            <a:avLst/>
          </a:prstGeom>
        </p:spPr>
      </p:pic>
      <p:sp>
        <p:nvSpPr>
          <p:cNvPr id="21" name="Text 15"/>
          <p:cNvSpPr txBox="1"/>
          <p:nvPr/>
        </p:nvSpPr>
        <p:spPr>
          <a:xfrm>
            <a:off x="6492240" y="2560320"/>
            <a:ext cx="2103120" cy="457200"/>
          </a:xfrm>
          <a:prstGeom prst="rect">
            <a:avLst/>
          </a:prstGeom>
          <a:noFill/>
          <a:ln/>
        </p:spPr>
        <p:txBody>
          <a:bodyPr wrap="square" lIns="0" tIns="0" rIns="0" bIns="0" rtlCol="0" anchor="t"/>
          <a:lstStyle/>
          <a:p>
            <a:pPr indent="0" marL="0">
              <a:buNone/>
            </a:pPr>
            <a:r>
              <a:rPr lang="en-US" sz="2200" b="1" dirty="0">
                <a:solidFill>
                  <a:schemeClr val="bg1"/>
                </a:solidFill>
              </a:rPr>
              <a:t>Ramp</a:t>
            </a:r>
            <a:endParaRPr lang="en-US" sz="2200" dirty="0"/>
          </a:p>
        </p:txBody>
      </p:sp>
      <p:sp>
        <p:nvSpPr>
          <p:cNvPr id="22" name="Text 16"/>
          <p:cNvSpPr txBox="1"/>
          <p:nvPr/>
        </p:nvSpPr>
        <p:spPr>
          <a:xfrm>
            <a:off x="6492240" y="3017520"/>
            <a:ext cx="2103120" cy="365760"/>
          </a:xfrm>
          <a:prstGeom prst="rect">
            <a:avLst/>
          </a:prstGeom>
          <a:noFill/>
          <a:ln/>
        </p:spPr>
        <p:txBody>
          <a:bodyPr wrap="square" lIns="0" tIns="0" rIns="0" bIns="0" rtlCol="0" anchor="t"/>
          <a:lstStyle/>
          <a:p>
            <a:pPr indent="0" marL="0">
              <a:buNone/>
            </a:pPr>
            <a:r>
              <a:rPr lang="en-US" sz="1400" b="1" dirty="0">
                <a:solidFill>
                  <a:schemeClr val="accent6"/>
                </a:solidFill>
              </a:rPr>
              <a:t>Days 15–90</a:t>
            </a:r>
            <a:endParaRPr lang="en-US" sz="1400" dirty="0"/>
          </a:p>
        </p:txBody>
      </p:sp>
      <p:sp>
        <p:nvSpPr>
          <p:cNvPr id="23" name="Text 17"/>
          <p:cNvSpPr txBox="1"/>
          <p:nvPr/>
        </p:nvSpPr>
        <p:spPr>
          <a:xfrm>
            <a:off x="6492240" y="3474720"/>
            <a:ext cx="2103120" cy="1371600"/>
          </a:xfrm>
          <a:prstGeom prst="rect">
            <a:avLst/>
          </a:prstGeom>
          <a:noFill/>
          <a:ln/>
        </p:spPr>
        <p:txBody>
          <a:bodyPr wrap="square" lIns="0" tIns="0" rIns="0" bIns="0" rtlCol="0" anchor="t"/>
          <a:lstStyle/>
          <a:p>
            <a:pPr indent="0" marL="0">
              <a:buNone/>
            </a:pPr>
            <a:r>
              <a:rPr lang="en-US" sz="1500" dirty="0">
                <a:solidFill>
                  <a:schemeClr val="bg1"/>
                </a:solidFill>
              </a:rPr>
              <a:t>Live deals, weekly manager 1:1, certification gates, spaced reinforcement</a:t>
            </a:r>
            <a:endParaRPr lang="en-US" sz="1500" dirty="0"/>
          </a:p>
        </p:txBody>
      </p:sp>
      <p:sp>
        <p:nvSpPr>
          <p:cNvPr id="24" name="arrow 3"/>
          <p:cNvSpPr/>
          <p:nvPr/>
        </p:nvSpPr>
        <p:spPr>
          <a:xfrm>
            <a:off x="8833104" y="3063240"/>
            <a:ext cx="164592" cy="365760"/>
          </a:xfrm>
          <a:prstGeom prst="chevron">
            <a:avLst/>
          </a:prstGeom>
          <a:solidFill>
            <a:schemeClr val="accent3"/>
          </a:solidFill>
          <a:ln w="12700">
            <a:solidFill>
              <a:schemeClr val="accent3"/>
            </a:solidFill>
            <a:prstDash val="solid"/>
          </a:ln>
        </p:spPr>
      </p:sp>
      <p:sp>
        <p:nvSpPr>
          <p:cNvPr id="25" name="Everboard card"/>
          <p:cNvSpPr/>
          <p:nvPr/>
        </p:nvSpPr>
        <p:spPr>
          <a:xfrm>
            <a:off x="9052560" y="1463040"/>
            <a:ext cx="2560320" cy="3566160"/>
          </a:xfrm>
          <a:prstGeom prst="roundRect">
            <a:avLst>
              <a:gd name="adj" fmla="val 2857"/>
            </a:avLst>
          </a:prstGeom>
          <a:solidFill>
            <a:schemeClr val="bg2"/>
          </a:solidFill>
          <a:ln w="12700">
            <a:solidFill>
              <a:schemeClr val="bg2"/>
            </a:solidFill>
            <a:prstDash val="solid"/>
          </a:ln>
        </p:spPr>
      </p:sp>
      <p:sp>
        <p:nvSpPr>
          <p:cNvPr id="26" name="Everboard icon circle"/>
          <p:cNvSpPr/>
          <p:nvPr/>
        </p:nvSpPr>
        <p:spPr>
          <a:xfrm>
            <a:off x="9326880" y="1737360"/>
            <a:ext cx="685800" cy="685800"/>
          </a:xfrm>
          <a:prstGeom prst="ellipse">
            <a:avLst/>
          </a:prstGeom>
          <a:solidFill>
            <a:schemeClr val="accent1"/>
          </a:solidFill>
          <a:ln w="12700">
            <a:solidFill>
              <a:schemeClr val="accent1"/>
            </a:solidFill>
            <a:prstDash val="solid"/>
          </a:ln>
        </p:spPr>
      </p:sp>
      <p:pic>
        <p:nvPicPr>
          <p:cNvPr id="27" name="Everboard icon" descr="Everboard icon">    </p:cNvPr>
          <p:cNvPicPr>
            <a:picLocks noChangeAspect="1"/>
          </p:cNvPicPr>
          <p:nvPr/>
        </p:nvPicPr>
        <p:blipFill>
          <a:blip r:embed="rId4"/>
          <a:stretch>
            <a:fillRect/>
          </a:stretch>
        </p:blipFill>
        <p:spPr>
          <a:xfrm>
            <a:off x="9498330" y="1908810"/>
            <a:ext cx="342900" cy="342900"/>
          </a:xfrm>
          <a:prstGeom prst="rect">
            <a:avLst/>
          </a:prstGeom>
        </p:spPr>
      </p:pic>
      <p:sp>
        <p:nvSpPr>
          <p:cNvPr id="28" name="Text 21"/>
          <p:cNvSpPr txBox="1"/>
          <p:nvPr/>
        </p:nvSpPr>
        <p:spPr>
          <a:xfrm>
            <a:off x="9326880" y="2560320"/>
            <a:ext cx="2103120" cy="457200"/>
          </a:xfrm>
          <a:prstGeom prst="rect">
            <a:avLst/>
          </a:prstGeom>
          <a:noFill/>
          <a:ln/>
        </p:spPr>
        <p:txBody>
          <a:bodyPr wrap="square" lIns="0" tIns="0" rIns="0" bIns="0" rtlCol="0" anchor="t"/>
          <a:lstStyle/>
          <a:p>
            <a:pPr indent="0" marL="0">
              <a:buNone/>
            </a:pPr>
            <a:r>
              <a:rPr lang="en-US" sz="2200" b="1" dirty="0">
                <a:solidFill>
                  <a:schemeClr val="tx1"/>
                </a:solidFill>
              </a:rPr>
              <a:t>Everboard</a:t>
            </a:r>
            <a:endParaRPr lang="en-US" sz="2200" dirty="0"/>
          </a:p>
        </p:txBody>
      </p:sp>
      <p:sp>
        <p:nvSpPr>
          <p:cNvPr id="29" name="Text 22"/>
          <p:cNvSpPr txBox="1"/>
          <p:nvPr/>
        </p:nvSpPr>
        <p:spPr>
          <a:xfrm>
            <a:off x="9326880" y="3017520"/>
            <a:ext cx="2103120" cy="365760"/>
          </a:xfrm>
          <a:prstGeom prst="rect">
            <a:avLst/>
          </a:prstGeom>
          <a:noFill/>
          <a:ln/>
        </p:spPr>
        <p:txBody>
          <a:bodyPr wrap="square" lIns="0" tIns="0" rIns="0" bIns="0" rtlCol="0" anchor="t"/>
          <a:lstStyle/>
          <a:p>
            <a:pPr indent="0" marL="0">
              <a:buNone/>
            </a:pPr>
            <a:r>
              <a:rPr lang="en-US" sz="1400" b="1" dirty="0">
                <a:solidFill>
                  <a:schemeClr val="accent1"/>
                </a:solidFill>
              </a:rPr>
              <a:t>Day 90+</a:t>
            </a:r>
            <a:endParaRPr lang="en-US" sz="1400" dirty="0"/>
          </a:p>
        </p:txBody>
      </p:sp>
      <p:sp>
        <p:nvSpPr>
          <p:cNvPr id="30" name="Text 23"/>
          <p:cNvSpPr txBox="1"/>
          <p:nvPr/>
        </p:nvSpPr>
        <p:spPr>
          <a:xfrm>
            <a:off x="9326880" y="3474720"/>
            <a:ext cx="2103120" cy="1371600"/>
          </a:xfrm>
          <a:prstGeom prst="rect">
            <a:avLst/>
          </a:prstGeom>
          <a:noFill/>
          <a:ln/>
        </p:spPr>
        <p:txBody>
          <a:bodyPr wrap="square" lIns="0" tIns="0" rIns="0" bIns="0" rtlCol="0" anchor="t"/>
          <a:lstStyle/>
          <a:p>
            <a:pPr indent="0" marL="0">
              <a:buNone/>
            </a:pPr>
            <a:r>
              <a:rPr lang="en-US" sz="1500" dirty="0">
                <a:solidFill>
                  <a:schemeClr val="accent3"/>
                </a:solidFill>
              </a:rPr>
              <a:t>Monthly skills, quarterly product, recertification, role transitions</a:t>
            </a:r>
            <a:endParaRPr lang="en-US" sz="1500" dirty="0"/>
          </a:p>
        </p:txBody>
      </p:sp>
      <p:sp>
        <p:nvSpPr>
          <p:cNvPr id="31" name="manager callout"/>
          <p:cNvSpPr/>
          <p:nvPr/>
        </p:nvSpPr>
        <p:spPr>
          <a:xfrm>
            <a:off x="548640" y="5257800"/>
            <a:ext cx="11064240" cy="777240"/>
          </a:xfrm>
          <a:prstGeom prst="roundRect">
            <a:avLst>
              <a:gd name="adj" fmla="val 9412"/>
            </a:avLst>
          </a:prstGeom>
          <a:solidFill>
            <a:schemeClr val="bg2"/>
          </a:solidFill>
          <a:ln w="12700">
            <a:solidFill>
              <a:schemeClr val="bg2"/>
            </a:solidFill>
            <a:prstDash val="solid"/>
          </a:ln>
        </p:spPr>
      </p:sp>
      <p:sp>
        <p:nvSpPr>
          <p:cNvPr id="32" name="Text 25"/>
          <p:cNvSpPr txBox="1"/>
          <p:nvPr/>
        </p:nvSpPr>
        <p:spPr>
          <a:xfrm>
            <a:off x="822960" y="5257800"/>
            <a:ext cx="10515600" cy="777240"/>
          </a:xfrm>
          <a:prstGeom prst="rect">
            <a:avLst/>
          </a:prstGeom>
          <a:noFill/>
          <a:ln/>
        </p:spPr>
        <p:txBody>
          <a:bodyPr wrap="square" lIns="0" tIns="0" rIns="0" bIns="0" rtlCol="0" anchor="ctr"/>
          <a:lstStyle/>
          <a:p>
            <a:pPr indent="0" marL="0">
              <a:buNone/>
            </a:pPr>
            <a:r>
              <a:rPr lang="en-US" sz="1700" b="1" dirty="0">
                <a:solidFill>
                  <a:schemeClr val="accent1"/>
                </a:solidFill>
              </a:rPr>
              <a:t>The biggest lever: </a:t>
            </a:r>
            <a:pPr indent="0" marL="0">
              <a:buNone/>
            </a:pPr>
            <a:r>
              <a:rPr lang="en-US" sz="1700" dirty="0">
                <a:solidFill>
                  <a:schemeClr val="tx1"/>
                </a:solidFill>
              </a:rPr>
              <a:t>frontline manager coaching affects ramp more than any content we build.</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Clear gates by role at 30, 60 and 90 days</a:t>
            </a:r>
            <a:endParaRPr lang="en-US" sz="3200" dirty="0"/>
          </a:p>
        </p:txBody>
      </p:sp>
      <p:graphicFrame>
        <p:nvGraphicFramePr>
          <p:cNvPr id="7" name="gates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011680"/>
                <a:gridCol w="3017520"/>
                <a:gridCol w="3017520"/>
                <a:gridCol w="3017520"/>
              </a:tblGrid>
              <a:tr h="502920">
                <a:tc>
                  <a:txBody>
                    <a:bodyPr/>
                    <a:lstStyle/>
                    <a:p>
                      <a:pPr indent="0" marL="0">
                        <a:buNone/>
                      </a:pPr>
                      <a:r>
                        <a:rPr lang="en-US" sz="1500" b="1" dirty="0">
                          <a:solidFill>
                            <a:schemeClr val="bg1"/>
                          </a:solidFill>
                        </a:rPr>
                        <a:t>Role</a:t>
                      </a:r>
                      <a:endParaRPr lang="en-US" sz="15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Day 30</a:t>
                      </a:r>
                      <a:endParaRPr lang="en-US" sz="15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Day 60</a:t>
                      </a:r>
                      <a:endParaRPr lang="en-US" sz="15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Day 90</a:t>
                      </a:r>
                      <a:endParaRPr lang="en-US" sz="15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914400">
                <a:tc>
                  <a:txBody>
                    <a:bodyPr/>
                    <a:lstStyle/>
                    <a:p>
                      <a:pPr indent="0" marL="0">
                        <a:buNone/>
                      </a:pPr>
                      <a:r>
                        <a:rPr lang="en-US" sz="1400" b="1" dirty="0">
                          <a:solidFill>
                            <a:schemeClr val="tx1"/>
                          </a:solidFill>
                        </a:rPr>
                        <a:t>BDR</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Cold-call certification. First meeting booked</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~50% of meetings target. Qualification role-play</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100% of meetings and SQL target</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914400">
                <a:tc>
                  <a:txBody>
                    <a:bodyPr/>
                    <a:lstStyle/>
                    <a:p>
                      <a:pPr indent="0" marL="0">
                        <a:buNone/>
                      </a:pPr>
                      <a:r>
                        <a:rPr lang="en-US" sz="1400" b="1" dirty="0">
                          <a:solidFill>
                            <a:schemeClr val="tx1"/>
                          </a:solidFill>
                        </a:rPr>
                        <a:t>AE</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Pitch certification. DEPTH role-play. First customer meeting</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First qualified opp. Pipeline at target</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Pipeline coverage target. First deal by ~day 90+ (cycle-dependent)</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914400">
                <a:tc>
                  <a:txBody>
                    <a:bodyPr/>
                    <a:lstStyle/>
                    <a:p>
                      <a:pPr indent="0" marL="0">
                        <a:buNone/>
                      </a:pPr>
                      <a:r>
                        <a:rPr lang="en-US" sz="1400" b="1" dirty="0">
                          <a:solidFill>
                            <a:schemeClr val="tx1"/>
                          </a:solidFill>
                        </a:rPr>
                        <a:t>Account Manager</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Account plans reviewed. Product certification</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First expansion opp. QBR certification</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Retention and expansion pipeline targets</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914400">
                <a:tc>
                  <a:txBody>
                    <a:bodyPr/>
                    <a:lstStyle/>
                    <a:p>
                      <a:pPr indent="0" marL="0">
                        <a:buNone/>
                      </a:pPr>
                      <a:r>
                        <a:rPr lang="en-US" sz="1400" b="1" dirty="0">
                          <a:solidFill>
                            <a:schemeClr val="tx1"/>
                          </a:solidFill>
                        </a:rPr>
                        <a:t>Solutions Engineer</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Core demo certification</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Leads first technical discovery</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AE feedback score. Opp support capacity</a:t>
                      </a:r>
                      <a:endParaRPr lang="en-US" sz="1400" dirty="0"/>
                    </a:p>
                  </a:txBody>
                  <a:tcPr marL="109728" marR="109728" marT="109728" marB="10972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300" i="1" dirty="0">
                <a:solidFill>
                  <a:schemeClr val="accent3"/>
                </a:solidFill>
              </a:rPr>
              <a:t>Draft gates and targets, to agree with each NORAM commercial leader.</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We'll measure behaviour and results, not completion</a:t>
            </a:r>
            <a:endParaRPr lang="en-US" sz="3200" dirty="0"/>
          </a:p>
        </p:txBody>
      </p:sp>
      <p:sp>
        <p:nvSpPr>
          <p:cNvPr id="4" name="Leading card"/>
          <p:cNvSpPr/>
          <p:nvPr/>
        </p:nvSpPr>
        <p:spPr>
          <a:xfrm>
            <a:off x="548640" y="1463040"/>
            <a:ext cx="3566160" cy="3566160"/>
          </a:xfrm>
          <a:prstGeom prst="roundRect">
            <a:avLst>
              <a:gd name="adj" fmla="val 2051"/>
            </a:avLst>
          </a:prstGeom>
          <a:solidFill>
            <a:schemeClr val="bg2"/>
          </a:solidFill>
          <a:ln w="12700">
            <a:solidFill>
              <a:schemeClr val="bg2"/>
            </a:solidFill>
            <a:prstDash val="solid"/>
          </a:ln>
        </p:spPr>
      </p:sp>
      <p:sp>
        <p:nvSpPr>
          <p:cNvPr id="5" name="Leading icon circle"/>
          <p:cNvSpPr/>
          <p:nvPr/>
        </p:nvSpPr>
        <p:spPr>
          <a:xfrm>
            <a:off x="822960" y="1737360"/>
            <a:ext cx="640080" cy="640080"/>
          </a:xfrm>
          <a:prstGeom prst="ellipse">
            <a:avLst/>
          </a:prstGeom>
          <a:solidFill>
            <a:schemeClr val="accent1"/>
          </a:solidFill>
          <a:ln w="12700">
            <a:solidFill>
              <a:schemeClr val="accent1"/>
            </a:solidFill>
            <a:prstDash val="solid"/>
          </a:ln>
        </p:spPr>
      </p:sp>
      <p:pic>
        <p:nvPicPr>
          <p:cNvPr id="6" name="Leading icon" descr="Leading icon">    </p:cNvPr>
          <p:cNvPicPr>
            <a:picLocks noChangeAspect="1"/>
          </p:cNvPicPr>
          <p:nvPr/>
        </p:nvPicPr>
        <p:blipFill>
          <a:blip r:embed="rId1"/>
          <a:stretch>
            <a:fillRect/>
          </a:stretch>
        </p:blipFill>
        <p:spPr>
          <a:xfrm>
            <a:off x="982980" y="1897380"/>
            <a:ext cx="320040" cy="320040"/>
          </a:xfrm>
          <a:prstGeom prst="rect">
            <a:avLst/>
          </a:prstGeom>
        </p:spPr>
      </p:pic>
      <p:sp>
        <p:nvSpPr>
          <p:cNvPr id="7" name="Text 3"/>
          <p:cNvSpPr txBox="1"/>
          <p:nvPr/>
        </p:nvSpPr>
        <p:spPr>
          <a:xfrm>
            <a:off x="1645920" y="1691640"/>
            <a:ext cx="2286000" cy="777240"/>
          </a:xfrm>
          <a:prstGeom prst="rect">
            <a:avLst/>
          </a:prstGeom>
          <a:noFill/>
          <a:ln/>
        </p:spPr>
        <p:txBody>
          <a:bodyPr wrap="square" lIns="0" tIns="0" rIns="0" bIns="0" rtlCol="0" anchor="ctr"/>
          <a:lstStyle/>
          <a:p>
            <a:pPr indent="0" marL="0">
              <a:buNone/>
            </a:pPr>
            <a:r>
              <a:rPr lang="en-US" sz="2200" b="1" dirty="0">
                <a:solidFill>
                  <a:schemeClr val="tx1"/>
                </a:solidFill>
              </a:rPr>
              <a:t>Leading</a:t>
            </a:r>
            <a:endParaRPr lang="en-US" sz="2200" dirty="0"/>
          </a:p>
          <a:p>
            <a:pPr indent="0" marL="0">
              <a:buNone/>
            </a:pPr>
            <a:r>
              <a:rPr lang="en-US" sz="1300" b="1" dirty="0">
                <a:solidFill>
                  <a:schemeClr val="accent1"/>
                </a:solidFill>
              </a:rPr>
              <a:t>Early warning</a:t>
            </a:r>
            <a:endParaRPr lang="en-US" sz="2200" dirty="0"/>
          </a:p>
        </p:txBody>
      </p:sp>
      <p:sp>
        <p:nvSpPr>
          <p:cNvPr id="8" name="Text 4"/>
          <p:cNvSpPr txBox="1"/>
          <p:nvPr/>
        </p:nvSpPr>
        <p:spPr>
          <a:xfrm>
            <a:off x="822960" y="2697480"/>
            <a:ext cx="306324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Time to first meeting</a:t>
            </a:r>
            <a:endParaRPr lang="en-US" sz="1600" dirty="0"/>
          </a:p>
          <a:p>
            <a:pPr marL="342900" indent="-342900">
              <a:spcAft>
                <a:spcPts val="800"/>
              </a:spcAft>
              <a:buSzPct val="100000"/>
              <a:buChar char="•"/>
            </a:pPr>
            <a:r>
              <a:rPr lang="en-US" sz="1600" dirty="0">
                <a:solidFill>
                  <a:schemeClr val="tx1"/>
                </a:solidFill>
              </a:rPr>
              <a:t>Certification pass rate</a:t>
            </a:r>
            <a:endParaRPr lang="en-US" sz="1600" dirty="0"/>
          </a:p>
          <a:p>
            <a:pPr marL="342900" indent="-342900">
              <a:spcAft>
                <a:spcPts val="800"/>
              </a:spcAft>
              <a:buSzPct val="100000"/>
              <a:buChar char="•"/>
            </a:pPr>
            <a:r>
              <a:rPr lang="en-US" sz="1600" dirty="0">
                <a:solidFill>
                  <a:schemeClr val="tx1"/>
                </a:solidFill>
              </a:rPr>
              <a:t>DEPTH fields in Salesforce</a:t>
            </a:r>
            <a:endParaRPr lang="en-US" sz="1600" dirty="0"/>
          </a:p>
          <a:p>
            <a:pPr marL="342900" indent="-342900">
              <a:spcAft>
                <a:spcPts val="800"/>
              </a:spcAft>
              <a:buSzPct val="100000"/>
              <a:buChar char="•"/>
            </a:pPr>
            <a:r>
              <a:rPr lang="en-US" sz="1600" dirty="0">
                <a:solidFill>
                  <a:schemeClr val="tx1"/>
                </a:solidFill>
              </a:rPr>
              <a:t>Gong call quality</a:t>
            </a:r>
            <a:endParaRPr lang="en-US" sz="1600" dirty="0"/>
          </a:p>
        </p:txBody>
      </p:sp>
      <p:sp>
        <p:nvSpPr>
          <p:cNvPr id="9" name="Lagging card"/>
          <p:cNvSpPr/>
          <p:nvPr/>
        </p:nvSpPr>
        <p:spPr>
          <a:xfrm>
            <a:off x="4297680" y="1463040"/>
            <a:ext cx="3566160" cy="3566160"/>
          </a:xfrm>
          <a:prstGeom prst="roundRect">
            <a:avLst>
              <a:gd name="adj" fmla="val 2051"/>
            </a:avLst>
          </a:prstGeom>
          <a:solidFill>
            <a:schemeClr val="bg2"/>
          </a:solidFill>
          <a:ln w="12700">
            <a:solidFill>
              <a:schemeClr val="bg2"/>
            </a:solidFill>
            <a:prstDash val="solid"/>
          </a:ln>
        </p:spPr>
      </p:sp>
      <p:sp>
        <p:nvSpPr>
          <p:cNvPr id="10" name="Lagging icon circle"/>
          <p:cNvSpPr/>
          <p:nvPr/>
        </p:nvSpPr>
        <p:spPr>
          <a:xfrm>
            <a:off x="4572000" y="1737360"/>
            <a:ext cx="640080" cy="640080"/>
          </a:xfrm>
          <a:prstGeom prst="ellipse">
            <a:avLst/>
          </a:prstGeom>
          <a:solidFill>
            <a:schemeClr val="accent1"/>
          </a:solidFill>
          <a:ln w="12700">
            <a:solidFill>
              <a:schemeClr val="accent1"/>
            </a:solidFill>
            <a:prstDash val="solid"/>
          </a:ln>
        </p:spPr>
      </p:sp>
      <p:pic>
        <p:nvPicPr>
          <p:cNvPr id="11" name="Lagging icon" descr="Lagging icon">    </p:cNvPr>
          <p:cNvPicPr>
            <a:picLocks noChangeAspect="1"/>
          </p:cNvPicPr>
          <p:nvPr/>
        </p:nvPicPr>
        <p:blipFill>
          <a:blip r:embed="rId2"/>
          <a:stretch>
            <a:fillRect/>
          </a:stretch>
        </p:blipFill>
        <p:spPr>
          <a:xfrm>
            <a:off x="4732020" y="1897380"/>
            <a:ext cx="320040" cy="320040"/>
          </a:xfrm>
          <a:prstGeom prst="rect">
            <a:avLst/>
          </a:prstGeom>
        </p:spPr>
      </p:pic>
      <p:sp>
        <p:nvSpPr>
          <p:cNvPr id="12" name="Text 7"/>
          <p:cNvSpPr txBox="1"/>
          <p:nvPr/>
        </p:nvSpPr>
        <p:spPr>
          <a:xfrm>
            <a:off x="5394960" y="1691640"/>
            <a:ext cx="2286000" cy="777240"/>
          </a:xfrm>
          <a:prstGeom prst="rect">
            <a:avLst/>
          </a:prstGeom>
          <a:noFill/>
          <a:ln/>
        </p:spPr>
        <p:txBody>
          <a:bodyPr wrap="square" lIns="0" tIns="0" rIns="0" bIns="0" rtlCol="0" anchor="ctr"/>
          <a:lstStyle/>
          <a:p>
            <a:pPr indent="0" marL="0">
              <a:buNone/>
            </a:pPr>
            <a:r>
              <a:rPr lang="en-US" sz="2200" b="1" dirty="0">
                <a:solidFill>
                  <a:schemeClr val="tx1"/>
                </a:solidFill>
              </a:rPr>
              <a:t>Lagging</a:t>
            </a:r>
            <a:endParaRPr lang="en-US" sz="2200" dirty="0"/>
          </a:p>
          <a:p>
            <a:pPr indent="0" marL="0">
              <a:buNone/>
            </a:pPr>
            <a:r>
              <a:rPr lang="en-US" sz="1300" b="1" dirty="0">
                <a:solidFill>
                  <a:schemeClr val="accent1"/>
                </a:solidFill>
              </a:rPr>
              <a:t>Proof of impact</a:t>
            </a:r>
            <a:endParaRPr lang="en-US" sz="2200" dirty="0"/>
          </a:p>
        </p:txBody>
      </p:sp>
      <p:sp>
        <p:nvSpPr>
          <p:cNvPr id="13" name="Text 8"/>
          <p:cNvSpPr txBox="1"/>
          <p:nvPr/>
        </p:nvSpPr>
        <p:spPr>
          <a:xfrm>
            <a:off x="4572000" y="2697480"/>
            <a:ext cx="306324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Time to first qualified opp</a:t>
            </a:r>
            <a:endParaRPr lang="en-US" sz="1600" dirty="0"/>
          </a:p>
          <a:p>
            <a:pPr marL="342900" indent="-342900">
              <a:spcAft>
                <a:spcPts val="800"/>
              </a:spcAft>
              <a:buSzPct val="100000"/>
              <a:buChar char="•"/>
            </a:pPr>
            <a:r>
              <a:rPr lang="en-US" sz="1600" dirty="0">
                <a:solidFill>
                  <a:schemeClr val="tx1"/>
                </a:solidFill>
              </a:rPr>
              <a:t>Time to first closed deal</a:t>
            </a:r>
            <a:endParaRPr lang="en-US" sz="1600" dirty="0"/>
          </a:p>
          <a:p>
            <a:pPr marL="342900" indent="-342900">
              <a:spcAft>
                <a:spcPts val="800"/>
              </a:spcAft>
              <a:buSzPct val="100000"/>
              <a:buChar char="•"/>
            </a:pPr>
            <a:r>
              <a:rPr lang="en-US" sz="1600" dirty="0">
                <a:solidFill>
                  <a:schemeClr val="tx1"/>
                </a:solidFill>
              </a:rPr>
              <a:t>% of ramped quota at 3/6/9 months</a:t>
            </a:r>
            <a:endParaRPr lang="en-US" sz="1600" dirty="0"/>
          </a:p>
        </p:txBody>
      </p:sp>
      <p:sp>
        <p:nvSpPr>
          <p:cNvPr id="14" name="Health card"/>
          <p:cNvSpPr/>
          <p:nvPr/>
        </p:nvSpPr>
        <p:spPr>
          <a:xfrm>
            <a:off x="8046720" y="1463040"/>
            <a:ext cx="3566160" cy="3566160"/>
          </a:xfrm>
          <a:prstGeom prst="roundRect">
            <a:avLst>
              <a:gd name="adj" fmla="val 2051"/>
            </a:avLst>
          </a:prstGeom>
          <a:solidFill>
            <a:schemeClr val="bg2"/>
          </a:solidFill>
          <a:ln w="12700">
            <a:solidFill>
              <a:schemeClr val="bg2"/>
            </a:solidFill>
            <a:prstDash val="solid"/>
          </a:ln>
        </p:spPr>
      </p:sp>
      <p:sp>
        <p:nvSpPr>
          <p:cNvPr id="15" name="Health icon circle"/>
          <p:cNvSpPr/>
          <p:nvPr/>
        </p:nvSpPr>
        <p:spPr>
          <a:xfrm>
            <a:off x="8321040" y="1737360"/>
            <a:ext cx="640080" cy="640080"/>
          </a:xfrm>
          <a:prstGeom prst="ellipse">
            <a:avLst/>
          </a:prstGeom>
          <a:solidFill>
            <a:schemeClr val="accent1"/>
          </a:solidFill>
          <a:ln w="12700">
            <a:solidFill>
              <a:schemeClr val="accent1"/>
            </a:solidFill>
            <a:prstDash val="solid"/>
          </a:ln>
        </p:spPr>
      </p:sp>
      <p:pic>
        <p:nvPicPr>
          <p:cNvPr id="16" name="Health icon" descr="Health icon">    </p:cNvPr>
          <p:cNvPicPr>
            <a:picLocks noChangeAspect="1"/>
          </p:cNvPicPr>
          <p:nvPr/>
        </p:nvPicPr>
        <p:blipFill>
          <a:blip r:embed="rId3"/>
          <a:stretch>
            <a:fillRect/>
          </a:stretch>
        </p:blipFill>
        <p:spPr>
          <a:xfrm>
            <a:off x="8481060" y="1897380"/>
            <a:ext cx="320040" cy="320040"/>
          </a:xfrm>
          <a:prstGeom prst="rect">
            <a:avLst/>
          </a:prstGeom>
        </p:spPr>
      </p:pic>
      <p:sp>
        <p:nvSpPr>
          <p:cNvPr id="17" name="Text 11"/>
          <p:cNvSpPr txBox="1"/>
          <p:nvPr/>
        </p:nvSpPr>
        <p:spPr>
          <a:xfrm>
            <a:off x="9144000" y="1691640"/>
            <a:ext cx="2286000" cy="777240"/>
          </a:xfrm>
          <a:prstGeom prst="rect">
            <a:avLst/>
          </a:prstGeom>
          <a:noFill/>
          <a:ln/>
        </p:spPr>
        <p:txBody>
          <a:bodyPr wrap="square" lIns="0" tIns="0" rIns="0" bIns="0" rtlCol="0" anchor="ctr"/>
          <a:lstStyle/>
          <a:p>
            <a:pPr indent="0" marL="0">
              <a:buNone/>
            </a:pPr>
            <a:r>
              <a:rPr lang="en-US" sz="2200" b="1" dirty="0">
                <a:solidFill>
                  <a:schemeClr val="tx1"/>
                </a:solidFill>
              </a:rPr>
              <a:t>Health</a:t>
            </a:r>
            <a:endParaRPr lang="en-US" sz="2200" dirty="0"/>
          </a:p>
          <a:p>
            <a:pPr indent="0" marL="0">
              <a:buNone/>
            </a:pPr>
            <a:r>
              <a:rPr lang="en-US" sz="1300" b="1" dirty="0">
                <a:solidFill>
                  <a:schemeClr val="accent1"/>
                </a:solidFill>
              </a:rPr>
              <a:t>Sustainability</a:t>
            </a:r>
            <a:endParaRPr lang="en-US" sz="2200" dirty="0"/>
          </a:p>
        </p:txBody>
      </p:sp>
      <p:sp>
        <p:nvSpPr>
          <p:cNvPr id="18" name="Text 12"/>
          <p:cNvSpPr txBox="1"/>
          <p:nvPr/>
        </p:nvSpPr>
        <p:spPr>
          <a:xfrm>
            <a:off x="8321040" y="2697480"/>
            <a:ext cx="306324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New-hire NPS at 30 and 90 days</a:t>
            </a:r>
            <a:endParaRPr lang="en-US" sz="1600" dirty="0"/>
          </a:p>
          <a:p>
            <a:pPr marL="342900" indent="-342900">
              <a:spcAft>
                <a:spcPts val="800"/>
              </a:spcAft>
              <a:buSzPct val="100000"/>
              <a:buChar char="•"/>
            </a:pPr>
            <a:r>
              <a:rPr lang="en-US" sz="1600" dirty="0">
                <a:solidFill>
                  <a:schemeClr val="tx1"/>
                </a:solidFill>
              </a:rPr>
              <a:t>12-month retention</a:t>
            </a:r>
            <a:endParaRPr lang="en-US" sz="1600" dirty="0"/>
          </a:p>
          <a:p>
            <a:pPr marL="342900" indent="-342900">
              <a:spcAft>
                <a:spcPts val="800"/>
              </a:spcAft>
              <a:buSzPct val="100000"/>
              <a:buChar char="•"/>
            </a:pPr>
            <a:r>
              <a:rPr lang="en-US" sz="1600" dirty="0">
                <a:solidFill>
                  <a:schemeClr val="tx1"/>
                </a:solidFill>
              </a:rPr>
              <a:t>Manager confidence</a:t>
            </a:r>
            <a:endParaRPr lang="en-US" sz="1600" dirty="0"/>
          </a:p>
        </p:txBody>
      </p:sp>
      <p:sp>
        <p:nvSpPr>
          <p:cNvPr id="19" name="baseline callout"/>
          <p:cNvSpPr/>
          <p:nvPr/>
        </p:nvSpPr>
        <p:spPr>
          <a:xfrm>
            <a:off x="548640" y="5257800"/>
            <a:ext cx="11064240" cy="777240"/>
          </a:xfrm>
          <a:prstGeom prst="roundRect">
            <a:avLst>
              <a:gd name="adj" fmla="val 9412"/>
            </a:avLst>
          </a:prstGeom>
          <a:solidFill>
            <a:schemeClr val="tx2"/>
          </a:solidFill>
          <a:ln w="12700">
            <a:solidFill>
              <a:schemeClr val="tx2"/>
            </a:solidFill>
            <a:prstDash val="solid"/>
          </a:ln>
        </p:spPr>
      </p:sp>
      <p:sp>
        <p:nvSpPr>
          <p:cNvPr id="20" name="Text 14"/>
          <p:cNvSpPr txBox="1"/>
          <p:nvPr/>
        </p:nvSpPr>
        <p:spPr>
          <a:xfrm>
            <a:off x="822960" y="5257800"/>
            <a:ext cx="10515600" cy="777240"/>
          </a:xfrm>
          <a:prstGeom prst="rect">
            <a:avLst/>
          </a:prstGeom>
          <a:noFill/>
          <a:ln/>
        </p:spPr>
        <p:txBody>
          <a:bodyPr wrap="square" lIns="0" tIns="0" rIns="0" bIns="0" rtlCol="0" anchor="ctr"/>
          <a:lstStyle/>
          <a:p>
            <a:pPr indent="0" marL="0">
              <a:buNone/>
            </a:pPr>
            <a:r>
              <a:rPr lang="en-US" sz="1700" b="1" dirty="0">
                <a:solidFill>
                  <a:schemeClr val="accent2"/>
                </a:solidFill>
              </a:rPr>
              <a:t>Baseline first: </a:t>
            </a:r>
            <a:pPr indent="0" marL="0">
              <a:buNone/>
            </a:pPr>
            <a:r>
              <a:rPr lang="en-US" sz="1700" dirty="0">
                <a:solidFill>
                  <a:schemeClr val="bg1"/>
                </a:solidFill>
              </a:rPr>
              <a:t>current ramp time by role from the last 4–6 cohorts, so every new cohort shows its gain.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we need from NORAM leadership</a:t>
            </a:r>
            <a:endParaRPr lang="en-US" sz="3200" dirty="0"/>
          </a:p>
        </p:txBody>
      </p:sp>
      <p:sp>
        <p:nvSpPr>
          <p:cNvPr id="4" name="Manager ownership card"/>
          <p:cNvSpPr/>
          <p:nvPr/>
        </p:nvSpPr>
        <p:spPr>
          <a:xfrm>
            <a:off x="548640" y="1463040"/>
            <a:ext cx="2103120" cy="4480560"/>
          </a:xfrm>
          <a:prstGeom prst="roundRect">
            <a:avLst>
              <a:gd name="adj" fmla="val 3478"/>
            </a:avLst>
          </a:prstGeom>
          <a:solidFill>
            <a:schemeClr val="tx2"/>
          </a:solidFill>
          <a:ln w="12700">
            <a:solidFill>
              <a:schemeClr val="tx2"/>
            </a:solidFill>
            <a:prstDash val="solid"/>
          </a:ln>
        </p:spPr>
      </p:sp>
      <p:sp>
        <p:nvSpPr>
          <p:cNvPr id="5" name="number 1"/>
          <p:cNvSpPr txBox="1"/>
          <p:nvPr/>
        </p:nvSpPr>
        <p:spPr>
          <a:xfrm>
            <a:off x="822960" y="178308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6" name="Manager ownership icon circle"/>
          <p:cNvSpPr/>
          <p:nvPr/>
        </p:nvSpPr>
        <p:spPr>
          <a:xfrm>
            <a:off x="1554480" y="1783080"/>
            <a:ext cx="548640" cy="548640"/>
          </a:xfrm>
          <a:prstGeom prst="ellipse">
            <a:avLst/>
          </a:prstGeom>
          <a:solidFill>
            <a:schemeClr val="accent4"/>
          </a:solidFill>
          <a:ln w="12700">
            <a:solidFill>
              <a:schemeClr val="accent4"/>
            </a:solidFill>
            <a:prstDash val="solid"/>
          </a:ln>
        </p:spPr>
      </p:sp>
      <p:pic>
        <p:nvPicPr>
          <p:cNvPr id="7" name="Manager ownership icon" descr="Manager ownership icon">    </p:cNvPr>
          <p:cNvPicPr>
            <a:picLocks noChangeAspect="1"/>
          </p:cNvPicPr>
          <p:nvPr/>
        </p:nvPicPr>
        <p:blipFill>
          <a:blip r:embed="rId1"/>
          <a:stretch>
            <a:fillRect/>
          </a:stretch>
        </p:blipFill>
        <p:spPr>
          <a:xfrm>
            <a:off x="1691640" y="1920240"/>
            <a:ext cx="274320" cy="274320"/>
          </a:xfrm>
          <a:prstGeom prst="rect">
            <a:avLst/>
          </a:prstGeom>
        </p:spPr>
      </p:pic>
      <p:sp>
        <p:nvSpPr>
          <p:cNvPr id="8" name="Text 4"/>
          <p:cNvSpPr txBox="1"/>
          <p:nvPr/>
        </p:nvSpPr>
        <p:spPr>
          <a:xfrm>
            <a:off x="822960" y="2606040"/>
            <a:ext cx="1645920" cy="822960"/>
          </a:xfrm>
          <a:prstGeom prst="rect">
            <a:avLst/>
          </a:prstGeom>
          <a:noFill/>
          <a:ln/>
        </p:spPr>
        <p:txBody>
          <a:bodyPr wrap="square" lIns="0" tIns="0" rIns="0" bIns="0" rtlCol="0" anchor="t"/>
          <a:lstStyle/>
          <a:p>
            <a:pPr indent="0" marL="0">
              <a:buNone/>
            </a:pPr>
            <a:r>
              <a:rPr lang="en-US" sz="1900" b="1" dirty="0">
                <a:solidFill>
                  <a:schemeClr val="bg1"/>
                </a:solidFill>
              </a:rPr>
              <a:t>Manager ownership</a:t>
            </a:r>
            <a:endParaRPr lang="en-US" sz="1900" dirty="0"/>
          </a:p>
        </p:txBody>
      </p:sp>
      <p:sp>
        <p:nvSpPr>
          <p:cNvPr id="9" name="Text 5"/>
          <p:cNvSpPr txBox="1"/>
          <p:nvPr/>
        </p:nvSpPr>
        <p:spPr>
          <a:xfrm>
            <a:off x="822960" y="3474720"/>
            <a:ext cx="1645920" cy="2286000"/>
          </a:xfrm>
          <a:prstGeom prst="rect">
            <a:avLst/>
          </a:prstGeom>
          <a:noFill/>
          <a:ln/>
        </p:spPr>
        <p:txBody>
          <a:bodyPr wrap="square" lIns="0" tIns="0" rIns="0" bIns="0" rtlCol="0" anchor="t"/>
          <a:lstStyle/>
          <a:p>
            <a:pPr indent="0" marL="0">
              <a:buNone/>
            </a:pPr>
            <a:r>
              <a:rPr lang="en-US" sz="1500" dirty="0">
                <a:solidFill>
                  <a:schemeClr val="accent6"/>
                </a:solidFill>
              </a:rPr>
              <a:t>Managers own each new hire's 30/60/90 plan and hold a weekly ramp 1:1</a:t>
            </a:r>
            <a:endParaRPr lang="en-US" sz="1500" dirty="0"/>
          </a:p>
        </p:txBody>
      </p:sp>
      <p:sp>
        <p:nvSpPr>
          <p:cNvPr id="10" name="Agreed gates card"/>
          <p:cNvSpPr/>
          <p:nvPr/>
        </p:nvSpPr>
        <p:spPr>
          <a:xfrm>
            <a:off x="2798064" y="1463040"/>
            <a:ext cx="2103120" cy="4480560"/>
          </a:xfrm>
          <a:prstGeom prst="roundRect">
            <a:avLst>
              <a:gd name="adj" fmla="val 3478"/>
            </a:avLst>
          </a:prstGeom>
          <a:solidFill>
            <a:schemeClr val="bg2"/>
          </a:solidFill>
          <a:ln w="12700">
            <a:solidFill>
              <a:schemeClr val="bg2"/>
            </a:solidFill>
            <a:prstDash val="solid"/>
          </a:ln>
        </p:spPr>
      </p:sp>
      <p:sp>
        <p:nvSpPr>
          <p:cNvPr id="11" name="number 2"/>
          <p:cNvSpPr txBox="1"/>
          <p:nvPr/>
        </p:nvSpPr>
        <p:spPr>
          <a:xfrm>
            <a:off x="3072384" y="1783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Agreed gates icon circle"/>
          <p:cNvSpPr/>
          <p:nvPr/>
        </p:nvSpPr>
        <p:spPr>
          <a:xfrm>
            <a:off x="3803904" y="1783080"/>
            <a:ext cx="548640" cy="548640"/>
          </a:xfrm>
          <a:prstGeom prst="ellipse">
            <a:avLst/>
          </a:prstGeom>
          <a:solidFill>
            <a:schemeClr val="bg1"/>
          </a:solidFill>
          <a:ln w="12700">
            <a:solidFill>
              <a:schemeClr val="bg1"/>
            </a:solidFill>
            <a:prstDash val="solid"/>
          </a:ln>
        </p:spPr>
      </p:sp>
      <p:pic>
        <p:nvPicPr>
          <p:cNvPr id="13" name="Agreed gates icon" descr="Agreed gates icon">    </p:cNvPr>
          <p:cNvPicPr>
            <a:picLocks noChangeAspect="1"/>
          </p:cNvPicPr>
          <p:nvPr/>
        </p:nvPicPr>
        <p:blipFill>
          <a:blip r:embed="rId2"/>
          <a:stretch>
            <a:fillRect/>
          </a:stretch>
        </p:blipFill>
        <p:spPr>
          <a:xfrm>
            <a:off x="3941064" y="1920240"/>
            <a:ext cx="274320" cy="274320"/>
          </a:xfrm>
          <a:prstGeom prst="rect">
            <a:avLst/>
          </a:prstGeom>
        </p:spPr>
      </p:pic>
      <p:sp>
        <p:nvSpPr>
          <p:cNvPr id="14" name="Text 9"/>
          <p:cNvSpPr txBox="1"/>
          <p:nvPr/>
        </p:nvSpPr>
        <p:spPr>
          <a:xfrm>
            <a:off x="3072384" y="2606040"/>
            <a:ext cx="1645920" cy="822960"/>
          </a:xfrm>
          <a:prstGeom prst="rect">
            <a:avLst/>
          </a:prstGeom>
          <a:noFill/>
          <a:ln/>
        </p:spPr>
        <p:txBody>
          <a:bodyPr wrap="square" lIns="0" tIns="0" rIns="0" bIns="0" rtlCol="0" anchor="t"/>
          <a:lstStyle/>
          <a:p>
            <a:pPr indent="0" marL="0">
              <a:buNone/>
            </a:pPr>
            <a:r>
              <a:rPr lang="en-US" sz="1900" b="1" dirty="0">
                <a:solidFill>
                  <a:schemeClr val="tx1"/>
                </a:solidFill>
              </a:rPr>
              <a:t>Agreed gates</a:t>
            </a:r>
            <a:endParaRPr lang="en-US" sz="1900" dirty="0"/>
          </a:p>
        </p:txBody>
      </p:sp>
      <p:sp>
        <p:nvSpPr>
          <p:cNvPr id="15" name="Text 10"/>
          <p:cNvSpPr txBox="1"/>
          <p:nvPr/>
        </p:nvSpPr>
        <p:spPr>
          <a:xfrm>
            <a:off x="3072384" y="3474720"/>
            <a:ext cx="1645920" cy="2286000"/>
          </a:xfrm>
          <a:prstGeom prst="rect">
            <a:avLst/>
          </a:prstGeom>
          <a:noFill/>
          <a:ln/>
        </p:spPr>
        <p:txBody>
          <a:bodyPr wrap="square" lIns="0" tIns="0" rIns="0" bIns="0" rtlCol="0" anchor="t"/>
          <a:lstStyle/>
          <a:p>
            <a:pPr indent="0" marL="0">
              <a:buNone/>
            </a:pPr>
            <a:r>
              <a:rPr lang="en-US" sz="1500" dirty="0">
                <a:solidFill>
                  <a:schemeClr val="accent3"/>
                </a:solidFill>
              </a:rPr>
              <a:t>Each leader signs off the gates and targets for their roles</a:t>
            </a:r>
            <a:endParaRPr lang="en-US" sz="1500" dirty="0"/>
          </a:p>
        </p:txBody>
      </p:sp>
      <p:sp>
        <p:nvSpPr>
          <p:cNvPr id="16" name="Data access card"/>
          <p:cNvSpPr/>
          <p:nvPr/>
        </p:nvSpPr>
        <p:spPr>
          <a:xfrm>
            <a:off x="5047488" y="1463040"/>
            <a:ext cx="2103120" cy="4480560"/>
          </a:xfrm>
          <a:prstGeom prst="roundRect">
            <a:avLst>
              <a:gd name="adj" fmla="val 3478"/>
            </a:avLst>
          </a:prstGeom>
          <a:solidFill>
            <a:schemeClr val="bg2"/>
          </a:solidFill>
          <a:ln w="12700">
            <a:solidFill>
              <a:schemeClr val="bg2"/>
            </a:solidFill>
            <a:prstDash val="solid"/>
          </a:ln>
        </p:spPr>
      </p:sp>
      <p:sp>
        <p:nvSpPr>
          <p:cNvPr id="17" name="number 3"/>
          <p:cNvSpPr txBox="1"/>
          <p:nvPr/>
        </p:nvSpPr>
        <p:spPr>
          <a:xfrm>
            <a:off x="5321808" y="1783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Data access icon circle"/>
          <p:cNvSpPr/>
          <p:nvPr/>
        </p:nvSpPr>
        <p:spPr>
          <a:xfrm>
            <a:off x="6053328" y="1783080"/>
            <a:ext cx="548640" cy="548640"/>
          </a:xfrm>
          <a:prstGeom prst="ellipse">
            <a:avLst/>
          </a:prstGeom>
          <a:solidFill>
            <a:schemeClr val="bg1"/>
          </a:solidFill>
          <a:ln w="12700">
            <a:solidFill>
              <a:schemeClr val="bg1"/>
            </a:solidFill>
            <a:prstDash val="solid"/>
          </a:ln>
        </p:spPr>
      </p:sp>
      <p:pic>
        <p:nvPicPr>
          <p:cNvPr id="19" name="Data access icon" descr="Data access icon">    </p:cNvPr>
          <p:cNvPicPr>
            <a:picLocks noChangeAspect="1"/>
          </p:cNvPicPr>
          <p:nvPr/>
        </p:nvPicPr>
        <p:blipFill>
          <a:blip r:embed="rId3"/>
          <a:stretch>
            <a:fillRect/>
          </a:stretch>
        </p:blipFill>
        <p:spPr>
          <a:xfrm>
            <a:off x="6190488" y="1920240"/>
            <a:ext cx="274320" cy="274320"/>
          </a:xfrm>
          <a:prstGeom prst="rect">
            <a:avLst/>
          </a:prstGeom>
        </p:spPr>
      </p:pic>
      <p:sp>
        <p:nvSpPr>
          <p:cNvPr id="20" name="Text 14"/>
          <p:cNvSpPr txBox="1"/>
          <p:nvPr/>
        </p:nvSpPr>
        <p:spPr>
          <a:xfrm>
            <a:off x="5321808" y="2606040"/>
            <a:ext cx="1645920" cy="822960"/>
          </a:xfrm>
          <a:prstGeom prst="rect">
            <a:avLst/>
          </a:prstGeom>
          <a:noFill/>
          <a:ln/>
        </p:spPr>
        <p:txBody>
          <a:bodyPr wrap="square" lIns="0" tIns="0" rIns="0" bIns="0" rtlCol="0" anchor="t"/>
          <a:lstStyle/>
          <a:p>
            <a:pPr indent="0" marL="0">
              <a:buNone/>
            </a:pPr>
            <a:r>
              <a:rPr lang="en-US" sz="1900" b="1" dirty="0">
                <a:solidFill>
                  <a:schemeClr val="tx1"/>
                </a:solidFill>
              </a:rPr>
              <a:t>Data access</a:t>
            </a:r>
            <a:endParaRPr lang="en-US" sz="1900" dirty="0"/>
          </a:p>
        </p:txBody>
      </p:sp>
      <p:sp>
        <p:nvSpPr>
          <p:cNvPr id="21" name="Text 15"/>
          <p:cNvSpPr txBox="1"/>
          <p:nvPr/>
        </p:nvSpPr>
        <p:spPr>
          <a:xfrm>
            <a:off x="5321808" y="3474720"/>
            <a:ext cx="1645920" cy="2286000"/>
          </a:xfrm>
          <a:prstGeom prst="rect">
            <a:avLst/>
          </a:prstGeom>
          <a:noFill/>
          <a:ln/>
        </p:spPr>
        <p:txBody>
          <a:bodyPr wrap="square" lIns="0" tIns="0" rIns="0" bIns="0" rtlCol="0" anchor="t"/>
          <a:lstStyle/>
          <a:p>
            <a:pPr indent="0" marL="0">
              <a:buNone/>
            </a:pPr>
            <a:r>
              <a:rPr lang="en-US" sz="1500" dirty="0">
                <a:solidFill>
                  <a:schemeClr val="accent3"/>
                </a:solidFill>
              </a:rPr>
              <a:t>Salesforce and Gong data for the baseline and the impact dashboard</a:t>
            </a:r>
            <a:endParaRPr lang="en-US" sz="1500" dirty="0"/>
          </a:p>
        </p:txBody>
      </p:sp>
      <p:sp>
        <p:nvSpPr>
          <p:cNvPr id="22" name="Expert time card"/>
          <p:cNvSpPr/>
          <p:nvPr/>
        </p:nvSpPr>
        <p:spPr>
          <a:xfrm>
            <a:off x="7296912" y="1463040"/>
            <a:ext cx="2103120" cy="4480560"/>
          </a:xfrm>
          <a:prstGeom prst="roundRect">
            <a:avLst>
              <a:gd name="adj" fmla="val 3478"/>
            </a:avLst>
          </a:prstGeom>
          <a:solidFill>
            <a:schemeClr val="bg2"/>
          </a:solidFill>
          <a:ln w="12700">
            <a:solidFill>
              <a:schemeClr val="bg2"/>
            </a:solidFill>
            <a:prstDash val="solid"/>
          </a:ln>
        </p:spPr>
      </p:sp>
      <p:sp>
        <p:nvSpPr>
          <p:cNvPr id="23" name="number 4"/>
          <p:cNvSpPr txBox="1"/>
          <p:nvPr/>
        </p:nvSpPr>
        <p:spPr>
          <a:xfrm>
            <a:off x="7571232" y="1783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Expert time icon circle"/>
          <p:cNvSpPr/>
          <p:nvPr/>
        </p:nvSpPr>
        <p:spPr>
          <a:xfrm>
            <a:off x="8302752" y="1783080"/>
            <a:ext cx="548640" cy="548640"/>
          </a:xfrm>
          <a:prstGeom prst="ellipse">
            <a:avLst/>
          </a:prstGeom>
          <a:solidFill>
            <a:schemeClr val="bg1"/>
          </a:solidFill>
          <a:ln w="12700">
            <a:solidFill>
              <a:schemeClr val="bg1"/>
            </a:solidFill>
            <a:prstDash val="solid"/>
          </a:ln>
        </p:spPr>
      </p:sp>
      <p:pic>
        <p:nvPicPr>
          <p:cNvPr id="25" name="Expert time icon" descr="Expert time icon">    </p:cNvPr>
          <p:cNvPicPr>
            <a:picLocks noChangeAspect="1"/>
          </p:cNvPicPr>
          <p:nvPr/>
        </p:nvPicPr>
        <p:blipFill>
          <a:blip r:embed="rId4"/>
          <a:stretch>
            <a:fillRect/>
          </a:stretch>
        </p:blipFill>
        <p:spPr>
          <a:xfrm>
            <a:off x="8439912" y="1920240"/>
            <a:ext cx="274320" cy="274320"/>
          </a:xfrm>
          <a:prstGeom prst="rect">
            <a:avLst/>
          </a:prstGeom>
        </p:spPr>
      </p:pic>
      <p:sp>
        <p:nvSpPr>
          <p:cNvPr id="26" name="Text 19"/>
          <p:cNvSpPr txBox="1"/>
          <p:nvPr/>
        </p:nvSpPr>
        <p:spPr>
          <a:xfrm>
            <a:off x="7571232" y="2606040"/>
            <a:ext cx="1645920" cy="822960"/>
          </a:xfrm>
          <a:prstGeom prst="rect">
            <a:avLst/>
          </a:prstGeom>
          <a:noFill/>
          <a:ln/>
        </p:spPr>
        <p:txBody>
          <a:bodyPr wrap="square" lIns="0" tIns="0" rIns="0" bIns="0" rtlCol="0" anchor="t"/>
          <a:lstStyle/>
          <a:p>
            <a:pPr indent="0" marL="0">
              <a:buNone/>
            </a:pPr>
            <a:r>
              <a:rPr lang="en-US" sz="1900" b="1" dirty="0">
                <a:solidFill>
                  <a:schemeClr val="tx1"/>
                </a:solidFill>
              </a:rPr>
              <a:t>Expert time</a:t>
            </a:r>
            <a:endParaRPr lang="en-US" sz="1900" dirty="0"/>
          </a:p>
        </p:txBody>
      </p:sp>
      <p:sp>
        <p:nvSpPr>
          <p:cNvPr id="27" name="Text 20"/>
          <p:cNvSpPr txBox="1"/>
          <p:nvPr/>
        </p:nvSpPr>
        <p:spPr>
          <a:xfrm>
            <a:off x="7571232" y="3474720"/>
            <a:ext cx="1645920" cy="2286000"/>
          </a:xfrm>
          <a:prstGeom prst="rect">
            <a:avLst/>
          </a:prstGeom>
          <a:noFill/>
          <a:ln/>
        </p:spPr>
        <p:txBody>
          <a:bodyPr wrap="square" lIns="0" tIns="0" rIns="0" bIns="0" rtlCol="0" anchor="t"/>
          <a:lstStyle/>
          <a:p>
            <a:pPr indent="0" marL="0">
              <a:buNone/>
            </a:pPr>
            <a:r>
              <a:rPr lang="en-US" sz="1500" dirty="0">
                <a:solidFill>
                  <a:schemeClr val="accent3"/>
                </a:solidFill>
              </a:rPr>
              <a:t>SE, Product and Deal Management join sessions and early deals</a:t>
            </a:r>
            <a:endParaRPr lang="en-US" sz="1500" dirty="0"/>
          </a:p>
        </p:txBody>
      </p:sp>
      <p:sp>
        <p:nvSpPr>
          <p:cNvPr id="28" name="A pilot cohort card"/>
          <p:cNvSpPr/>
          <p:nvPr/>
        </p:nvSpPr>
        <p:spPr>
          <a:xfrm>
            <a:off x="9546336" y="1463040"/>
            <a:ext cx="2103120" cy="4480560"/>
          </a:xfrm>
          <a:prstGeom prst="roundRect">
            <a:avLst>
              <a:gd name="adj" fmla="val 3478"/>
            </a:avLst>
          </a:prstGeom>
          <a:solidFill>
            <a:schemeClr val="bg2"/>
          </a:solidFill>
          <a:ln w="12700">
            <a:solidFill>
              <a:schemeClr val="bg2"/>
            </a:solidFill>
            <a:prstDash val="solid"/>
          </a:ln>
        </p:spPr>
      </p:sp>
      <p:sp>
        <p:nvSpPr>
          <p:cNvPr id="29" name="number 5"/>
          <p:cNvSpPr txBox="1"/>
          <p:nvPr/>
        </p:nvSpPr>
        <p:spPr>
          <a:xfrm>
            <a:off x="9820656" y="178308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A pilot cohort icon circle"/>
          <p:cNvSpPr/>
          <p:nvPr/>
        </p:nvSpPr>
        <p:spPr>
          <a:xfrm>
            <a:off x="10552176" y="1783080"/>
            <a:ext cx="548640" cy="548640"/>
          </a:xfrm>
          <a:prstGeom prst="ellipse">
            <a:avLst/>
          </a:prstGeom>
          <a:solidFill>
            <a:schemeClr val="bg1"/>
          </a:solidFill>
          <a:ln w="12700">
            <a:solidFill>
              <a:schemeClr val="bg1"/>
            </a:solidFill>
            <a:prstDash val="solid"/>
          </a:ln>
        </p:spPr>
      </p:sp>
      <p:pic>
        <p:nvPicPr>
          <p:cNvPr id="31" name="A pilot cohort icon" descr="A pilot cohort icon">    </p:cNvPr>
          <p:cNvPicPr>
            <a:picLocks noChangeAspect="1"/>
          </p:cNvPicPr>
          <p:nvPr/>
        </p:nvPicPr>
        <p:blipFill>
          <a:blip r:embed="rId5"/>
          <a:stretch>
            <a:fillRect/>
          </a:stretch>
        </p:blipFill>
        <p:spPr>
          <a:xfrm>
            <a:off x="10689336" y="1920240"/>
            <a:ext cx="274320" cy="274320"/>
          </a:xfrm>
          <a:prstGeom prst="rect">
            <a:avLst/>
          </a:prstGeom>
        </p:spPr>
      </p:pic>
      <p:sp>
        <p:nvSpPr>
          <p:cNvPr id="32" name="Text 24"/>
          <p:cNvSpPr txBox="1"/>
          <p:nvPr/>
        </p:nvSpPr>
        <p:spPr>
          <a:xfrm>
            <a:off x="9820656" y="2606040"/>
            <a:ext cx="1645920" cy="822960"/>
          </a:xfrm>
          <a:prstGeom prst="rect">
            <a:avLst/>
          </a:prstGeom>
          <a:noFill/>
          <a:ln/>
        </p:spPr>
        <p:txBody>
          <a:bodyPr wrap="square" lIns="0" tIns="0" rIns="0" bIns="0" rtlCol="0" anchor="t"/>
          <a:lstStyle/>
          <a:p>
            <a:pPr indent="0" marL="0">
              <a:buNone/>
            </a:pPr>
            <a:r>
              <a:rPr lang="en-US" sz="1900" b="1" dirty="0">
                <a:solidFill>
                  <a:schemeClr val="tx1"/>
                </a:solidFill>
              </a:rPr>
              <a:t>A pilot cohort</a:t>
            </a:r>
            <a:endParaRPr lang="en-US" sz="1900" dirty="0"/>
          </a:p>
        </p:txBody>
      </p:sp>
      <p:sp>
        <p:nvSpPr>
          <p:cNvPr id="33" name="Text 25"/>
          <p:cNvSpPr txBox="1"/>
          <p:nvPr/>
        </p:nvSpPr>
        <p:spPr>
          <a:xfrm>
            <a:off x="9820656" y="3474720"/>
            <a:ext cx="1645920" cy="2286000"/>
          </a:xfrm>
          <a:prstGeom prst="rect">
            <a:avLst/>
          </a:prstGeom>
          <a:noFill/>
          <a:ln/>
        </p:spPr>
        <p:txBody>
          <a:bodyPr wrap="square" lIns="0" tIns="0" rIns="0" bIns="0" rtlCol="0" anchor="t"/>
          <a:lstStyle/>
          <a:p>
            <a:pPr indent="0" marL="0">
              <a:buNone/>
            </a:pPr>
            <a:r>
              <a:rPr lang="en-US" sz="1500" dirty="0">
                <a:solidFill>
                  <a:schemeClr val="accent3"/>
                </a:solidFill>
              </a:rPr>
              <a:t>Run the model with the next cohort of new hires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90 days from approval to first cohort results</a:t>
            </a:r>
            <a:endParaRPr lang="en-US" sz="3200" dirty="0"/>
          </a:p>
        </p:txBody>
      </p:sp>
      <p:sp>
        <p:nvSpPr>
          <p:cNvPr id="4" name="timeline line"/>
          <p:cNvSpPr/>
          <p:nvPr/>
        </p:nvSpPr>
        <p:spPr>
          <a:xfrm>
            <a:off x="914400" y="1965960"/>
            <a:ext cx="10332720" cy="0"/>
          </a:xfrm>
          <a:prstGeom prst="line">
            <a:avLst/>
          </a:prstGeom>
          <a:noFill/>
          <a:ln w="25400">
            <a:solidFill>
              <a:schemeClr val="accent3"/>
            </a:solidFill>
            <a:prstDash val="solid"/>
          </a:ln>
        </p:spPr>
      </p:sp>
      <p:sp>
        <p:nvSpPr>
          <p:cNvPr id="5" name="milestone 1"/>
          <p:cNvSpPr/>
          <p:nvPr/>
        </p:nvSpPr>
        <p:spPr>
          <a:xfrm>
            <a:off x="731520" y="1783080"/>
            <a:ext cx="365760" cy="365760"/>
          </a:xfrm>
          <a:prstGeom prst="ellipse">
            <a:avLst/>
          </a:prstGeom>
          <a:solidFill>
            <a:schemeClr val="accent1"/>
          </a:solidFill>
          <a:ln w="25400">
            <a:solidFill>
              <a:schemeClr val="bg1"/>
            </a:solidFill>
            <a:prstDash val="solid"/>
          </a:ln>
        </p:spPr>
      </p:sp>
      <p:sp>
        <p:nvSpPr>
          <p:cNvPr id="6" name="Text 3"/>
          <p:cNvSpPr txBox="1"/>
          <p:nvPr/>
        </p:nvSpPr>
        <p:spPr>
          <a:xfrm>
            <a:off x="731520" y="1280160"/>
            <a:ext cx="2377440" cy="411480"/>
          </a:xfrm>
          <a:prstGeom prst="rect">
            <a:avLst/>
          </a:prstGeom>
          <a:noFill/>
          <a:ln/>
        </p:spPr>
        <p:txBody>
          <a:bodyPr wrap="square" lIns="0" tIns="0" rIns="0" bIns="0" rtlCol="0" anchor="ctr"/>
          <a:lstStyle/>
          <a:p>
            <a:pPr indent="0" marL="0">
              <a:buNone/>
            </a:pPr>
            <a:r>
              <a:rPr lang="en-US" sz="1500" b="1" dirty="0">
                <a:solidFill>
                  <a:schemeClr val="accent1"/>
                </a:solidFill>
              </a:rPr>
              <a:t>Month 1</a:t>
            </a:r>
            <a:endParaRPr lang="en-US" sz="1500" dirty="0"/>
          </a:p>
        </p:txBody>
      </p:sp>
      <p:sp>
        <p:nvSpPr>
          <p:cNvPr id="7" name="Baseline &amp; agree card"/>
          <p:cNvSpPr/>
          <p:nvPr/>
        </p:nvSpPr>
        <p:spPr>
          <a:xfrm>
            <a:off x="548640" y="2468880"/>
            <a:ext cx="2560320" cy="3474720"/>
          </a:xfrm>
          <a:prstGeom prst="roundRect">
            <a:avLst>
              <a:gd name="adj" fmla="val 2857"/>
            </a:avLst>
          </a:prstGeom>
          <a:solidFill>
            <a:schemeClr val="bg2"/>
          </a:solidFill>
          <a:ln w="12700">
            <a:solidFill>
              <a:schemeClr val="bg2"/>
            </a:solidFill>
            <a:prstDash val="solid"/>
          </a:ln>
        </p:spPr>
      </p:sp>
      <p:sp>
        <p:nvSpPr>
          <p:cNvPr id="8" name="Text 5"/>
          <p:cNvSpPr txBox="1"/>
          <p:nvPr/>
        </p:nvSpPr>
        <p:spPr>
          <a:xfrm>
            <a:off x="822960" y="2697480"/>
            <a:ext cx="2011680" cy="777240"/>
          </a:xfrm>
          <a:prstGeom prst="rect">
            <a:avLst/>
          </a:prstGeom>
          <a:noFill/>
          <a:ln/>
        </p:spPr>
        <p:txBody>
          <a:bodyPr wrap="square" lIns="0" tIns="0" rIns="0" bIns="0" rtlCol="0" anchor="t"/>
          <a:lstStyle/>
          <a:p>
            <a:pPr indent="0" marL="0">
              <a:buNone/>
            </a:pPr>
            <a:r>
              <a:rPr lang="en-US" sz="2000" b="1" dirty="0">
                <a:solidFill>
                  <a:schemeClr val="tx1"/>
                </a:solidFill>
              </a:rPr>
              <a:t>Baseline &amp; agree</a:t>
            </a:r>
            <a:endParaRPr lang="en-US" sz="2000" dirty="0"/>
          </a:p>
        </p:txBody>
      </p:sp>
      <p:sp>
        <p:nvSpPr>
          <p:cNvPr id="9" name="Text 6"/>
          <p:cNvSpPr txBox="1"/>
          <p:nvPr/>
        </p:nvSpPr>
        <p:spPr>
          <a:xfrm>
            <a:off x="822960" y="3566160"/>
            <a:ext cx="21031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Pull ramp baseline by role</a:t>
            </a:r>
            <a:endParaRPr lang="en-US" sz="1500" dirty="0"/>
          </a:p>
          <a:p>
            <a:pPr marL="342900" indent="-342900">
              <a:spcAft>
                <a:spcPts val="800"/>
              </a:spcAft>
              <a:buSzPct val="100000"/>
              <a:buChar char="•"/>
            </a:pPr>
            <a:r>
              <a:rPr lang="en-US" sz="1500" dirty="0">
                <a:solidFill>
                  <a:schemeClr val="tx1"/>
                </a:solidFill>
              </a:rPr>
              <a:t>Validate gates with each leader</a:t>
            </a:r>
            <a:endParaRPr lang="en-US" sz="1500" dirty="0"/>
          </a:p>
        </p:txBody>
      </p:sp>
      <p:sp>
        <p:nvSpPr>
          <p:cNvPr id="10" name="milestone 2"/>
          <p:cNvSpPr/>
          <p:nvPr/>
        </p:nvSpPr>
        <p:spPr>
          <a:xfrm>
            <a:off x="3566160" y="1783080"/>
            <a:ext cx="365760" cy="365760"/>
          </a:xfrm>
          <a:prstGeom prst="ellipse">
            <a:avLst/>
          </a:prstGeom>
          <a:solidFill>
            <a:schemeClr val="accent1"/>
          </a:solidFill>
          <a:ln w="25400">
            <a:solidFill>
              <a:schemeClr val="bg1"/>
            </a:solidFill>
            <a:prstDash val="solid"/>
          </a:ln>
        </p:spPr>
      </p:sp>
      <p:sp>
        <p:nvSpPr>
          <p:cNvPr id="11" name="Text 8"/>
          <p:cNvSpPr txBox="1"/>
          <p:nvPr/>
        </p:nvSpPr>
        <p:spPr>
          <a:xfrm>
            <a:off x="3566160" y="1280160"/>
            <a:ext cx="2377440" cy="411480"/>
          </a:xfrm>
          <a:prstGeom prst="rect">
            <a:avLst/>
          </a:prstGeom>
          <a:noFill/>
          <a:ln/>
        </p:spPr>
        <p:txBody>
          <a:bodyPr wrap="square" lIns="0" tIns="0" rIns="0" bIns="0" rtlCol="0" anchor="ctr"/>
          <a:lstStyle/>
          <a:p>
            <a:pPr indent="0" marL="0">
              <a:buNone/>
            </a:pPr>
            <a:r>
              <a:rPr lang="en-US" sz="1500" b="1" dirty="0">
                <a:solidFill>
                  <a:schemeClr val="accent1"/>
                </a:solidFill>
              </a:rPr>
              <a:t>Month 2</a:t>
            </a:r>
            <a:endParaRPr lang="en-US" sz="1500" dirty="0"/>
          </a:p>
        </p:txBody>
      </p:sp>
      <p:sp>
        <p:nvSpPr>
          <p:cNvPr id="12" name="Build card"/>
          <p:cNvSpPr/>
          <p:nvPr/>
        </p:nvSpPr>
        <p:spPr>
          <a:xfrm>
            <a:off x="3383280" y="2468880"/>
            <a:ext cx="2560320" cy="3474720"/>
          </a:xfrm>
          <a:prstGeom prst="roundRect">
            <a:avLst>
              <a:gd name="adj" fmla="val 2857"/>
            </a:avLst>
          </a:prstGeom>
          <a:solidFill>
            <a:schemeClr val="bg2"/>
          </a:solidFill>
          <a:ln w="12700">
            <a:solidFill>
              <a:schemeClr val="bg2"/>
            </a:solidFill>
            <a:prstDash val="solid"/>
          </a:ln>
        </p:spPr>
      </p:sp>
      <p:sp>
        <p:nvSpPr>
          <p:cNvPr id="13" name="Text 10"/>
          <p:cNvSpPr txBox="1"/>
          <p:nvPr/>
        </p:nvSpPr>
        <p:spPr>
          <a:xfrm>
            <a:off x="3657600" y="2697480"/>
            <a:ext cx="2011680" cy="777240"/>
          </a:xfrm>
          <a:prstGeom prst="rect">
            <a:avLst/>
          </a:prstGeom>
          <a:noFill/>
          <a:ln/>
        </p:spPr>
        <p:txBody>
          <a:bodyPr wrap="square" lIns="0" tIns="0" rIns="0" bIns="0" rtlCol="0" anchor="t"/>
          <a:lstStyle/>
          <a:p>
            <a:pPr indent="0" marL="0">
              <a:buNone/>
            </a:pPr>
            <a:r>
              <a:rPr lang="en-US" sz="2000" b="1" dirty="0">
                <a:solidFill>
                  <a:schemeClr val="tx1"/>
                </a:solidFill>
              </a:rPr>
              <a:t>Build</a:t>
            </a:r>
            <a:endParaRPr lang="en-US" sz="2000" dirty="0"/>
          </a:p>
        </p:txBody>
      </p:sp>
      <p:sp>
        <p:nvSpPr>
          <p:cNvPr id="14" name="Text 11"/>
          <p:cNvSpPr txBox="1"/>
          <p:nvPr/>
        </p:nvSpPr>
        <p:spPr>
          <a:xfrm>
            <a:off x="3657600" y="3566160"/>
            <a:ext cx="21031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Manager ramp kits and scorecards</a:t>
            </a:r>
            <a:endParaRPr lang="en-US" sz="1500" dirty="0"/>
          </a:p>
          <a:p>
            <a:pPr marL="342900" indent="-342900">
              <a:spcAft>
                <a:spcPts val="800"/>
              </a:spcAft>
              <a:buSzPct val="100000"/>
              <a:buChar char="•"/>
            </a:pPr>
            <a:r>
              <a:rPr lang="en-US" sz="1500" dirty="0">
                <a:solidFill>
                  <a:schemeClr val="tx1"/>
                </a:solidFill>
              </a:rPr>
              <a:t>Certifications aligned to Global</a:t>
            </a:r>
            <a:endParaRPr lang="en-US" sz="1500" dirty="0"/>
          </a:p>
          <a:p>
            <a:pPr marL="342900" indent="-342900">
              <a:spcAft>
                <a:spcPts val="800"/>
              </a:spcAft>
              <a:buSzPct val="100000"/>
              <a:buChar char="•"/>
            </a:pPr>
            <a:r>
              <a:rPr lang="en-US" sz="1500" dirty="0">
                <a:solidFill>
                  <a:schemeClr val="tx1"/>
                </a:solidFill>
              </a:rPr>
              <a:t>Automated spaced reinforcement</a:t>
            </a:r>
            <a:endParaRPr lang="en-US" sz="1500" dirty="0"/>
          </a:p>
        </p:txBody>
      </p:sp>
      <p:sp>
        <p:nvSpPr>
          <p:cNvPr id="15" name="milestone 3"/>
          <p:cNvSpPr/>
          <p:nvPr/>
        </p:nvSpPr>
        <p:spPr>
          <a:xfrm>
            <a:off x="6400800" y="1783080"/>
            <a:ext cx="365760" cy="365760"/>
          </a:xfrm>
          <a:prstGeom prst="ellipse">
            <a:avLst/>
          </a:prstGeom>
          <a:solidFill>
            <a:schemeClr val="accent1"/>
          </a:solidFill>
          <a:ln w="25400">
            <a:solidFill>
              <a:schemeClr val="bg1"/>
            </a:solidFill>
            <a:prstDash val="solid"/>
          </a:ln>
        </p:spPr>
      </p:sp>
      <p:sp>
        <p:nvSpPr>
          <p:cNvPr id="16" name="Text 13"/>
          <p:cNvSpPr txBox="1"/>
          <p:nvPr/>
        </p:nvSpPr>
        <p:spPr>
          <a:xfrm>
            <a:off x="6400800" y="1280160"/>
            <a:ext cx="2377440" cy="411480"/>
          </a:xfrm>
          <a:prstGeom prst="rect">
            <a:avLst/>
          </a:prstGeom>
          <a:noFill/>
          <a:ln/>
        </p:spPr>
        <p:txBody>
          <a:bodyPr wrap="square" lIns="0" tIns="0" rIns="0" bIns="0" rtlCol="0" anchor="ctr"/>
          <a:lstStyle/>
          <a:p>
            <a:pPr indent="0" marL="0">
              <a:buNone/>
            </a:pPr>
            <a:r>
              <a:rPr lang="en-US" sz="1500" b="1" dirty="0">
                <a:solidFill>
                  <a:schemeClr val="accent1"/>
                </a:solidFill>
              </a:rPr>
              <a:t>Month 3</a:t>
            </a:r>
            <a:endParaRPr lang="en-US" sz="1500" dirty="0"/>
          </a:p>
        </p:txBody>
      </p:sp>
      <p:sp>
        <p:nvSpPr>
          <p:cNvPr id="17" name="Pilot card"/>
          <p:cNvSpPr/>
          <p:nvPr/>
        </p:nvSpPr>
        <p:spPr>
          <a:xfrm>
            <a:off x="6217920" y="2468880"/>
            <a:ext cx="2560320" cy="3474720"/>
          </a:xfrm>
          <a:prstGeom prst="roundRect">
            <a:avLst>
              <a:gd name="adj" fmla="val 2857"/>
            </a:avLst>
          </a:prstGeom>
          <a:solidFill>
            <a:schemeClr val="bg2"/>
          </a:solidFill>
          <a:ln w="12700">
            <a:solidFill>
              <a:schemeClr val="bg2"/>
            </a:solidFill>
            <a:prstDash val="solid"/>
          </a:ln>
        </p:spPr>
      </p:sp>
      <p:sp>
        <p:nvSpPr>
          <p:cNvPr id="18" name="Text 15"/>
          <p:cNvSpPr txBox="1"/>
          <p:nvPr/>
        </p:nvSpPr>
        <p:spPr>
          <a:xfrm>
            <a:off x="6492240" y="2697480"/>
            <a:ext cx="2011680" cy="777240"/>
          </a:xfrm>
          <a:prstGeom prst="rect">
            <a:avLst/>
          </a:prstGeom>
          <a:noFill/>
          <a:ln/>
        </p:spPr>
        <p:txBody>
          <a:bodyPr wrap="square" lIns="0" tIns="0" rIns="0" bIns="0" rtlCol="0" anchor="t"/>
          <a:lstStyle/>
          <a:p>
            <a:pPr indent="0" marL="0">
              <a:buNone/>
            </a:pPr>
            <a:r>
              <a:rPr lang="en-US" sz="2000" b="1" dirty="0">
                <a:solidFill>
                  <a:schemeClr val="tx1"/>
                </a:solidFill>
              </a:rPr>
              <a:t>Pilot</a:t>
            </a:r>
            <a:endParaRPr lang="en-US" sz="2000" dirty="0"/>
          </a:p>
        </p:txBody>
      </p:sp>
      <p:sp>
        <p:nvSpPr>
          <p:cNvPr id="19" name="Text 16"/>
          <p:cNvSpPr txBox="1"/>
          <p:nvPr/>
        </p:nvSpPr>
        <p:spPr>
          <a:xfrm>
            <a:off x="6492240" y="3566160"/>
            <a:ext cx="21031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Next cohort starts on the new model</a:t>
            </a:r>
            <a:endParaRPr lang="en-US" sz="1500" dirty="0"/>
          </a:p>
          <a:p>
            <a:pPr marL="342900" indent="-342900">
              <a:spcAft>
                <a:spcPts val="800"/>
              </a:spcAft>
              <a:buSzPct val="100000"/>
              <a:buChar char="•"/>
            </a:pPr>
            <a:r>
              <a:rPr lang="en-US" sz="1500" dirty="0">
                <a:solidFill>
                  <a:schemeClr val="tx1"/>
                </a:solidFill>
              </a:rPr>
              <a:t>Weekly manager 1:1s live</a:t>
            </a:r>
            <a:endParaRPr lang="en-US" sz="1500" dirty="0"/>
          </a:p>
        </p:txBody>
      </p:sp>
      <p:sp>
        <p:nvSpPr>
          <p:cNvPr id="20" name="milestone 4"/>
          <p:cNvSpPr/>
          <p:nvPr/>
        </p:nvSpPr>
        <p:spPr>
          <a:xfrm>
            <a:off x="9235440" y="1783080"/>
            <a:ext cx="365760" cy="365760"/>
          </a:xfrm>
          <a:prstGeom prst="ellipse">
            <a:avLst/>
          </a:prstGeom>
          <a:solidFill>
            <a:schemeClr val="accent2"/>
          </a:solidFill>
          <a:ln w="25400">
            <a:solidFill>
              <a:schemeClr val="bg1"/>
            </a:solidFill>
            <a:prstDash val="solid"/>
          </a:ln>
        </p:spPr>
      </p:sp>
      <p:sp>
        <p:nvSpPr>
          <p:cNvPr id="21" name="Text 18"/>
          <p:cNvSpPr txBox="1"/>
          <p:nvPr/>
        </p:nvSpPr>
        <p:spPr>
          <a:xfrm>
            <a:off x="9235440" y="1280160"/>
            <a:ext cx="2377440" cy="411480"/>
          </a:xfrm>
          <a:prstGeom prst="rect">
            <a:avLst/>
          </a:prstGeom>
          <a:noFill/>
          <a:ln/>
        </p:spPr>
        <p:txBody>
          <a:bodyPr wrap="square" lIns="0" tIns="0" rIns="0" bIns="0" rtlCol="0" anchor="ctr"/>
          <a:lstStyle/>
          <a:p>
            <a:pPr indent="0" marL="0">
              <a:buNone/>
            </a:pPr>
            <a:r>
              <a:rPr lang="en-US" sz="1500" b="1" dirty="0">
                <a:solidFill>
                  <a:schemeClr val="accent2"/>
                </a:solidFill>
              </a:rPr>
              <a:t>Day 90 of pilot</a:t>
            </a:r>
            <a:endParaRPr lang="en-US" sz="1500" dirty="0"/>
          </a:p>
        </p:txBody>
      </p:sp>
      <p:sp>
        <p:nvSpPr>
          <p:cNvPr id="22" name="Report &amp; iterate card"/>
          <p:cNvSpPr/>
          <p:nvPr/>
        </p:nvSpPr>
        <p:spPr>
          <a:xfrm>
            <a:off x="9052560" y="2468880"/>
            <a:ext cx="2560320" cy="3474720"/>
          </a:xfrm>
          <a:prstGeom prst="roundRect">
            <a:avLst>
              <a:gd name="adj" fmla="val 2857"/>
            </a:avLst>
          </a:prstGeom>
          <a:solidFill>
            <a:schemeClr val="tx2"/>
          </a:solidFill>
          <a:ln w="12700">
            <a:solidFill>
              <a:schemeClr val="tx2"/>
            </a:solidFill>
            <a:prstDash val="solid"/>
          </a:ln>
        </p:spPr>
      </p:sp>
      <p:sp>
        <p:nvSpPr>
          <p:cNvPr id="23" name="Text 20"/>
          <p:cNvSpPr txBox="1"/>
          <p:nvPr/>
        </p:nvSpPr>
        <p:spPr>
          <a:xfrm>
            <a:off x="9326880" y="2697480"/>
            <a:ext cx="2011680" cy="777240"/>
          </a:xfrm>
          <a:prstGeom prst="rect">
            <a:avLst/>
          </a:prstGeom>
          <a:noFill/>
          <a:ln/>
        </p:spPr>
        <p:txBody>
          <a:bodyPr wrap="square" lIns="0" tIns="0" rIns="0" bIns="0" rtlCol="0" anchor="t"/>
          <a:lstStyle/>
          <a:p>
            <a:pPr indent="0" marL="0">
              <a:buNone/>
            </a:pPr>
            <a:r>
              <a:rPr lang="en-US" sz="2000" b="1" dirty="0">
                <a:solidFill>
                  <a:schemeClr val="bg1"/>
                </a:solidFill>
              </a:rPr>
              <a:t>Report &amp; iterate</a:t>
            </a:r>
            <a:endParaRPr lang="en-US" sz="2000" dirty="0"/>
          </a:p>
        </p:txBody>
      </p:sp>
      <p:sp>
        <p:nvSpPr>
          <p:cNvPr id="24" name="Text 21"/>
          <p:cNvSpPr txBox="1"/>
          <p:nvPr/>
        </p:nvSpPr>
        <p:spPr>
          <a:xfrm>
            <a:off x="9326880" y="3566160"/>
            <a:ext cx="2103120" cy="21945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Results vs. baseline to leadership</a:t>
            </a:r>
            <a:endParaRPr lang="en-US" sz="1500" dirty="0"/>
          </a:p>
          <a:p>
            <a:pPr marL="342900" indent="-342900">
              <a:spcAft>
                <a:spcPts val="800"/>
              </a:spcAft>
              <a:buSzPct val="100000"/>
              <a:buChar char="•"/>
            </a:pPr>
            <a:r>
              <a:rPr lang="en-US" sz="1500" dirty="0">
                <a:solidFill>
                  <a:schemeClr val="bg1"/>
                </a:solidFill>
              </a:rPr>
              <a:t>Retro and roll out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097280"/>
          </a:xfrm>
          <a:prstGeom prst="rect">
            <a:avLst/>
          </a:prstGeom>
          <a:noFill/>
          <a:ln/>
        </p:spPr>
        <p:txBody>
          <a:bodyPr wrap="square" lIns="0" tIns="0" rIns="0" bIns="0" rtlCol="0" anchor="ctr"/>
          <a:lstStyle/>
          <a:p>
            <a:pPr algn="l" indent="0" marL="0">
              <a:buNone/>
            </a:pPr>
            <a:r>
              <a:rPr lang="en-US" sz="4000" b="1" dirty="0">
                <a:solidFill>
                  <a:schemeClr val="bg1"/>
                </a:solidFill>
              </a:rPr>
              <a:t>Decision needed today</a:t>
            </a:r>
            <a:endParaRPr lang="en-US" sz="4000" dirty="0"/>
          </a:p>
        </p:txBody>
      </p:sp>
      <p:sp>
        <p:nvSpPr>
          <p:cNvPr id="3" name="Text 0"/>
          <p:cNvSpPr/>
          <p:nvPr>
            <p:ph idx="101" type="body" hasCustomPrompt="1"/>
          </p:nvPr>
        </p:nvSpPr>
        <p:spPr>
          <a:xfrm>
            <a:off x="731520" y="3840480"/>
            <a:ext cx="9601200" cy="1097280"/>
          </a:xfrm>
          <a:prstGeom prst="rect">
            <a:avLst/>
          </a:prstGeom>
          <a:noFill/>
          <a:ln/>
        </p:spPr>
        <p:txBody>
          <a:bodyPr wrap="square" lIns="0" tIns="0" rIns="0" bIns="0" rtlCol="0" anchor="t"/>
          <a:lstStyle/>
          <a:p>
            <a:pPr algn="l" indent="0" marL="0">
              <a:buNone/>
            </a:pPr>
            <a:r>
              <a:rPr lang="en-US" sz="1800" dirty="0">
                <a:solidFill>
                  <a:schemeClr val="accent6"/>
                </a:solidFill>
              </a:rPr>
              <a:t>Approve the ramp model and the five asks, so we can pilot with the next cohort.</a:t>
            </a:r>
            <a:endParaRPr lang="en-US" sz="1800" dirty="0"/>
          </a:p>
        </p:txBody>
      </p:sp>
      <p:sp>
        <p:nvSpPr>
          <p:cNvPr id="25" name="Slide Number Placeholder 0"/>
          <p:cNvSpPr>
            <a:spLocks noGrp="1"/>
          </p:cNvSpPr>
          <p:nvPr>
            <p:ph type="sldNum" sz="quarter" idx="4294967295"/>
          </p:nvPr>
        </p:nvSpPr>
        <p:spPr>
          <a:xfrm>
            <a:off x="10972800" y="61264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NORAM Enablement">
  <a:themeElements>
    <a:clrScheme name="NORAM Enablement">
      <a:dk1>
        <a:srgbClr val="0B1F33"/>
      </a:dk1>
      <a:lt1>
        <a:srgbClr val="FFFFFF"/>
      </a:lt1>
      <a:dk2>
        <a:srgbClr val="0A1A2F"/>
      </a:dk2>
      <a:lt2>
        <a:srgbClr val="EEF2F6"/>
      </a:lt2>
      <a:accent1>
        <a:srgbClr val="00857A"/>
      </a:accent1>
      <a:accent2>
        <a:srgbClr val="E89B2C"/>
      </a:accent2>
      <a:accent3>
        <a:srgbClr val="5B6B7F"/>
      </a:accent3>
      <a:accent4>
        <a:srgbClr val="1F3A5A"/>
      </a:accent4>
      <a:accent5>
        <a:srgbClr val="C0392B"/>
      </a:accent5>
      <a:accent6>
        <a:srgbClr val="5ED3C6"/>
      </a:accent6>
      <a:hlink>
        <a:srgbClr val="00857A"/>
      </a:hlink>
      <a:folHlink>
        <a:srgbClr val="1F3A5A"/>
      </a:folHlink>
    </a:clrScheme>
    <a:fontScheme name="NORAM Enablem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Ramping NORAM Commercial Hires Faster</dc:title>
  <dc:subject>PptxGenJS Presentation</dc:subject>
  <dc:creator>NORAM Revenue Enablement</dc:creator>
  <cp:lastModifiedBy>NORAM Revenue Enablement</cp:lastModifiedBy>
  <cp:revision>1</cp:revision>
  <dcterms:created xsi:type="dcterms:W3CDTF">2026-10-02T17:53:42Z</dcterms:created>
  <dcterms:modified xsi:type="dcterms:W3CDTF">2026-10-02T17:53:42Z</dcterms:modified>
</cp:coreProperties>
</file>
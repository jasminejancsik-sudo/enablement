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Arial"/>
              </a:rPr>
              <a:t>Sessions by block and status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Ready today</c:v>
                </c:pt>
              </c:strCache>
            </c:strRef>
          </c:tx>
          <c:spPr>
            <a:solidFill>
              <a:srgbClr val="0CA3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Before Day 1</c:v>
                  </c:pt>
                  <c:pt idx="1">
                    <c:v>Days 1–30</c:v>
                  </c:pt>
                  <c:pt idx="2">
                    <c:v>Days 31–60</c:v>
                  </c:pt>
                  <c:pt idx="3">
                    <c:v>Days 61–90</c:v>
                  </c:pt>
                  <c:pt idx="4">
                    <c:v>After Day 90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31</c:v>
                </c:pt>
                <c:pt idx="2">
                  <c:v>13</c:v>
                </c:pt>
                <c:pt idx="3">
                  <c:v>7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Needs refresh</c:v>
                </c:pt>
              </c:strCache>
            </c:strRef>
          </c:tx>
          <c:spPr>
            <a:solidFill>
              <a:srgbClr val="FAB21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Before Day 1</c:v>
                  </c:pt>
                  <c:pt idx="1">
                    <c:v>Days 1–30</c:v>
                  </c:pt>
                  <c:pt idx="2">
                    <c:v>Days 31–60</c:v>
                  </c:pt>
                  <c:pt idx="3">
                    <c:v>Days 61–90</c:v>
                  </c:pt>
                  <c:pt idx="4">
                    <c:v>After Day 90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9</c:v>
                </c:pt>
                <c:pt idx="2">
                  <c:v>4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 build</c:v>
                </c:pt>
              </c:strCache>
            </c:strRef>
          </c:tx>
          <c:spPr>
            <a:solidFill>
              <a:srgbClr val="D03B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Before Day 1</c:v>
                  </c:pt>
                  <c:pt idx="1">
                    <c:v>Days 1–30</c:v>
                  </c:pt>
                  <c:pt idx="2">
                    <c:v>Days 31–60</c:v>
                  </c:pt>
                  <c:pt idx="3">
                    <c:v>Days 61–90</c:v>
                  </c:pt>
                  <c:pt idx="4">
                    <c:v>After Day 90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11</c:v>
                </c:pt>
                <c:pt idx="2">
                  <c:v>12</c:v>
                </c:pt>
                <c:pt idx="3">
                  <c:v>7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NORAM REVENUE ENABLEMENT  ·  ONBOARD → RAMP → EVERBOARD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Executive Onboarding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working days from Day 1 to a winning proposal, built for selling payments at Checkout.com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035808"/>
            <a:ext cx="201168" cy="20116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mapped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3291840" y="28346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3035808"/>
            <a:ext cx="201168" cy="201168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today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337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6126480" y="28346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3035808"/>
            <a:ext cx="201168" cy="201168"/>
          </a:xfrm>
          <a:prstGeom prst="ellipse">
            <a:avLst/>
          </a:prstGeom>
          <a:solidFill>
            <a:srgbClr val="FAB219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refresh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337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8961120" y="28346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720" y="3035808"/>
            <a:ext cx="201168" cy="201168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6404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3337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727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983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Call Certification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475488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918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4727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794760" y="4983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Certification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475488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4727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4983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Flow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61120" y="475488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6112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464040" y="4727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464040" y="4983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Room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Jancsik, Lead Enablement, US  ·  v2 draft, October 2026  ·  Days are working days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90-day journey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30-working-day blocks, each with one job. Both cohorts (starting on the 1st and the 15th) follow the same map.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417320" cy="320040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8308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PRE-BOARD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0299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Day 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42316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ready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743200"/>
            <a:ext cx="10881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plan, tracker and buddy are in place, so Day 1 is about people, not passwords.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61388" y="160020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25980" y="1783080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25980" y="2029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125980" y="242316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certified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25980" y="2743200"/>
            <a:ext cx="23682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payments and the five pillars, master the Explore call and the first-meeting pitch, and certify on both by Day 30.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25980" y="4105656"/>
            <a:ext cx="256032" cy="25603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25980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436876" y="41056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 · Explore Call cert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25980" y="4434840"/>
            <a:ext cx="256032" cy="25603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2598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436876" y="4434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 · Pitch Deck cert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45736" y="160020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10328" y="1783080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10328" y="2029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910328" y="242316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910328" y="2743200"/>
            <a:ext cx="23682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 on NORAM verticals and the deal machine while prospecting, then follow a real deal through every team in the Day 60 Follow the Flow workshop.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10328" y="4434840"/>
            <a:ext cx="256032" cy="256032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10328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21224" y="4434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 · Follow the 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30084" y="160020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94676" y="1783080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13–18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694676" y="2029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694676" y="242316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deals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694676" y="2743200"/>
            <a:ext cx="23682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structure and negotiate, then present a full proposal for a live deal in the Day 90 Deal Room.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94676" y="4434840"/>
            <a:ext cx="256032" cy="256032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94676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005572" y="4434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 · Deal Room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314432" y="1600200"/>
            <a:ext cx="1417320" cy="320040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479024" y="178308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479024" y="20299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Day 90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479024" y="242316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growing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0479024" y="2743200"/>
            <a:ext cx="10881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skills sessions, call clinics and a yearly recertification.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working weeks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7200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86764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86764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716329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716329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345893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345893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75458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975458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2655418" y="5715000"/>
            <a:ext cx="1214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cert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05022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605022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3284982" y="5715000"/>
            <a:ext cx="1214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cert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234586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234586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64151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864151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93715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493715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123280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123280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752844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752844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382408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382408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7062368" y="5715000"/>
            <a:ext cx="1214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Flow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011973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011973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641537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641537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9271102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271102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900666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900666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0530230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530230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1159795" y="5349240"/>
            <a:ext cx="574700" cy="292608"/>
          </a:xfrm>
          <a:prstGeom prst="roundRect">
            <a:avLst>
              <a:gd name="adj" fmla="val 15625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1159795" y="5349240"/>
            <a:ext cx="5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10839755" y="5715000"/>
            <a:ext cx="1214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Room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1–30: get certified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by week, every session builds toward the two certifications at the end of Weeks 5 and 6.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765249" cy="4754880"/>
          </a:xfrm>
          <a:prstGeom prst="roundRect">
            <a:avLst>
              <a:gd name="adj" fmla="val 414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64792"/>
            <a:ext cx="384048" cy="38404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1783080"/>
            <a:ext cx="10794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1965960"/>
            <a:ext cx="10794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286000"/>
            <a:ext cx="1490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 &amp; orient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743200"/>
            <a:ext cx="1564081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Inductions + 90-day kickoff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Revenue Org (NORAM)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at Checkout in 60 min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tools &amp; finding answers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RevWay 0–1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59609" y="1600200"/>
            <a:ext cx="1765249" cy="4754880"/>
          </a:xfrm>
          <a:prstGeom prst="roundRect">
            <a:avLst>
              <a:gd name="adj" fmla="val 414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6769" y="1764792"/>
            <a:ext cx="384048" cy="38404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96769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72257" y="1783080"/>
            <a:ext cx="10794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972257" y="1965960"/>
            <a:ext cx="10794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6–10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496769" y="2286000"/>
            <a:ext cx="1490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&amp; market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469337" y="2743200"/>
            <a:ext cx="1564081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Academy, paced + debrief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STP, Rules of Engagement &amp; incentives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Risk · International Outlook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62018" y="1600200"/>
            <a:ext cx="1765249" cy="4754880"/>
          </a:xfrm>
          <a:prstGeom prst="roundRect">
            <a:avLst>
              <a:gd name="adj" fmla="val 414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99178" y="1764792"/>
            <a:ext cx="384048" cy="38404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99178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74666" y="1783080"/>
            <a:ext cx="10794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74666" y="1965960"/>
            <a:ext cx="10794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11–15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399178" y="2286000"/>
            <a:ext cx="1490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pillars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371746" y="2743200"/>
            <a:ext cx="1564081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Foundations: all five pillars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in live deals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Clari &amp; pipeline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Deal Management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· Boost AMA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64428" y="1600200"/>
            <a:ext cx="1765249" cy="4754880"/>
          </a:xfrm>
          <a:prstGeom prst="roundRect">
            <a:avLst>
              <a:gd name="adj" fmla="val 414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1588" y="1764792"/>
            <a:ext cx="384048" cy="38404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1588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77076" y="1783080"/>
            <a:ext cx="10794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777076" y="1965960"/>
            <a:ext cx="10794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16–20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301588" y="2286000"/>
            <a:ext cx="1490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274156" y="2743200"/>
            <a:ext cx="1564081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RevWay 4–5: Discovery &amp; Explore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Call Masterclass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question bank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SAT-style Discover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Play · role-play sprint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66837" y="1600200"/>
            <a:ext cx="1765249" cy="4754880"/>
          </a:xfrm>
          <a:prstGeom prst="roundRect">
            <a:avLst>
              <a:gd name="adj" fmla="val 4144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03997" y="1764792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03997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679485" y="1783080"/>
            <a:ext cx="10794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679485" y="1965960"/>
            <a:ext cx="10794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21–25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203997" y="2286000"/>
            <a:ext cx="1490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Certify: Explore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176565" y="2743200"/>
            <a:ext cx="1564081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pitch + pillar check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70 account review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lab · cold calls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storyline workshop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76565" y="5486400"/>
            <a:ext cx="1545793" cy="713232"/>
          </a:xfrm>
          <a:prstGeom prst="roundRect">
            <a:avLst>
              <a:gd name="adj" fmla="val 769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68005" y="5532120"/>
            <a:ext cx="136291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Call Cert · Day 25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969246" y="1600200"/>
            <a:ext cx="1765249" cy="4754880"/>
          </a:xfrm>
          <a:prstGeom prst="roundRect">
            <a:avLst>
              <a:gd name="adj" fmla="val 4144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06406" y="1764792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106406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581894" y="1783080"/>
            <a:ext cx="10794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581894" y="1965960"/>
            <a:ext cx="10794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26–30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106406" y="2286000"/>
            <a:ext cx="1490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Certify: Pitch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0078974" y="2743200"/>
            <a:ext cx="1564081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 plans &amp; NORAM strategy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OKRs · Product Partnership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dry run with buddy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 review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0078974" y="5486400"/>
            <a:ext cx="1545793" cy="713232"/>
          </a:xfrm>
          <a:prstGeom prst="roundRect">
            <a:avLst>
              <a:gd name="adj" fmla="val 769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170414" y="5532120"/>
            <a:ext cx="136291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Cert · Day 30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certifications, both by Day 30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persona and standard case, so every AE is scored the same way. Batch day per cohort; retakes by Day 35.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Call Certification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live, simulated Explore call against a standard Head of Payments persona (mid-market US subscription merchant). Recorded in Clari.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72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≥ 80% and no section below 3/5  ·  Assessors: pod leads + Enablement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547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Pre-call research &amp; hypothesis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5478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merchant's model, footprint, likely PSP set-up and a starting hypothesis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950208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931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upfront contract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931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agenda, time check and agreed outcome for the call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334256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315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questioning funnel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43159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from broad to specific, with open questions and no early pitching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718304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700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pain quantified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47000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Uncovers and sizes at least one pain: auth rate, fraud, cost, APMs or payouts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5102352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102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" y="50840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mapping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971800" y="50840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the pains to the right Checkout pillar and capability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486400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" y="54681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&amp; summarising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971800" y="54681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far more than talks, and plays the summary back accurately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5870448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5870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" y="58521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next step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2971800" y="5852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dated next step with the right stakeholders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160020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4652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800100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Certification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6446520" y="2468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First-meeting deck for the same standard case everyone gets. 15-minute presentation + 10-minute panel Q&amp;A. No pricing at this stage.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46520" y="3172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≥ 80% and no section below 3/5  ·  Assessors: pod leads + Enablement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46520" y="3566160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465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830568" y="3547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insight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686800" y="35478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with the merchant's world and priorities, not ours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46520" y="3950208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4652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830568" y="3931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narrative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686800" y="3931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their goals to the right Checkout pillars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46520" y="4334256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46520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830568" y="4315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proof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8686800" y="43159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case studies or references for the vertical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46520" y="4718304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46520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830568" y="4700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8686800" y="47000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against a legacy PSP without disparaging it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46520" y="5102352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46520" y="5102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830568" y="50840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ask &amp; next steps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8686800" y="50840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a specific next meeting and the stakeholders to bring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446520" y="5486400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44652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6830568" y="54681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craft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8686800" y="54681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concise, on-brand, using the Great Decks standards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46520" y="5870448"/>
            <a:ext cx="274320" cy="274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446520" y="5870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6830568" y="58521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&amp; Q&amp;A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8686800" y="5852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concise, handles questions calmly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60 · Follow the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deal, every desk. The AE's deal moves through the partner teams the way a payment moves through the payment chain.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10545775" cy="0"/>
          </a:xfrm>
          <a:prstGeom prst="line">
            <a:avLst/>
          </a:prstGeom>
          <a:noFill/>
          <a:ln w="38100">
            <a:solidFill>
              <a:srgbClr val="2A78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785" y="210312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785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1765249" cy="2377440"/>
          </a:xfrm>
          <a:prstGeom prst="roundRect">
            <a:avLst>
              <a:gd name="adj" fmla="val 4144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108960"/>
            <a:ext cx="1490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675888"/>
            <a:ext cx="14909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Desk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206240"/>
            <a:ext cx="14909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structure and pricing approved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22194" y="210312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219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59609" y="2971800"/>
            <a:ext cx="1765249" cy="2377440"/>
          </a:xfrm>
          <a:prstGeom prst="roundRect">
            <a:avLst>
              <a:gd name="adj" fmla="val 4144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96769" y="3108960"/>
            <a:ext cx="1490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check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496769" y="3675888"/>
            <a:ext cx="14909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496769" y="4206240"/>
            <a:ext cx="14909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submittal that gets approved fast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24603" y="210312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24603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62018" y="2971800"/>
            <a:ext cx="1765249" cy="2377440"/>
          </a:xfrm>
          <a:prstGeom prst="roundRect">
            <a:avLst>
              <a:gd name="adj" fmla="val 4144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99178" y="3108960"/>
            <a:ext cx="1490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Tokenise &amp; integrate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399178" y="3675888"/>
            <a:ext cx="14909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Engineering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399178" y="4206240"/>
            <a:ext cx="14909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integration for your prospect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27012" y="210312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701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64428" y="2971800"/>
            <a:ext cx="1765249" cy="2377440"/>
          </a:xfrm>
          <a:prstGeom prst="roundRect">
            <a:avLst>
              <a:gd name="adj" fmla="val 4144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1588" y="3108960"/>
            <a:ext cx="1490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01588" y="3675888"/>
            <a:ext cx="14909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+ Financial Partnerships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301588" y="4206240"/>
            <a:ext cx="14909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partner angle in your deal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629421" y="210312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29421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66837" y="2971800"/>
            <a:ext cx="1765249" cy="2377440"/>
          </a:xfrm>
          <a:prstGeom prst="roundRect">
            <a:avLst>
              <a:gd name="adj" fmla="val 4144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03997" y="3108960"/>
            <a:ext cx="1490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03997" y="3675888"/>
            <a:ext cx="14909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203997" y="4206240"/>
            <a:ext cx="14909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clean handover to go-live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531831" y="210312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531831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969246" y="2971800"/>
            <a:ext cx="1765249" cy="2377440"/>
          </a:xfrm>
          <a:prstGeom prst="roundRect">
            <a:avLst>
              <a:gd name="adj" fmla="val 4144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06406" y="3108960"/>
            <a:ext cx="1490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106406" y="3675888"/>
            <a:ext cx="14909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RevOps &amp; BDR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0106406" y="4206240"/>
            <a:ext cx="14909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your pipeline and plan with your BDR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5669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workshop · Week 12 Wednesday · 30 minutes per station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 leaves with a one-page flow map for their deal, with a named contact at every step. This replaces the six team intros that used to sit in Week 2.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31–90: build pipeline, then win deals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certified, AEs learn from their own deals. Learning steps back as selling time grows from 50% to 70%.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3154680"/>
          </a:xfrm>
          <a:prstGeom prst="roundRect">
            <a:avLst>
              <a:gd name="adj" fmla="val 2319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 · WEEKS 7–12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75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pipeline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 Retakes · NORAM verticals · vertical deep dives · Apollo cadence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 Underwriting · Intro to Pricing (NORAM) · partners · payment metrics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  Payouts &amp; FX · Visa Direct · integration · RevWay 6–7 · Canada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  Head of Payments panel · top-rep Q&amp;A · battlecards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  Deal Management best practice · role play · Marketing &amp; SAT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  Follow the Flow · Day 60 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86400" cy="3154680"/>
          </a:xfrm>
          <a:prstGeom prst="roundRect">
            <a:avLst>
              <a:gd name="adj" fmla="val 2319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828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 · WEEKS 13–18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075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deals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60604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  Propose Masterclass · pricing guidance · RevWay 8–9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  Pricing calculators · payments economics &amp; cost analysis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  Negotiation case studies · MAF &amp; questionnaires · objections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  Merchant ramp · QBRs · path to quota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W17  Business case lab · proposal dry run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  Deal Room · Day 90 review &amp; graduation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11277295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5367528"/>
            <a:ext cx="502920" cy="5029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5230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90 · Deal Room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5961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 presents a full proposal for their top live deal, pricing included, to their manager and Deal Desk. Coaching, not a score, and it's the graduation from onboarding.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exists today, and what we need to build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sessions mapped from four sources. 55 are ready today, 16 need a refresh and 32 need to be built.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12280" y="1554480"/>
            <a:ext cx="4919472" cy="4754880"/>
          </a:xfrm>
          <a:prstGeom prst="roundRect">
            <a:avLst>
              <a:gd name="adj" fmla="val 1538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408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P1: needed for the next cohort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040880" y="2240280"/>
            <a:ext cx="502920" cy="502920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699248" y="2221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build-up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99248" y="2496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Masterclass, question bank, storyline workshop, both certifications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3017520"/>
            <a:ext cx="502920" cy="502920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408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699248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Flow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699248" y="3273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stations, one per partner team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3794760"/>
            <a:ext cx="502920" cy="502920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408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699248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Room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699248" y="4050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lab, dry run, Deal Room, Day 90 review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40880" y="4572000"/>
            <a:ext cx="502920" cy="502920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408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699248" y="4553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NORAM intros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4828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Issuing, Merchant Insights, SAT Discover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040880" y="5349240"/>
            <a:ext cx="502920" cy="502920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408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699248" y="5330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payments primer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699248" y="5605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at Checkout in 60 minutes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changes, and how we'll measure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→  NEW PROGRAMME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Academy on Day 2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627632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62763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payments story first, Academy paced through Week 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9572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at Days 60 and 90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39572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3957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certified by Day 30, in batch days per cohort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6382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team intros in Week 2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3163824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16382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Flow at Day 60, using a real deal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58768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93192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days, spread unevenly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3931920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93192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days, Week + weekday, same map for both cohorts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626864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70001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UK/EEA-only intros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154680" y="4700016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520440" y="470001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NORAM versions of Pricing, Issuing, Merchant Insights, SAT Discover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394960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13345F"/>
          </a:solidFill>
          <a:ln w="12700">
            <a:solidFill>
              <a:srgbClr val="1334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546811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negotiation never scheduled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154680" y="5468112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546811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13–16, right before the Deal Room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89520" y="1554480"/>
            <a:ext cx="41422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26680" y="162763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162763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certification first-time pass rate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89520" y="2322576"/>
            <a:ext cx="41422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26680" y="239572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326880" y="239572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certification first-time pass rate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89520" y="3090672"/>
            <a:ext cx="41422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26680" y="316382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Day 30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326880" y="316382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meeting booked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589520" y="3858768"/>
            <a:ext cx="41422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26680" y="393192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Day 60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326880" y="393192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qualified opportunity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89520" y="4626864"/>
            <a:ext cx="41422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26680" y="470001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or ahead of plan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326880" y="4700016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vs. cohort trajectory at Day 90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589520" y="5394960"/>
            <a:ext cx="41422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26680" y="546811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+50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9326880" y="546811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New-hire onboarding NPS (Day 30 / 90 pulse)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NORAM AE Onboarding v2</dc:title>
  <dc:subject>PptxGenJS Presentation</dc:subject>
  <dc:creator>PptxGenJS</dc:creator>
  <cp:lastModifiedBy>PptxGenJS</cp:lastModifiedBy>
  <cp:revision>1</cp:revision>
  <dcterms:created xsi:type="dcterms:W3CDTF">2026-10-01T20:25:59Z</dcterms:created>
  <dcterms:modified xsi:type="dcterms:W3CDTF">2026-10-01T20:25:59Z</dcterms:modified>
</cp:coreProperties>
</file>
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0958e4b-c3ba-9e6b-51b1-7941e14dd587}">
          <p14:sldIdLst>
            <p14:sldId id="256"/>
            <p14:sldId id="257"/>
          </p14:sldIdLst>
        </p14:section>
        <p14:section name="Part 1: How Adults Learn" id="{a993440d-ae58-f5f2-0e3b-1fc9011dafe4}">
          <p14:sldIdLst>
            <p14:sldId id="258"/>
            <p14:sldId id="259"/>
            <p14:sldId id="260"/>
            <p14:sldId id="261"/>
            <p14:sldId id="262"/>
            <p14:sldId id="263"/>
            <p14:sldId id="264"/>
          </p14:sldIdLst>
        </p14:section>
        <p14:section name="Part 2: Ramping a Commercial Team" id="{23a8d80a-0463-4921-c879-9b65a38e0d83}">
          <p14:sldIdLst>
            <p14:sldId id="265"/>
            <p14:sldId id="266"/>
            <p14:sldId id="267"/>
            <p14:sldId id="268"/>
            <p14:sldId id="269"/>
            <p14:sldId id="270"/>
            <p14:sldId id="271"/>
            <p14:sldId id="272"/>
            <p14:sldId id="273"/>
            <p14:sldId id="274"/>
          </p14:sldIdLst>
        </p14:section>
        <p14:section name="Next Steps" id="{d2e45e9a-aa41-283f-c201-566ffd4870c8}">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give a shared foundation in how adults learn, and use it to design how we ramp NORAM commercial hires. This supports Charter Pillar 1 and Priority #1, an onboarding pathway and 30/60/90 framework for each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First the science: why most training fades and what makes it stick. Then the application: a ramp model built on that science, with draft 30/60/90 plans by role. The 30/60/90 targets are starting points to validate with each NORAM leader.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Malcolm Knowles' andragogy is the standard starting point. For each assumption, the bottom line is what we do differently in enablement. Ask the room which of these we break most often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Ebbinghaus showed that without reinforcement most new information is forgotten within days to weeks. Spacing learning over time beats cramming. So every key topic gets a reinforcement plan, not just a session. The timeline is our default cadence; adjust per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more evidence-based principles. Retrieval practice: recalling beats re-reading. Deliberate practice (Ericsson): targeted practice with feedback. Cognitive load (Sweller): working memory is limited. Interleaving: mixing topics builds judgment. Social learning (Bandura): people copy others. Kolb's cycle: experience, reflect, conceptualise,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70-20-10 is a rough heuristic, not a precise ratio. The point: if we only design the 10, we leave most of the learning to chance. Ramp plans must design the on-the-job and social parts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enablement stops at levels 1 and 2: completion and quiz scores. Our charter metrics (methodology adoption in Salesforce, win rate, time to first deal) sit at levels 3 and 4, which is where leaders pay attention. Pair this with backward design: start from the behaviour you want, define how you'd observe it, then build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checklist before anything ships. If a programme can't tick the reinforcement, manager and measurement boxes, it isn't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thing: the frontline manager has more influence on ramp than any content we build. Managers own the 30/60/90 plan; enablement equips them to coach it. And ramp is defined by milestones reached, not days elapsed.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Pre-boarding is light: access and a buddy, not homework. Onboarding is two weeks of minimum viable knowledge. Ramp runs to day 90 with live deals, weekly manager coaching and certification gates. Everboarding picks up immediately so skills don't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BDRs should be on live calls by week 2. Gates are certifications plus activity and meeting targets. Targets are placeholders; agree them with the BDR leader.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 sales cycles are long, so the first closed deal often lands after day 90. That's why the early gates are pipeline and skill based. The deal process includes Deal Management and Risk/Underwriting, so introduce those partners in the first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AMs inherit relationships, so the first 30 days are about a clean handover and understanding merchant health. Expansion plays come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ramp is measured partly by the AEs they support, so collect AE feedback at day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Ramp is a team sport. The new hire owns their progress; the manager owns the plan and gate sign-offs; enablement designs and tracks it. Partners in SE, Product and Deal Management run subject-matter sessions and join early deals.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 indicators tell us early who's off track. Lagging indicators prove impact to leadership. Health metrics tell us whether the experience is sustainable. Compare every cohort to a baseline; without one we can't show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pitfall maps back to a principle from Part 1. The firehose week ignores the forgetting curve and cognitive load. Measuring completion stops at Kirkpatrick level 2. Delaying customer exposure skips the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baseline so we can show impact. Then validate the 30/60/90 tables with each NORAM commercial leader, build the manager kits and certifications, automate reinforcement, and pilot with the next cohort. Run a 90-day retro and iterate.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sources behind the principles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977640"/>
            <a:ext cx="10698480" cy="91440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
        <p:nvSpPr>
          <p:cNvPr id="4" name="Text 0"/>
          <p:cNvSpPr/>
          <p:nvPr/>
        </p:nvSpPr>
        <p:spPr>
          <a:xfrm>
            <a:off x="731520" y="6126480"/>
            <a:ext cx="7315200" cy="320040"/>
          </a:xfrm>
          <a:prstGeom prst="rect">
            <a:avLst/>
          </a:prstGeom>
          <a:noFill/>
          <a:ln/>
        </p:spPr>
        <p:txBody>
          <a:bodyPr wrap="square" lIns="0" tIns="0" rIns="0" bIns="0" rtlCol="0" anchor="ctr"/>
          <a:lstStyle/>
          <a:p>
            <a:pPr indent="0" marL="0">
              <a:buNone/>
            </a:pPr>
            <a:r>
              <a:rPr lang="en-US" sz="1200" dirty="0">
                <a:solidFill>
                  <a:schemeClr val="bg2"/>
                </a:solidFill>
              </a:rPr>
              <a:t>Checkout.com · NORAM Revenue Enablement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40480"/>
            <a:ext cx="960120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4" name="Text 0"/>
          <p:cNvSpPr/>
          <p:nvPr/>
        </p:nvSpPr>
        <p:spPr>
          <a:xfrm>
            <a:off x="731520" y="6126480"/>
            <a:ext cx="7315200" cy="320040"/>
          </a:xfrm>
          <a:prstGeom prst="rect">
            <a:avLst/>
          </a:prstGeom>
          <a:noFill/>
          <a:ln/>
        </p:spPr>
        <p:txBody>
          <a:bodyPr wrap="square" lIns="0" tIns="0" rIns="0" bIns="0" rtlCol="0" anchor="ctr"/>
          <a:lstStyle/>
          <a:p>
            <a:pPr indent="0" marL="0">
              <a:buNone/>
            </a:pPr>
            <a:r>
              <a:rPr lang="en-US" sz="1000" dirty="0">
                <a:solidFill>
                  <a:schemeClr val="bg2"/>
                </a:solidFill>
              </a:rPr>
              <a:t>Checkout.com · NORAM Revenue Enablement</a:t>
            </a:r>
            <a:endParaRPr lang="en-US" sz="1000" dirty="0"/>
          </a:p>
        </p:txBody>
      </p:sp>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Checkout.com · NORAM Revenue Enablement</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4.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slideLayout" Target="../slideLayouts/slideLayout4.xml"/><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4.xml"/><Relationship Id="rId9"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Adult Learning Principles &amp; How to Ramp a Commercial Team</a:t>
            </a:r>
            <a:endParaRPr lang="en-US" sz="4400" dirty="0"/>
          </a:p>
        </p:txBody>
      </p:sp>
      <p:sp>
        <p:nvSpPr>
          <p:cNvPr id="3" name="Text 0"/>
          <p:cNvSpPr/>
          <p:nvPr>
            <p:ph idx="101" type="body" hasCustomPrompt="1"/>
          </p:nvPr>
        </p:nvSpPr>
        <p:spPr>
          <a:xfrm>
            <a:off x="731520" y="3977640"/>
            <a:ext cx="10698480" cy="914400"/>
          </a:xfrm>
          <a:prstGeom prst="rect">
            <a:avLst/>
          </a:prstGeom>
          <a:noFill/>
          <a:ln/>
        </p:spPr>
        <p:txBody>
          <a:bodyPr wrap="square" lIns="0" tIns="0" rIns="0" bIns="0" rtlCol="0" anchor="t"/>
          <a:lstStyle/>
          <a:p>
            <a:pPr algn="l" indent="0" marL="0">
              <a:buNone/>
            </a:pPr>
            <a:r>
              <a:rPr lang="en-US" sz="2000" dirty="0">
                <a:solidFill>
                  <a:schemeClr val="accent6"/>
                </a:solidFill>
              </a:rPr>
              <a:t>Onboard → Ramp → Everboard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this matters</a:t>
            </a:r>
            <a:endParaRPr lang="en-US" sz="3200" dirty="0"/>
          </a:p>
        </p:txBody>
      </p:sp>
      <p:sp>
        <p:nvSpPr>
          <p:cNvPr id="4" name="why card 1"/>
          <p:cNvSpPr/>
          <p:nvPr/>
        </p:nvSpPr>
        <p:spPr>
          <a:xfrm>
            <a:off x="548640" y="1554480"/>
            <a:ext cx="3566160" cy="4206240"/>
          </a:xfrm>
          <a:prstGeom prst="roundRect">
            <a:avLst>
              <a:gd name="adj" fmla="val 2051"/>
            </a:avLst>
          </a:prstGeom>
          <a:solidFill>
            <a:schemeClr val="bg2"/>
          </a:solidFill>
          <a:ln w="12700">
            <a:solidFill>
              <a:schemeClr val="bg2"/>
            </a:solidFill>
            <a:prstDash val="solid"/>
          </a:ln>
        </p:spPr>
      </p:sp>
      <p:sp>
        <p:nvSpPr>
          <p:cNvPr id="5" name="How adults learn icon circle"/>
          <p:cNvSpPr/>
          <p:nvPr/>
        </p:nvSpPr>
        <p:spPr>
          <a:xfrm>
            <a:off x="914400" y="1920240"/>
            <a:ext cx="822960" cy="822960"/>
          </a:xfrm>
          <a:prstGeom prst="ellipse">
            <a:avLst/>
          </a:prstGeom>
          <a:solidFill>
            <a:schemeClr val="accent1"/>
          </a:solidFill>
          <a:ln w="12700">
            <a:solidFill>
              <a:schemeClr val="accent1"/>
            </a:solidFill>
            <a:prstDash val="solid"/>
          </a:ln>
        </p:spPr>
      </p:sp>
      <p:pic>
        <p:nvPicPr>
          <p:cNvPr id="6" name="How adults learn icon" descr="How adults learn icon">    </p:cNvPr>
          <p:cNvPicPr>
            <a:picLocks noChangeAspect="1"/>
          </p:cNvPicPr>
          <p:nvPr/>
        </p:nvPicPr>
        <p:blipFill>
          <a:blip r:embed="rId1"/>
          <a:stretch>
            <a:fillRect/>
          </a:stretch>
        </p:blipFill>
        <p:spPr>
          <a:xfrm>
            <a:off x="1120140" y="2125980"/>
            <a:ext cx="411480" cy="411480"/>
          </a:xfrm>
          <a:prstGeom prst="rect">
            <a:avLst/>
          </a:prstGeom>
        </p:spPr>
      </p:pic>
      <p:sp>
        <p:nvSpPr>
          <p:cNvPr id="7" name="Text 3"/>
          <p:cNvSpPr txBox="1"/>
          <p:nvPr/>
        </p:nvSpPr>
        <p:spPr>
          <a:xfrm>
            <a:off x="914400" y="3017520"/>
            <a:ext cx="2834640" cy="548640"/>
          </a:xfrm>
          <a:prstGeom prst="rect">
            <a:avLst/>
          </a:prstGeom>
          <a:noFill/>
          <a:ln/>
        </p:spPr>
        <p:txBody>
          <a:bodyPr wrap="square" lIns="0" tIns="0" rIns="0" bIns="0" rtlCol="0" anchor="t"/>
          <a:lstStyle/>
          <a:p>
            <a:pPr indent="0" marL="0">
              <a:buNone/>
            </a:pPr>
            <a:r>
              <a:rPr lang="en-US" sz="2200" b="1" dirty="0">
                <a:solidFill>
                  <a:schemeClr val="tx1"/>
                </a:solidFill>
              </a:rPr>
              <a:t>How adults learn</a:t>
            </a:r>
            <a:endParaRPr lang="en-US" sz="2200" dirty="0"/>
          </a:p>
        </p:txBody>
      </p:sp>
      <p:sp>
        <p:nvSpPr>
          <p:cNvPr id="8" name="Text 4"/>
          <p:cNvSpPr txBox="1"/>
          <p:nvPr/>
        </p:nvSpPr>
        <p:spPr>
          <a:xfrm>
            <a:off x="914400" y="3657600"/>
            <a:ext cx="2834640" cy="1828800"/>
          </a:xfrm>
          <a:prstGeom prst="rect">
            <a:avLst/>
          </a:prstGeom>
          <a:noFill/>
          <a:ln/>
        </p:spPr>
        <p:txBody>
          <a:bodyPr wrap="square" lIns="0" tIns="0" rIns="0" bIns="0" rtlCol="0" anchor="t"/>
          <a:lstStyle/>
          <a:p>
            <a:pPr indent="0" marL="0">
              <a:buNone/>
            </a:pPr>
            <a:r>
              <a:rPr lang="en-US" sz="1600" dirty="0">
                <a:solidFill>
                  <a:schemeClr val="accent3"/>
                </a:solidFill>
              </a:rPr>
              <a:t>The principles and evidence behind training that changes behaviour, not just completion rates.</a:t>
            </a:r>
            <a:endParaRPr lang="en-US" sz="1600" dirty="0"/>
          </a:p>
        </p:txBody>
      </p:sp>
      <p:sp>
        <p:nvSpPr>
          <p:cNvPr id="9" name="why card 2"/>
          <p:cNvSpPr/>
          <p:nvPr/>
        </p:nvSpPr>
        <p:spPr>
          <a:xfrm>
            <a:off x="4297680" y="1554480"/>
            <a:ext cx="3566160" cy="4206240"/>
          </a:xfrm>
          <a:prstGeom prst="roundRect">
            <a:avLst>
              <a:gd name="adj" fmla="val 2051"/>
            </a:avLst>
          </a:prstGeom>
          <a:solidFill>
            <a:schemeClr val="bg2"/>
          </a:solidFill>
          <a:ln w="12700">
            <a:solidFill>
              <a:schemeClr val="bg2"/>
            </a:solidFill>
            <a:prstDash val="solid"/>
          </a:ln>
        </p:spPr>
      </p:sp>
      <p:sp>
        <p:nvSpPr>
          <p:cNvPr id="10" name="How we ramp icon circle"/>
          <p:cNvSpPr/>
          <p:nvPr/>
        </p:nvSpPr>
        <p:spPr>
          <a:xfrm>
            <a:off x="4663440" y="1920240"/>
            <a:ext cx="822960" cy="822960"/>
          </a:xfrm>
          <a:prstGeom prst="ellipse">
            <a:avLst/>
          </a:prstGeom>
          <a:solidFill>
            <a:schemeClr val="accent1"/>
          </a:solidFill>
          <a:ln w="12700">
            <a:solidFill>
              <a:schemeClr val="accent1"/>
            </a:solidFill>
            <a:prstDash val="solid"/>
          </a:ln>
        </p:spPr>
      </p:sp>
      <p:pic>
        <p:nvPicPr>
          <p:cNvPr id="11" name="How we ramp icon" descr="How we ramp icon">    </p:cNvPr>
          <p:cNvPicPr>
            <a:picLocks noChangeAspect="1"/>
          </p:cNvPicPr>
          <p:nvPr/>
        </p:nvPicPr>
        <p:blipFill>
          <a:blip r:embed="rId2"/>
          <a:stretch>
            <a:fillRect/>
          </a:stretch>
        </p:blipFill>
        <p:spPr>
          <a:xfrm>
            <a:off x="4869180" y="2125980"/>
            <a:ext cx="411480" cy="411480"/>
          </a:xfrm>
          <a:prstGeom prst="rect">
            <a:avLst/>
          </a:prstGeom>
        </p:spPr>
      </p:pic>
      <p:sp>
        <p:nvSpPr>
          <p:cNvPr id="12" name="Text 7"/>
          <p:cNvSpPr txBox="1"/>
          <p:nvPr/>
        </p:nvSpPr>
        <p:spPr>
          <a:xfrm>
            <a:off x="4663440" y="3017520"/>
            <a:ext cx="2834640" cy="548640"/>
          </a:xfrm>
          <a:prstGeom prst="rect">
            <a:avLst/>
          </a:prstGeom>
          <a:noFill/>
          <a:ln/>
        </p:spPr>
        <p:txBody>
          <a:bodyPr wrap="square" lIns="0" tIns="0" rIns="0" bIns="0" rtlCol="0" anchor="t"/>
          <a:lstStyle/>
          <a:p>
            <a:pPr indent="0" marL="0">
              <a:buNone/>
            </a:pPr>
            <a:r>
              <a:rPr lang="en-US" sz="2200" b="1" dirty="0">
                <a:solidFill>
                  <a:schemeClr val="tx1"/>
                </a:solidFill>
              </a:rPr>
              <a:t>How we ramp</a:t>
            </a:r>
            <a:endParaRPr lang="en-US" sz="2200" dirty="0"/>
          </a:p>
        </p:txBody>
      </p:sp>
      <p:sp>
        <p:nvSpPr>
          <p:cNvPr id="13" name="Text 8"/>
          <p:cNvSpPr txBox="1"/>
          <p:nvPr/>
        </p:nvSpPr>
        <p:spPr>
          <a:xfrm>
            <a:off x="4663440" y="3657600"/>
            <a:ext cx="2834640" cy="1828800"/>
          </a:xfrm>
          <a:prstGeom prst="rect">
            <a:avLst/>
          </a:prstGeom>
          <a:noFill/>
          <a:ln/>
        </p:spPr>
        <p:txBody>
          <a:bodyPr wrap="square" lIns="0" tIns="0" rIns="0" bIns="0" rtlCol="0" anchor="t"/>
          <a:lstStyle/>
          <a:p>
            <a:pPr indent="0" marL="0">
              <a:buNone/>
            </a:pPr>
            <a:r>
              <a:rPr lang="en-US" sz="1600" dirty="0">
                <a:solidFill>
                  <a:schemeClr val="accent3"/>
                </a:solidFill>
              </a:rPr>
              <a:t>A milestone-based ramp model with role-specific 30/60/90 plans for BDR, AE, AM and SE.</a:t>
            </a:r>
            <a:endParaRPr lang="en-US" sz="1600" dirty="0"/>
          </a:p>
        </p:txBody>
      </p:sp>
      <p:sp>
        <p:nvSpPr>
          <p:cNvPr id="14" name="why card 3"/>
          <p:cNvSpPr/>
          <p:nvPr/>
        </p:nvSpPr>
        <p:spPr>
          <a:xfrm>
            <a:off x="8046720" y="1554480"/>
            <a:ext cx="3566160" cy="4206240"/>
          </a:xfrm>
          <a:prstGeom prst="roundRect">
            <a:avLst>
              <a:gd name="adj" fmla="val 2051"/>
            </a:avLst>
          </a:prstGeom>
          <a:solidFill>
            <a:schemeClr val="bg2"/>
          </a:solidFill>
          <a:ln w="12700">
            <a:solidFill>
              <a:schemeClr val="bg2"/>
            </a:solidFill>
            <a:prstDash val="solid"/>
          </a:ln>
        </p:spPr>
      </p:sp>
      <p:sp>
        <p:nvSpPr>
          <p:cNvPr id="15" name="How we prove it icon circle"/>
          <p:cNvSpPr/>
          <p:nvPr/>
        </p:nvSpPr>
        <p:spPr>
          <a:xfrm>
            <a:off x="8412480" y="1920240"/>
            <a:ext cx="822960" cy="822960"/>
          </a:xfrm>
          <a:prstGeom prst="ellipse">
            <a:avLst/>
          </a:prstGeom>
          <a:solidFill>
            <a:schemeClr val="accent1"/>
          </a:solidFill>
          <a:ln w="12700">
            <a:solidFill>
              <a:schemeClr val="accent1"/>
            </a:solidFill>
            <a:prstDash val="solid"/>
          </a:ln>
        </p:spPr>
      </p:sp>
      <p:pic>
        <p:nvPicPr>
          <p:cNvPr id="16" name="How we prove it icon" descr="How we prove it icon">    </p:cNvPr>
          <p:cNvPicPr>
            <a:picLocks noChangeAspect="1"/>
          </p:cNvPicPr>
          <p:nvPr/>
        </p:nvPicPr>
        <p:blipFill>
          <a:blip r:embed="rId3"/>
          <a:stretch>
            <a:fillRect/>
          </a:stretch>
        </p:blipFill>
        <p:spPr>
          <a:xfrm>
            <a:off x="8618220" y="2125980"/>
            <a:ext cx="411480" cy="411480"/>
          </a:xfrm>
          <a:prstGeom prst="rect">
            <a:avLst/>
          </a:prstGeom>
        </p:spPr>
      </p:pic>
      <p:sp>
        <p:nvSpPr>
          <p:cNvPr id="17" name="Text 11"/>
          <p:cNvSpPr txBox="1"/>
          <p:nvPr/>
        </p:nvSpPr>
        <p:spPr>
          <a:xfrm>
            <a:off x="8412480" y="3017520"/>
            <a:ext cx="2834640" cy="548640"/>
          </a:xfrm>
          <a:prstGeom prst="rect">
            <a:avLst/>
          </a:prstGeom>
          <a:noFill/>
          <a:ln/>
        </p:spPr>
        <p:txBody>
          <a:bodyPr wrap="square" lIns="0" tIns="0" rIns="0" bIns="0" rtlCol="0" anchor="t"/>
          <a:lstStyle/>
          <a:p>
            <a:pPr indent="0" marL="0">
              <a:buNone/>
            </a:pPr>
            <a:r>
              <a:rPr lang="en-US" sz="2200" b="1" dirty="0">
                <a:solidFill>
                  <a:schemeClr val="tx1"/>
                </a:solidFill>
              </a:rPr>
              <a:t>How we prove it</a:t>
            </a:r>
            <a:endParaRPr lang="en-US" sz="2200" dirty="0"/>
          </a:p>
        </p:txBody>
      </p:sp>
      <p:sp>
        <p:nvSpPr>
          <p:cNvPr id="18" name="Text 12"/>
          <p:cNvSpPr txBox="1"/>
          <p:nvPr/>
        </p:nvSpPr>
        <p:spPr>
          <a:xfrm>
            <a:off x="8412480" y="3657600"/>
            <a:ext cx="2834640" cy="1828800"/>
          </a:xfrm>
          <a:prstGeom prst="rect">
            <a:avLst/>
          </a:prstGeom>
          <a:noFill/>
          <a:ln/>
        </p:spPr>
        <p:txBody>
          <a:bodyPr wrap="square" lIns="0" tIns="0" rIns="0" bIns="0" rtlCol="0" anchor="t"/>
          <a:lstStyle/>
          <a:p>
            <a:pPr indent="0" marL="0">
              <a:buNone/>
            </a:pPr>
            <a:r>
              <a:rPr lang="en-US" sz="1600" dirty="0">
                <a:solidFill>
                  <a:schemeClr val="accent3"/>
                </a:solidFill>
              </a:rPr>
              <a:t>Leading and lagging metrics tied to the charter's impact dashboard, starting from a baseline.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lIns="0" tIns="0" rIns="0" bIns="0" rtlCol="0" anchor="ctr"/>
          <a:lstStyle/>
          <a:p>
            <a:pPr algn="l" indent="0" marL="0">
              <a:buNone/>
            </a:pPr>
            <a:r>
              <a:rPr lang="en-US" sz="4000" b="1" dirty="0">
                <a:solidFill>
                  <a:schemeClr val="bg1"/>
                </a:solidFill>
              </a:rPr>
              <a:t>Part 1: How adults learn</a:t>
            </a:r>
            <a:endParaRPr lang="en-US" sz="4000" dirty="0"/>
          </a:p>
        </p:txBody>
      </p:sp>
      <p:sp>
        <p:nvSpPr>
          <p:cNvPr id="3" name="Text 0"/>
          <p:cNvSpPr/>
          <p:nvPr>
            <p:ph idx="101" type="body" hasCustomPrompt="1"/>
          </p:nvPr>
        </p:nvSpPr>
        <p:spPr>
          <a:xfrm>
            <a:off x="731520" y="3840480"/>
            <a:ext cx="9601200" cy="1097280"/>
          </a:xfrm>
          <a:prstGeom prst="rect">
            <a:avLst/>
          </a:prstGeom>
          <a:noFill/>
          <a:ln/>
        </p:spPr>
        <p:txBody>
          <a:bodyPr wrap="square" lIns="0" tIns="0" rIns="0" bIns="0" rtlCol="0" anchor="t"/>
          <a:lstStyle/>
          <a:p>
            <a:pPr algn="l" indent="0" marL="0">
              <a:buNone/>
            </a:pPr>
            <a:r>
              <a:rPr lang="en-US" sz="1800" dirty="0">
                <a:solidFill>
                  <a:schemeClr val="accent6"/>
                </a:solidFill>
              </a:rPr>
              <a:t>Andragogy, learning science and the frameworks we design and measure against</a:t>
            </a:r>
            <a:endParaRPr lang="en-US" sz="1800" dirty="0"/>
          </a:p>
        </p:txBody>
      </p:sp>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Knowles' andragogy: how adults learn</a:t>
            </a:r>
            <a:endParaRPr lang="en-US" sz="3200" dirty="0"/>
          </a:p>
        </p:txBody>
      </p:sp>
      <p:sp>
        <p:nvSpPr>
          <p:cNvPr id="4" name="Knowles card 1"/>
          <p:cNvSpPr/>
          <p:nvPr/>
        </p:nvSpPr>
        <p:spPr>
          <a:xfrm>
            <a:off x="548640" y="1417320"/>
            <a:ext cx="3566160" cy="2240280"/>
          </a:xfrm>
          <a:prstGeom prst="roundRect">
            <a:avLst>
              <a:gd name="adj" fmla="val 3265"/>
            </a:avLst>
          </a:prstGeom>
          <a:solidFill>
            <a:schemeClr val="bg2"/>
          </a:solidFill>
          <a:ln w="12700">
            <a:solidFill>
              <a:schemeClr val="bg2"/>
            </a:solidFill>
            <a:prstDash val="solid"/>
          </a:ln>
        </p:spPr>
      </p:sp>
      <p:sp>
        <p:nvSpPr>
          <p:cNvPr id="5" name="number 1"/>
          <p:cNvSpPr txBox="1"/>
          <p:nvPr/>
        </p:nvSpPr>
        <p:spPr>
          <a:xfrm>
            <a:off x="822960" y="16916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1508760" y="169164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Need to know</a:t>
            </a:r>
            <a:endParaRPr lang="en-US" sz="1800" dirty="0"/>
          </a:p>
        </p:txBody>
      </p:sp>
      <p:sp>
        <p:nvSpPr>
          <p:cNvPr id="7" name="Text 4"/>
          <p:cNvSpPr txBox="1"/>
          <p:nvPr/>
        </p:nvSpPr>
        <p:spPr>
          <a:xfrm>
            <a:off x="822960" y="237744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They want the why before the what.</a:t>
            </a:r>
            <a:endParaRPr lang="en-US" sz="1300" dirty="0"/>
          </a:p>
        </p:txBody>
      </p:sp>
      <p:sp>
        <p:nvSpPr>
          <p:cNvPr id="8" name="Text 5"/>
          <p:cNvSpPr txBox="1"/>
          <p:nvPr/>
        </p:nvSpPr>
        <p:spPr>
          <a:xfrm>
            <a:off x="822960" y="288036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Open every module with the link to revenue.</a:t>
            </a:r>
            <a:endParaRPr lang="en-US" sz="1300" dirty="0"/>
          </a:p>
        </p:txBody>
      </p:sp>
      <p:sp>
        <p:nvSpPr>
          <p:cNvPr id="9" name="Knowles card 2"/>
          <p:cNvSpPr/>
          <p:nvPr/>
        </p:nvSpPr>
        <p:spPr>
          <a:xfrm>
            <a:off x="4297680" y="1417320"/>
            <a:ext cx="3566160" cy="2240280"/>
          </a:xfrm>
          <a:prstGeom prst="roundRect">
            <a:avLst>
              <a:gd name="adj" fmla="val 3265"/>
            </a:avLst>
          </a:prstGeom>
          <a:solidFill>
            <a:schemeClr val="bg2"/>
          </a:solidFill>
          <a:ln w="12700">
            <a:solidFill>
              <a:schemeClr val="bg2"/>
            </a:solidFill>
            <a:prstDash val="solid"/>
          </a:ln>
        </p:spPr>
      </p:sp>
      <p:sp>
        <p:nvSpPr>
          <p:cNvPr id="10" name="number 2"/>
          <p:cNvSpPr txBox="1"/>
          <p:nvPr/>
        </p:nvSpPr>
        <p:spPr>
          <a:xfrm>
            <a:off x="4572000" y="16916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5257800" y="169164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Self-concept</a:t>
            </a:r>
            <a:endParaRPr lang="en-US" sz="1800" dirty="0"/>
          </a:p>
        </p:txBody>
      </p:sp>
      <p:sp>
        <p:nvSpPr>
          <p:cNvPr id="12" name="Text 9"/>
          <p:cNvSpPr txBox="1"/>
          <p:nvPr/>
        </p:nvSpPr>
        <p:spPr>
          <a:xfrm>
            <a:off x="4572000" y="237744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They expect to direct their own learning.</a:t>
            </a:r>
            <a:endParaRPr lang="en-US" sz="1300" dirty="0"/>
          </a:p>
        </p:txBody>
      </p:sp>
      <p:sp>
        <p:nvSpPr>
          <p:cNvPr id="13" name="Text 10"/>
          <p:cNvSpPr txBox="1"/>
          <p:nvPr/>
        </p:nvSpPr>
        <p:spPr>
          <a:xfrm>
            <a:off x="4572000" y="288036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Self-serve paths; let experienced hires test out.</a:t>
            </a:r>
            <a:endParaRPr lang="en-US" sz="1300" dirty="0"/>
          </a:p>
        </p:txBody>
      </p:sp>
      <p:sp>
        <p:nvSpPr>
          <p:cNvPr id="14" name="Knowles card 3"/>
          <p:cNvSpPr/>
          <p:nvPr/>
        </p:nvSpPr>
        <p:spPr>
          <a:xfrm>
            <a:off x="8046720" y="1417320"/>
            <a:ext cx="3566160" cy="2240280"/>
          </a:xfrm>
          <a:prstGeom prst="roundRect">
            <a:avLst>
              <a:gd name="adj" fmla="val 3265"/>
            </a:avLst>
          </a:prstGeom>
          <a:solidFill>
            <a:schemeClr val="bg2"/>
          </a:solidFill>
          <a:ln w="12700">
            <a:solidFill>
              <a:schemeClr val="bg2"/>
            </a:solidFill>
            <a:prstDash val="solid"/>
          </a:ln>
        </p:spPr>
      </p:sp>
      <p:sp>
        <p:nvSpPr>
          <p:cNvPr id="15" name="number 3"/>
          <p:cNvSpPr txBox="1"/>
          <p:nvPr/>
        </p:nvSpPr>
        <p:spPr>
          <a:xfrm>
            <a:off x="8321040" y="16916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9006840" y="169164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Experience</a:t>
            </a:r>
            <a:endParaRPr lang="en-US" sz="1800" dirty="0"/>
          </a:p>
        </p:txBody>
      </p:sp>
      <p:sp>
        <p:nvSpPr>
          <p:cNvPr id="17" name="Text 14"/>
          <p:cNvSpPr txBox="1"/>
          <p:nvPr/>
        </p:nvSpPr>
        <p:spPr>
          <a:xfrm>
            <a:off x="8321040" y="237744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They bring habits to build on or unlearn.</a:t>
            </a:r>
            <a:endParaRPr lang="en-US" sz="1300" dirty="0"/>
          </a:p>
        </p:txBody>
      </p:sp>
      <p:sp>
        <p:nvSpPr>
          <p:cNvPr id="18" name="Text 15"/>
          <p:cNvSpPr txBox="1"/>
          <p:nvPr/>
        </p:nvSpPr>
        <p:spPr>
          <a:xfrm>
            <a:off x="8321040" y="288036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Day-1 diagnostics; peer-led sessions and deal stories.</a:t>
            </a:r>
            <a:endParaRPr lang="en-US" sz="1300" dirty="0"/>
          </a:p>
        </p:txBody>
      </p:sp>
      <p:sp>
        <p:nvSpPr>
          <p:cNvPr id="19" name="Knowles card 4"/>
          <p:cNvSpPr/>
          <p:nvPr/>
        </p:nvSpPr>
        <p:spPr>
          <a:xfrm>
            <a:off x="548640" y="3840480"/>
            <a:ext cx="3566160" cy="2240280"/>
          </a:xfrm>
          <a:prstGeom prst="roundRect">
            <a:avLst>
              <a:gd name="adj" fmla="val 3265"/>
            </a:avLst>
          </a:prstGeom>
          <a:solidFill>
            <a:schemeClr val="bg2"/>
          </a:solidFill>
          <a:ln w="12700">
            <a:solidFill>
              <a:schemeClr val="bg2"/>
            </a:solidFill>
            <a:prstDash val="solid"/>
          </a:ln>
        </p:spPr>
      </p:sp>
      <p:sp>
        <p:nvSpPr>
          <p:cNvPr id="20" name="number 4"/>
          <p:cNvSpPr txBox="1"/>
          <p:nvPr/>
        </p:nvSpPr>
        <p:spPr>
          <a:xfrm>
            <a:off x="822960" y="411480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8"/>
          <p:cNvSpPr txBox="1"/>
          <p:nvPr/>
        </p:nvSpPr>
        <p:spPr>
          <a:xfrm>
            <a:off x="1508760" y="411480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Readiness</a:t>
            </a:r>
            <a:endParaRPr lang="en-US" sz="1800" dirty="0"/>
          </a:p>
        </p:txBody>
      </p:sp>
      <p:sp>
        <p:nvSpPr>
          <p:cNvPr id="22" name="Text 19"/>
          <p:cNvSpPr txBox="1"/>
          <p:nvPr/>
        </p:nvSpPr>
        <p:spPr>
          <a:xfrm>
            <a:off x="822960" y="480060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They learn when the job needs it now.</a:t>
            </a:r>
            <a:endParaRPr lang="en-US" sz="1300" dirty="0"/>
          </a:p>
        </p:txBody>
      </p:sp>
      <p:sp>
        <p:nvSpPr>
          <p:cNvPr id="23" name="Text 20"/>
          <p:cNvSpPr txBox="1"/>
          <p:nvPr/>
        </p:nvSpPr>
        <p:spPr>
          <a:xfrm>
            <a:off x="822960" y="530352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Sequence to the job: prospecting before negotiation.</a:t>
            </a:r>
            <a:endParaRPr lang="en-US" sz="1300" dirty="0"/>
          </a:p>
        </p:txBody>
      </p:sp>
      <p:sp>
        <p:nvSpPr>
          <p:cNvPr id="24" name="Knowles card 5"/>
          <p:cNvSpPr/>
          <p:nvPr/>
        </p:nvSpPr>
        <p:spPr>
          <a:xfrm>
            <a:off x="4297680" y="3840480"/>
            <a:ext cx="3566160" cy="2240280"/>
          </a:xfrm>
          <a:prstGeom prst="roundRect">
            <a:avLst>
              <a:gd name="adj" fmla="val 3265"/>
            </a:avLst>
          </a:prstGeom>
          <a:solidFill>
            <a:schemeClr val="bg2"/>
          </a:solidFill>
          <a:ln w="12700">
            <a:solidFill>
              <a:schemeClr val="bg2"/>
            </a:solidFill>
            <a:prstDash val="solid"/>
          </a:ln>
        </p:spPr>
      </p:sp>
      <p:sp>
        <p:nvSpPr>
          <p:cNvPr id="25" name="number 5"/>
          <p:cNvSpPr txBox="1"/>
          <p:nvPr/>
        </p:nvSpPr>
        <p:spPr>
          <a:xfrm>
            <a:off x="4572000" y="411480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3"/>
          <p:cNvSpPr txBox="1"/>
          <p:nvPr/>
        </p:nvSpPr>
        <p:spPr>
          <a:xfrm>
            <a:off x="5257800" y="411480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Problem-centred</a:t>
            </a:r>
            <a:endParaRPr lang="en-US" sz="1800" dirty="0"/>
          </a:p>
        </p:txBody>
      </p:sp>
      <p:sp>
        <p:nvSpPr>
          <p:cNvPr id="27" name="Text 24"/>
          <p:cNvSpPr txBox="1"/>
          <p:nvPr/>
        </p:nvSpPr>
        <p:spPr>
          <a:xfrm>
            <a:off x="4572000" y="480060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They learn by solving problems, not topics.</a:t>
            </a:r>
            <a:endParaRPr lang="en-US" sz="1300" dirty="0"/>
          </a:p>
        </p:txBody>
      </p:sp>
      <p:sp>
        <p:nvSpPr>
          <p:cNvPr id="28" name="Text 25"/>
          <p:cNvSpPr txBox="1"/>
          <p:nvPr/>
        </p:nvSpPr>
        <p:spPr>
          <a:xfrm>
            <a:off x="4572000" y="530352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Build around situations, e.g. low auth rates in LATAM.</a:t>
            </a:r>
            <a:endParaRPr lang="en-US" sz="1300" dirty="0"/>
          </a:p>
        </p:txBody>
      </p:sp>
      <p:sp>
        <p:nvSpPr>
          <p:cNvPr id="29" name="Knowles card 6"/>
          <p:cNvSpPr/>
          <p:nvPr/>
        </p:nvSpPr>
        <p:spPr>
          <a:xfrm>
            <a:off x="8046720" y="3840480"/>
            <a:ext cx="3566160" cy="2240280"/>
          </a:xfrm>
          <a:prstGeom prst="roundRect">
            <a:avLst>
              <a:gd name="adj" fmla="val 3265"/>
            </a:avLst>
          </a:prstGeom>
          <a:solidFill>
            <a:schemeClr val="bg2"/>
          </a:solidFill>
          <a:ln w="12700">
            <a:solidFill>
              <a:schemeClr val="bg2"/>
            </a:solidFill>
            <a:prstDash val="solid"/>
          </a:ln>
        </p:spPr>
      </p:sp>
      <p:sp>
        <p:nvSpPr>
          <p:cNvPr id="30" name="number 6"/>
          <p:cNvSpPr txBox="1"/>
          <p:nvPr/>
        </p:nvSpPr>
        <p:spPr>
          <a:xfrm>
            <a:off x="8321040" y="411480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 28"/>
          <p:cNvSpPr txBox="1"/>
          <p:nvPr/>
        </p:nvSpPr>
        <p:spPr>
          <a:xfrm>
            <a:off x="9006840" y="411480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Internal motivation</a:t>
            </a:r>
            <a:endParaRPr lang="en-US" sz="1800" dirty="0"/>
          </a:p>
        </p:txBody>
      </p:sp>
      <p:sp>
        <p:nvSpPr>
          <p:cNvPr id="32" name="Text 29"/>
          <p:cNvSpPr txBox="1"/>
          <p:nvPr/>
        </p:nvSpPr>
        <p:spPr>
          <a:xfrm>
            <a:off x="8321040" y="480060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Competence, status and autonomy beat compliance.</a:t>
            </a:r>
            <a:endParaRPr lang="en-US" sz="1300" dirty="0"/>
          </a:p>
        </p:txBody>
      </p:sp>
      <p:sp>
        <p:nvSpPr>
          <p:cNvPr id="33" name="Text 30"/>
          <p:cNvSpPr txBox="1"/>
          <p:nvPr/>
        </p:nvSpPr>
        <p:spPr>
          <a:xfrm>
            <a:off x="8321040" y="530352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Certifications, recognition, link to commission.</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forgetting curve: one training event isn't enough</a:t>
            </a:r>
            <a:endParaRPr lang="en-US" sz="3200" dirty="0"/>
          </a:p>
        </p:txBody>
      </p:sp>
      <p:sp>
        <p:nvSpPr>
          <p:cNvPr id="4" name="Text 1"/>
          <p:cNvSpPr txBox="1"/>
          <p:nvPr/>
        </p:nvSpPr>
        <p:spPr>
          <a:xfrm>
            <a:off x="548640" y="1554480"/>
            <a:ext cx="3931920" cy="4114800"/>
          </a:xfrm>
          <a:prstGeom prst="rect">
            <a:avLst/>
          </a:prstGeom>
          <a:noFill/>
          <a:ln/>
        </p:spPr>
        <p:txBody>
          <a:bodyPr wrap="square" lIns="0" tIns="0" rIns="0" bIns="0" rtlCol="0" anchor="t"/>
          <a:lstStyle/>
          <a:p>
            <a:pPr indent="0" marL="0">
              <a:buNone/>
            </a:pPr>
            <a:r>
              <a:rPr lang="en-US" sz="2000" b="1" dirty="0">
                <a:solidFill>
                  <a:schemeClr val="tx1"/>
                </a:solidFill>
              </a:rPr>
              <a:t>Without reinforcement, most new information is gone within days to weeks.</a:t>
            </a:r>
            <a:endParaRPr lang="en-US" sz="2000" dirty="0"/>
          </a:p>
          <a:p>
            <a:pPr indent="0" marL="0">
              <a:buNone/>
            </a:pPr>
            <a:r>
              <a:rPr lang="en-US" sz="1000" dirty="0">
                <a:solidFill>
                  <a:srgbClr val="000000"/>
                </a:solidFill>
              </a:rPr>
              <a:t> </a:t>
            </a:r>
            <a:endParaRPr lang="en-US" sz="2000" dirty="0"/>
          </a:p>
          <a:p>
            <a:pPr indent="0" marL="0">
              <a:buNone/>
            </a:pPr>
            <a:r>
              <a:rPr lang="en-US" sz="1600" dirty="0">
                <a:solidFill>
                  <a:schemeClr val="accent3"/>
                </a:solidFill>
              </a:rPr>
              <a:t>Spaced repetition: learning spread over time beats cramming for long-term retention.</a:t>
            </a:r>
            <a:endParaRPr lang="en-US" sz="2000" dirty="0"/>
          </a:p>
          <a:p>
            <a:pPr indent="0" marL="0">
              <a:buNone/>
            </a:pPr>
            <a:r>
              <a:rPr lang="en-US" sz="1000" dirty="0">
                <a:solidFill>
                  <a:srgbClr val="000000"/>
                </a:solidFill>
              </a:rPr>
              <a:t> </a:t>
            </a:r>
            <a:endParaRPr lang="en-US" sz="2000" dirty="0"/>
          </a:p>
          <a:p>
            <a:pPr indent="0" marL="0">
              <a:buNone/>
            </a:pPr>
            <a:r>
              <a:rPr lang="en-US" sz="1600" dirty="0">
                <a:solidFill>
                  <a:schemeClr val="accent3"/>
                </a:solidFill>
              </a:rPr>
              <a:t>Spread payments fundamentals across 6–8 weeks instead of a firehose week 1.</a:t>
            </a:r>
            <a:endParaRPr lang="en-US" sz="2000" dirty="0"/>
          </a:p>
        </p:txBody>
      </p:sp>
      <p:sp>
        <p:nvSpPr>
          <p:cNvPr id="5" name="timeline card"/>
          <p:cNvSpPr/>
          <p:nvPr/>
        </p:nvSpPr>
        <p:spPr>
          <a:xfrm>
            <a:off x="4754880" y="1554480"/>
            <a:ext cx="6858000" cy="4206240"/>
          </a:xfrm>
          <a:prstGeom prst="roundRect">
            <a:avLst>
              <a:gd name="adj" fmla="val 1739"/>
            </a:avLst>
          </a:prstGeom>
          <a:solidFill>
            <a:schemeClr val="bg2"/>
          </a:solidFill>
          <a:ln w="12700">
            <a:solidFill>
              <a:schemeClr val="bg2"/>
            </a:solidFill>
            <a:prstDash val="solid"/>
          </a:ln>
        </p:spPr>
      </p:sp>
      <p:sp>
        <p:nvSpPr>
          <p:cNvPr id="6" name="Text 3"/>
          <p:cNvSpPr txBox="1"/>
          <p:nvPr/>
        </p:nvSpPr>
        <p:spPr>
          <a:xfrm>
            <a:off x="5120640" y="1783080"/>
            <a:ext cx="5943600" cy="365760"/>
          </a:xfrm>
          <a:prstGeom prst="rect">
            <a:avLst/>
          </a:prstGeom>
          <a:noFill/>
          <a:ln/>
        </p:spPr>
        <p:txBody>
          <a:bodyPr wrap="square" lIns="0" tIns="0" rIns="0" bIns="0" rtlCol="0" anchor="t"/>
          <a:lstStyle/>
          <a:p>
            <a:pPr indent="0" marL="0">
              <a:buNone/>
            </a:pPr>
            <a:r>
              <a:rPr lang="en-US" sz="1600" b="1" dirty="0">
                <a:solidFill>
                  <a:schemeClr val="tx1"/>
                </a:solidFill>
              </a:rPr>
              <a:t>Default reinforcement cadence</a:t>
            </a:r>
            <a:endParaRPr lang="en-US" sz="1600" dirty="0"/>
          </a:p>
        </p:txBody>
      </p:sp>
      <p:sp>
        <p:nvSpPr>
          <p:cNvPr id="7" name="timeline line"/>
          <p:cNvSpPr/>
          <p:nvPr/>
        </p:nvSpPr>
        <p:spPr>
          <a:xfrm>
            <a:off x="5303520" y="3703320"/>
            <a:ext cx="5760720" cy="0"/>
          </a:xfrm>
          <a:prstGeom prst="line">
            <a:avLst/>
          </a:prstGeom>
          <a:noFill/>
          <a:ln w="25400">
            <a:solidFill>
              <a:schemeClr val="accent3"/>
            </a:solidFill>
            <a:prstDash val="solid"/>
          </a:ln>
        </p:spPr>
      </p:sp>
      <p:sp>
        <p:nvSpPr>
          <p:cNvPr id="8" name="timeline dot 1"/>
          <p:cNvSpPr/>
          <p:nvPr/>
        </p:nvSpPr>
        <p:spPr>
          <a:xfrm>
            <a:off x="5120640" y="3520440"/>
            <a:ext cx="365760" cy="365760"/>
          </a:xfrm>
          <a:prstGeom prst="ellipse">
            <a:avLst/>
          </a:prstGeom>
          <a:solidFill>
            <a:schemeClr val="accent2"/>
          </a:solidFill>
          <a:ln w="25400">
            <a:solidFill>
              <a:schemeClr val="bg1"/>
            </a:solidFill>
            <a:prstDash val="solid"/>
          </a:ln>
        </p:spPr>
      </p:sp>
      <p:sp>
        <p:nvSpPr>
          <p:cNvPr id="9" name="Text 6"/>
          <p:cNvSpPr txBox="1"/>
          <p:nvPr/>
        </p:nvSpPr>
        <p:spPr>
          <a:xfrm>
            <a:off x="4663440" y="2971800"/>
            <a:ext cx="1280160" cy="365760"/>
          </a:xfrm>
          <a:prstGeom prst="rect">
            <a:avLst/>
          </a:prstGeom>
          <a:noFill/>
          <a:ln/>
        </p:spPr>
        <p:txBody>
          <a:bodyPr wrap="square" lIns="0" tIns="0" rIns="0" bIns="0" rtlCol="0" anchor="t"/>
          <a:lstStyle/>
          <a:p>
            <a:pPr algn="ctr" indent="0" marL="0">
              <a:buNone/>
            </a:pPr>
            <a:r>
              <a:rPr lang="en-US" sz="1400" b="1" dirty="0">
                <a:solidFill>
                  <a:schemeClr val="tx1"/>
                </a:solidFill>
              </a:rPr>
              <a:t>Day 0</a:t>
            </a:r>
            <a:endParaRPr lang="en-US" sz="1400" dirty="0"/>
          </a:p>
        </p:txBody>
      </p:sp>
      <p:sp>
        <p:nvSpPr>
          <p:cNvPr id="10" name="Text 7"/>
          <p:cNvSpPr txBox="1"/>
          <p:nvPr/>
        </p:nvSpPr>
        <p:spPr>
          <a:xfrm>
            <a:off x="4663440" y="4069080"/>
            <a:ext cx="1280160" cy="365760"/>
          </a:xfrm>
          <a:prstGeom prst="rect">
            <a:avLst/>
          </a:prstGeom>
          <a:noFill/>
          <a:ln/>
        </p:spPr>
        <p:txBody>
          <a:bodyPr wrap="square" lIns="0" tIns="0" rIns="0" bIns="0" rtlCol="0" anchor="t"/>
          <a:lstStyle/>
          <a:p>
            <a:pPr algn="ctr" indent="0" marL="0">
              <a:buNone/>
            </a:pPr>
            <a:r>
              <a:rPr lang="en-US" sz="1500" b="1" dirty="0">
                <a:solidFill>
                  <a:schemeClr val="accent1"/>
                </a:solidFill>
              </a:rPr>
              <a:t>Train</a:t>
            </a:r>
            <a:endParaRPr lang="en-US" sz="1500" dirty="0"/>
          </a:p>
        </p:txBody>
      </p:sp>
      <p:sp>
        <p:nvSpPr>
          <p:cNvPr id="11" name="Text 8"/>
          <p:cNvSpPr txBox="1"/>
          <p:nvPr/>
        </p:nvSpPr>
        <p:spPr>
          <a:xfrm>
            <a:off x="4663440" y="4480560"/>
            <a:ext cx="1280160" cy="731520"/>
          </a:xfrm>
          <a:prstGeom prst="rect">
            <a:avLst/>
          </a:prstGeom>
          <a:noFill/>
          <a:ln/>
        </p:spPr>
        <p:txBody>
          <a:bodyPr wrap="square" lIns="0" tIns="0" rIns="0" bIns="0" rtlCol="0" anchor="t"/>
          <a:lstStyle/>
          <a:p>
            <a:pPr algn="ctr" indent="0" marL="0">
              <a:buNone/>
            </a:pPr>
            <a:r>
              <a:rPr lang="en-US" sz="1200" dirty="0">
                <a:solidFill>
                  <a:schemeClr val="accent3"/>
                </a:solidFill>
              </a:rPr>
              <a:t>Core session or module</a:t>
            </a:r>
            <a:endParaRPr lang="en-US" sz="1200" dirty="0"/>
          </a:p>
        </p:txBody>
      </p:sp>
      <p:sp>
        <p:nvSpPr>
          <p:cNvPr id="12" name="timeline dot 2"/>
          <p:cNvSpPr/>
          <p:nvPr/>
        </p:nvSpPr>
        <p:spPr>
          <a:xfrm>
            <a:off x="6560820" y="3520440"/>
            <a:ext cx="365760" cy="365760"/>
          </a:xfrm>
          <a:prstGeom prst="ellipse">
            <a:avLst/>
          </a:prstGeom>
          <a:solidFill>
            <a:schemeClr val="accent1"/>
          </a:solidFill>
          <a:ln w="25400">
            <a:solidFill>
              <a:schemeClr val="bg1"/>
            </a:solidFill>
            <a:prstDash val="solid"/>
          </a:ln>
        </p:spPr>
      </p:sp>
      <p:sp>
        <p:nvSpPr>
          <p:cNvPr id="13" name="Text 10"/>
          <p:cNvSpPr txBox="1"/>
          <p:nvPr/>
        </p:nvSpPr>
        <p:spPr>
          <a:xfrm>
            <a:off x="6103620" y="2971800"/>
            <a:ext cx="1280160" cy="365760"/>
          </a:xfrm>
          <a:prstGeom prst="rect">
            <a:avLst/>
          </a:prstGeom>
          <a:noFill/>
          <a:ln/>
        </p:spPr>
        <p:txBody>
          <a:bodyPr wrap="square" lIns="0" tIns="0" rIns="0" bIns="0" rtlCol="0" anchor="t"/>
          <a:lstStyle/>
          <a:p>
            <a:pPr algn="ctr" indent="0" marL="0">
              <a:buNone/>
            </a:pPr>
            <a:r>
              <a:rPr lang="en-US" sz="1400" b="1" dirty="0">
                <a:solidFill>
                  <a:schemeClr val="tx1"/>
                </a:solidFill>
              </a:rPr>
              <a:t>Day 2</a:t>
            </a:r>
            <a:endParaRPr lang="en-US" sz="1400" dirty="0"/>
          </a:p>
        </p:txBody>
      </p:sp>
      <p:sp>
        <p:nvSpPr>
          <p:cNvPr id="14" name="Text 11"/>
          <p:cNvSpPr txBox="1"/>
          <p:nvPr/>
        </p:nvSpPr>
        <p:spPr>
          <a:xfrm>
            <a:off x="6103620" y="4069080"/>
            <a:ext cx="1280160" cy="365760"/>
          </a:xfrm>
          <a:prstGeom prst="rect">
            <a:avLst/>
          </a:prstGeom>
          <a:noFill/>
          <a:ln/>
        </p:spPr>
        <p:txBody>
          <a:bodyPr wrap="square" lIns="0" tIns="0" rIns="0" bIns="0" rtlCol="0" anchor="t"/>
          <a:lstStyle/>
          <a:p>
            <a:pPr algn="ctr" indent="0" marL="0">
              <a:buNone/>
            </a:pPr>
            <a:r>
              <a:rPr lang="en-US" sz="1500" b="1" dirty="0">
                <a:solidFill>
                  <a:schemeClr val="accent1"/>
                </a:solidFill>
              </a:rPr>
              <a:t>Recall</a:t>
            </a:r>
            <a:endParaRPr lang="en-US" sz="1500" dirty="0"/>
          </a:p>
        </p:txBody>
      </p:sp>
      <p:sp>
        <p:nvSpPr>
          <p:cNvPr id="15" name="Text 12"/>
          <p:cNvSpPr txBox="1"/>
          <p:nvPr/>
        </p:nvSpPr>
        <p:spPr>
          <a:xfrm>
            <a:off x="6103620" y="4480560"/>
            <a:ext cx="1280160" cy="731520"/>
          </a:xfrm>
          <a:prstGeom prst="rect">
            <a:avLst/>
          </a:prstGeom>
          <a:noFill/>
          <a:ln/>
        </p:spPr>
        <p:txBody>
          <a:bodyPr wrap="square" lIns="0" tIns="0" rIns="0" bIns="0" rtlCol="0" anchor="t"/>
          <a:lstStyle/>
          <a:p>
            <a:pPr algn="ctr" indent="0" marL="0">
              <a:buNone/>
            </a:pPr>
            <a:r>
              <a:rPr lang="en-US" sz="1200" dirty="0">
                <a:solidFill>
                  <a:schemeClr val="accent3"/>
                </a:solidFill>
              </a:rPr>
              <a:t>5-question quiz</a:t>
            </a:r>
            <a:endParaRPr lang="en-US" sz="1200" dirty="0"/>
          </a:p>
        </p:txBody>
      </p:sp>
      <p:sp>
        <p:nvSpPr>
          <p:cNvPr id="16" name="timeline dot 3"/>
          <p:cNvSpPr/>
          <p:nvPr/>
        </p:nvSpPr>
        <p:spPr>
          <a:xfrm>
            <a:off x="8001000" y="3520440"/>
            <a:ext cx="365760" cy="365760"/>
          </a:xfrm>
          <a:prstGeom prst="ellipse">
            <a:avLst/>
          </a:prstGeom>
          <a:solidFill>
            <a:schemeClr val="accent1"/>
          </a:solidFill>
          <a:ln w="25400">
            <a:solidFill>
              <a:schemeClr val="bg1"/>
            </a:solidFill>
            <a:prstDash val="solid"/>
          </a:ln>
        </p:spPr>
      </p:sp>
      <p:sp>
        <p:nvSpPr>
          <p:cNvPr id="17" name="Text 14"/>
          <p:cNvSpPr txBox="1"/>
          <p:nvPr/>
        </p:nvSpPr>
        <p:spPr>
          <a:xfrm>
            <a:off x="7543800" y="2971800"/>
            <a:ext cx="1280160" cy="365760"/>
          </a:xfrm>
          <a:prstGeom prst="rect">
            <a:avLst/>
          </a:prstGeom>
          <a:noFill/>
          <a:ln/>
        </p:spPr>
        <p:txBody>
          <a:bodyPr wrap="square" lIns="0" tIns="0" rIns="0" bIns="0" rtlCol="0" anchor="t"/>
          <a:lstStyle/>
          <a:p>
            <a:pPr algn="ctr" indent="0" marL="0">
              <a:buNone/>
            </a:pPr>
            <a:r>
              <a:rPr lang="en-US" sz="1400" b="1" dirty="0">
                <a:solidFill>
                  <a:schemeClr val="tx1"/>
                </a:solidFill>
              </a:rPr>
              <a:t>Week 1</a:t>
            </a:r>
            <a:endParaRPr lang="en-US" sz="1400" dirty="0"/>
          </a:p>
        </p:txBody>
      </p:sp>
      <p:sp>
        <p:nvSpPr>
          <p:cNvPr id="18" name="Text 15"/>
          <p:cNvSpPr txBox="1"/>
          <p:nvPr/>
        </p:nvSpPr>
        <p:spPr>
          <a:xfrm>
            <a:off x="7543800" y="4069080"/>
            <a:ext cx="1280160" cy="365760"/>
          </a:xfrm>
          <a:prstGeom prst="rect">
            <a:avLst/>
          </a:prstGeom>
          <a:noFill/>
          <a:ln/>
        </p:spPr>
        <p:txBody>
          <a:bodyPr wrap="square" lIns="0" tIns="0" rIns="0" bIns="0" rtlCol="0" anchor="t"/>
          <a:lstStyle/>
          <a:p>
            <a:pPr algn="ctr" indent="0" marL="0">
              <a:buNone/>
            </a:pPr>
            <a:r>
              <a:rPr lang="en-US" sz="1500" b="1" dirty="0">
                <a:solidFill>
                  <a:schemeClr val="accent1"/>
                </a:solidFill>
              </a:rPr>
              <a:t>Apply</a:t>
            </a:r>
            <a:endParaRPr lang="en-US" sz="1500" dirty="0"/>
          </a:p>
        </p:txBody>
      </p:sp>
      <p:sp>
        <p:nvSpPr>
          <p:cNvPr id="19" name="Text 16"/>
          <p:cNvSpPr txBox="1"/>
          <p:nvPr/>
        </p:nvSpPr>
        <p:spPr>
          <a:xfrm>
            <a:off x="7543800" y="4480560"/>
            <a:ext cx="1280160" cy="731520"/>
          </a:xfrm>
          <a:prstGeom prst="rect">
            <a:avLst/>
          </a:prstGeom>
          <a:noFill/>
          <a:ln/>
        </p:spPr>
        <p:txBody>
          <a:bodyPr wrap="square" lIns="0" tIns="0" rIns="0" bIns="0" rtlCol="0" anchor="t"/>
          <a:lstStyle/>
          <a:p>
            <a:pPr algn="ctr" indent="0" marL="0">
              <a:buNone/>
            </a:pPr>
            <a:r>
              <a:rPr lang="en-US" sz="1200" dirty="0">
                <a:solidFill>
                  <a:schemeClr val="accent3"/>
                </a:solidFill>
              </a:rPr>
              <a:t>Use it on a live call</a:t>
            </a:r>
            <a:endParaRPr lang="en-US" sz="1200" dirty="0"/>
          </a:p>
        </p:txBody>
      </p:sp>
      <p:sp>
        <p:nvSpPr>
          <p:cNvPr id="20" name="timeline dot 4"/>
          <p:cNvSpPr/>
          <p:nvPr/>
        </p:nvSpPr>
        <p:spPr>
          <a:xfrm>
            <a:off x="9441180" y="3520440"/>
            <a:ext cx="365760" cy="365760"/>
          </a:xfrm>
          <a:prstGeom prst="ellipse">
            <a:avLst/>
          </a:prstGeom>
          <a:solidFill>
            <a:schemeClr val="accent1"/>
          </a:solidFill>
          <a:ln w="25400">
            <a:solidFill>
              <a:schemeClr val="bg1"/>
            </a:solidFill>
            <a:prstDash val="solid"/>
          </a:ln>
        </p:spPr>
      </p:sp>
      <p:sp>
        <p:nvSpPr>
          <p:cNvPr id="21" name="Text 18"/>
          <p:cNvSpPr txBox="1"/>
          <p:nvPr/>
        </p:nvSpPr>
        <p:spPr>
          <a:xfrm>
            <a:off x="8983980" y="2971800"/>
            <a:ext cx="1280160" cy="365760"/>
          </a:xfrm>
          <a:prstGeom prst="rect">
            <a:avLst/>
          </a:prstGeom>
          <a:noFill/>
          <a:ln/>
        </p:spPr>
        <p:txBody>
          <a:bodyPr wrap="square" lIns="0" tIns="0" rIns="0" bIns="0" rtlCol="0" anchor="t"/>
          <a:lstStyle/>
          <a:p>
            <a:pPr algn="ctr" indent="0" marL="0">
              <a:buNone/>
            </a:pPr>
            <a:r>
              <a:rPr lang="en-US" sz="1400" b="1" dirty="0">
                <a:solidFill>
                  <a:schemeClr val="tx1"/>
                </a:solidFill>
              </a:rPr>
              <a:t>Week 3</a:t>
            </a:r>
            <a:endParaRPr lang="en-US" sz="1400" dirty="0"/>
          </a:p>
        </p:txBody>
      </p:sp>
      <p:sp>
        <p:nvSpPr>
          <p:cNvPr id="22" name="Text 19"/>
          <p:cNvSpPr txBox="1"/>
          <p:nvPr/>
        </p:nvSpPr>
        <p:spPr>
          <a:xfrm>
            <a:off x="8983980" y="4069080"/>
            <a:ext cx="1280160" cy="365760"/>
          </a:xfrm>
          <a:prstGeom prst="rect">
            <a:avLst/>
          </a:prstGeom>
          <a:noFill/>
          <a:ln/>
        </p:spPr>
        <p:txBody>
          <a:bodyPr wrap="square" lIns="0" tIns="0" rIns="0" bIns="0" rtlCol="0" anchor="t"/>
          <a:lstStyle/>
          <a:p>
            <a:pPr algn="ctr" indent="0" marL="0">
              <a:buNone/>
            </a:pPr>
            <a:r>
              <a:rPr lang="en-US" sz="1500" b="1" dirty="0">
                <a:solidFill>
                  <a:schemeClr val="accent1"/>
                </a:solidFill>
              </a:rPr>
              <a:t>Practise</a:t>
            </a:r>
            <a:endParaRPr lang="en-US" sz="1500" dirty="0"/>
          </a:p>
        </p:txBody>
      </p:sp>
      <p:sp>
        <p:nvSpPr>
          <p:cNvPr id="23" name="Text 20"/>
          <p:cNvSpPr txBox="1"/>
          <p:nvPr/>
        </p:nvSpPr>
        <p:spPr>
          <a:xfrm>
            <a:off x="8983980" y="4480560"/>
            <a:ext cx="1280160" cy="731520"/>
          </a:xfrm>
          <a:prstGeom prst="rect">
            <a:avLst/>
          </a:prstGeom>
          <a:noFill/>
          <a:ln/>
        </p:spPr>
        <p:txBody>
          <a:bodyPr wrap="square" lIns="0" tIns="0" rIns="0" bIns="0" rtlCol="0" anchor="t"/>
          <a:lstStyle/>
          <a:p>
            <a:pPr algn="ctr" indent="0" marL="0">
              <a:buNone/>
            </a:pPr>
            <a:r>
              <a:rPr lang="en-US" sz="1200" dirty="0">
                <a:solidFill>
                  <a:schemeClr val="accent3"/>
                </a:solidFill>
              </a:rPr>
              <a:t>Scenario role-play</a:t>
            </a:r>
            <a:endParaRPr lang="en-US" sz="1200" dirty="0"/>
          </a:p>
        </p:txBody>
      </p:sp>
      <p:sp>
        <p:nvSpPr>
          <p:cNvPr id="24" name="timeline dot 5"/>
          <p:cNvSpPr/>
          <p:nvPr/>
        </p:nvSpPr>
        <p:spPr>
          <a:xfrm>
            <a:off x="10881360" y="3520440"/>
            <a:ext cx="365760" cy="365760"/>
          </a:xfrm>
          <a:prstGeom prst="ellipse">
            <a:avLst/>
          </a:prstGeom>
          <a:solidFill>
            <a:schemeClr val="accent1"/>
          </a:solidFill>
          <a:ln w="25400">
            <a:solidFill>
              <a:schemeClr val="bg1"/>
            </a:solidFill>
            <a:prstDash val="solid"/>
          </a:ln>
        </p:spPr>
      </p:sp>
      <p:sp>
        <p:nvSpPr>
          <p:cNvPr id="25" name="Text 22"/>
          <p:cNvSpPr txBox="1"/>
          <p:nvPr/>
        </p:nvSpPr>
        <p:spPr>
          <a:xfrm>
            <a:off x="10424160" y="2971800"/>
            <a:ext cx="1280160" cy="365760"/>
          </a:xfrm>
          <a:prstGeom prst="rect">
            <a:avLst/>
          </a:prstGeom>
          <a:noFill/>
          <a:ln/>
        </p:spPr>
        <p:txBody>
          <a:bodyPr wrap="square" lIns="0" tIns="0" rIns="0" bIns="0" rtlCol="0" anchor="t"/>
          <a:lstStyle/>
          <a:p>
            <a:pPr algn="ctr" indent="0" marL="0">
              <a:buNone/>
            </a:pPr>
            <a:r>
              <a:rPr lang="en-US" sz="1400" b="1" dirty="0">
                <a:solidFill>
                  <a:schemeClr val="tx1"/>
                </a:solidFill>
              </a:rPr>
              <a:t>Week 6</a:t>
            </a:r>
            <a:endParaRPr lang="en-US" sz="1400" dirty="0"/>
          </a:p>
        </p:txBody>
      </p:sp>
      <p:sp>
        <p:nvSpPr>
          <p:cNvPr id="26" name="Text 23"/>
          <p:cNvSpPr txBox="1"/>
          <p:nvPr/>
        </p:nvSpPr>
        <p:spPr>
          <a:xfrm>
            <a:off x="10424160" y="4069080"/>
            <a:ext cx="1280160" cy="365760"/>
          </a:xfrm>
          <a:prstGeom prst="rect">
            <a:avLst/>
          </a:prstGeom>
          <a:noFill/>
          <a:ln/>
        </p:spPr>
        <p:txBody>
          <a:bodyPr wrap="square" lIns="0" tIns="0" rIns="0" bIns="0" rtlCol="0" anchor="t"/>
          <a:lstStyle/>
          <a:p>
            <a:pPr algn="ctr" indent="0" marL="0">
              <a:buNone/>
            </a:pPr>
            <a:r>
              <a:rPr lang="en-US" sz="1500" b="1" dirty="0">
                <a:solidFill>
                  <a:schemeClr val="accent1"/>
                </a:solidFill>
              </a:rPr>
              <a:t>Prove</a:t>
            </a:r>
            <a:endParaRPr lang="en-US" sz="1500" dirty="0"/>
          </a:p>
        </p:txBody>
      </p:sp>
      <p:sp>
        <p:nvSpPr>
          <p:cNvPr id="27" name="Text 24"/>
          <p:cNvSpPr txBox="1"/>
          <p:nvPr/>
        </p:nvSpPr>
        <p:spPr>
          <a:xfrm>
            <a:off x="10424160" y="4480560"/>
            <a:ext cx="1280160" cy="731520"/>
          </a:xfrm>
          <a:prstGeom prst="rect">
            <a:avLst/>
          </a:prstGeom>
          <a:noFill/>
          <a:ln/>
        </p:spPr>
        <p:txBody>
          <a:bodyPr wrap="square" lIns="0" tIns="0" rIns="0" bIns="0" rtlCol="0" anchor="t"/>
          <a:lstStyle/>
          <a:p>
            <a:pPr algn="ctr" indent="0" marL="0">
              <a:buNone/>
            </a:pPr>
            <a:r>
              <a:rPr lang="en-US" sz="1200" dirty="0">
                <a:solidFill>
                  <a:schemeClr val="accent3"/>
                </a:solidFill>
              </a:rPr>
              <a:t>Certify or deal debrief</a:t>
            </a:r>
            <a:endParaRPr lang="en-US" sz="1200" dirty="0"/>
          </a:p>
        </p:txBody>
      </p:sp>
      <p:sp>
        <p:nvSpPr>
          <p:cNvPr id="28" name="Text 25"/>
          <p:cNvSpPr txBox="1"/>
          <p:nvPr/>
        </p:nvSpPr>
        <p:spPr>
          <a:xfrm>
            <a:off x="5120640" y="5257800"/>
            <a:ext cx="5943600" cy="320040"/>
          </a:xfrm>
          <a:prstGeom prst="rect">
            <a:avLst/>
          </a:prstGeom>
          <a:noFill/>
          <a:ln/>
        </p:spPr>
        <p:txBody>
          <a:bodyPr wrap="square" lIns="0" tIns="0" rIns="0" bIns="0" rtlCol="0" anchor="t"/>
          <a:lstStyle/>
          <a:p>
            <a:pPr indent="0" marL="0">
              <a:buNone/>
            </a:pPr>
            <a:r>
              <a:rPr lang="en-US" sz="1100" i="1" dirty="0">
                <a:solidFill>
                  <a:schemeClr val="accent3"/>
                </a:solidFill>
              </a:rPr>
              <a:t>Illustrative cadence; tune per topic.</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Learning science that makes training stick</a:t>
            </a:r>
            <a:endParaRPr lang="en-US" sz="3200" dirty="0"/>
          </a:p>
        </p:txBody>
      </p:sp>
      <p:sp>
        <p:nvSpPr>
          <p:cNvPr id="4" name="Retrieval practice card"/>
          <p:cNvSpPr/>
          <p:nvPr/>
        </p:nvSpPr>
        <p:spPr>
          <a:xfrm>
            <a:off x="548640" y="1417320"/>
            <a:ext cx="3566160" cy="2240280"/>
          </a:xfrm>
          <a:prstGeom prst="roundRect">
            <a:avLst>
              <a:gd name="adj" fmla="val 3265"/>
            </a:avLst>
          </a:prstGeom>
          <a:solidFill>
            <a:schemeClr val="bg2"/>
          </a:solidFill>
          <a:ln w="12700">
            <a:solidFill>
              <a:schemeClr val="bg2"/>
            </a:solidFill>
            <a:prstDash val="solid"/>
          </a:ln>
        </p:spPr>
      </p:sp>
      <p:sp>
        <p:nvSpPr>
          <p:cNvPr id="5" name="Retrieval practice icon circle"/>
          <p:cNvSpPr/>
          <p:nvPr/>
        </p:nvSpPr>
        <p:spPr>
          <a:xfrm>
            <a:off x="822960" y="1691640"/>
            <a:ext cx="548640" cy="548640"/>
          </a:xfrm>
          <a:prstGeom prst="ellipse">
            <a:avLst/>
          </a:prstGeom>
          <a:solidFill>
            <a:schemeClr val="accent1"/>
          </a:solidFill>
          <a:ln w="12700">
            <a:solidFill>
              <a:schemeClr val="accent1"/>
            </a:solidFill>
            <a:prstDash val="solid"/>
          </a:ln>
        </p:spPr>
      </p:sp>
      <p:pic>
        <p:nvPicPr>
          <p:cNvPr id="6" name="Retrieval practice icon" descr="Retrieval practice icon">    </p:cNvPr>
          <p:cNvPicPr>
            <a:picLocks noChangeAspect="1"/>
          </p:cNvPicPr>
          <p:nvPr/>
        </p:nvPicPr>
        <p:blipFill>
          <a:blip r:embed="rId1"/>
          <a:stretch>
            <a:fillRect/>
          </a:stretch>
        </p:blipFill>
        <p:spPr>
          <a:xfrm>
            <a:off x="960120" y="1828800"/>
            <a:ext cx="274320" cy="274320"/>
          </a:xfrm>
          <a:prstGeom prst="rect">
            <a:avLst/>
          </a:prstGeom>
        </p:spPr>
      </p:pic>
      <p:sp>
        <p:nvSpPr>
          <p:cNvPr id="7" name="Text 3"/>
          <p:cNvSpPr txBox="1"/>
          <p:nvPr/>
        </p:nvSpPr>
        <p:spPr>
          <a:xfrm>
            <a:off x="1508760" y="169164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Retrieval practice</a:t>
            </a:r>
            <a:endParaRPr lang="en-US" sz="1800" dirty="0"/>
          </a:p>
        </p:txBody>
      </p:sp>
      <p:sp>
        <p:nvSpPr>
          <p:cNvPr id="8" name="Text 4"/>
          <p:cNvSpPr txBox="1"/>
          <p:nvPr/>
        </p:nvSpPr>
        <p:spPr>
          <a:xfrm>
            <a:off x="822960" y="237744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Recalling strengthens memory more than re-reading.</a:t>
            </a:r>
            <a:endParaRPr lang="en-US" sz="1300" dirty="0"/>
          </a:p>
        </p:txBody>
      </p:sp>
      <p:sp>
        <p:nvSpPr>
          <p:cNvPr id="9" name="Text 5"/>
          <p:cNvSpPr txBox="1"/>
          <p:nvPr/>
        </p:nvSpPr>
        <p:spPr>
          <a:xfrm>
            <a:off x="822960" y="288036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Quiz, don't re-present: "Explain interchange++ like I'm a CFO."</a:t>
            </a:r>
            <a:endParaRPr lang="en-US" sz="1300" dirty="0"/>
          </a:p>
        </p:txBody>
      </p:sp>
      <p:sp>
        <p:nvSpPr>
          <p:cNvPr id="10" name="Deliberate practice card"/>
          <p:cNvSpPr/>
          <p:nvPr/>
        </p:nvSpPr>
        <p:spPr>
          <a:xfrm>
            <a:off x="4297680" y="1417320"/>
            <a:ext cx="3566160" cy="2240280"/>
          </a:xfrm>
          <a:prstGeom prst="roundRect">
            <a:avLst>
              <a:gd name="adj" fmla="val 3265"/>
            </a:avLst>
          </a:prstGeom>
          <a:solidFill>
            <a:schemeClr val="bg2"/>
          </a:solidFill>
          <a:ln w="12700">
            <a:solidFill>
              <a:schemeClr val="bg2"/>
            </a:solidFill>
            <a:prstDash val="solid"/>
          </a:ln>
        </p:spPr>
      </p:sp>
      <p:sp>
        <p:nvSpPr>
          <p:cNvPr id="11" name="Deliberate practice icon circle"/>
          <p:cNvSpPr/>
          <p:nvPr/>
        </p:nvSpPr>
        <p:spPr>
          <a:xfrm>
            <a:off x="4572000" y="1691640"/>
            <a:ext cx="548640" cy="548640"/>
          </a:xfrm>
          <a:prstGeom prst="ellipse">
            <a:avLst/>
          </a:prstGeom>
          <a:solidFill>
            <a:schemeClr val="accent1"/>
          </a:solidFill>
          <a:ln w="12700">
            <a:solidFill>
              <a:schemeClr val="accent1"/>
            </a:solidFill>
            <a:prstDash val="solid"/>
          </a:ln>
        </p:spPr>
      </p:sp>
      <p:pic>
        <p:nvPicPr>
          <p:cNvPr id="12" name="Deliberate practice icon" descr="Deliberate practice icon">    </p:cNvPr>
          <p:cNvPicPr>
            <a:picLocks noChangeAspect="1"/>
          </p:cNvPicPr>
          <p:nvPr/>
        </p:nvPicPr>
        <p:blipFill>
          <a:blip r:embed="rId2"/>
          <a:stretch>
            <a:fillRect/>
          </a:stretch>
        </p:blipFill>
        <p:spPr>
          <a:xfrm>
            <a:off x="4709160" y="1828800"/>
            <a:ext cx="274320" cy="274320"/>
          </a:xfrm>
          <a:prstGeom prst="rect">
            <a:avLst/>
          </a:prstGeom>
        </p:spPr>
      </p:pic>
      <p:sp>
        <p:nvSpPr>
          <p:cNvPr id="13" name="Text 8"/>
          <p:cNvSpPr txBox="1"/>
          <p:nvPr/>
        </p:nvSpPr>
        <p:spPr>
          <a:xfrm>
            <a:off x="5257800" y="169164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Deliberate practice</a:t>
            </a:r>
            <a:endParaRPr lang="en-US" sz="1800" dirty="0"/>
          </a:p>
        </p:txBody>
      </p:sp>
      <p:sp>
        <p:nvSpPr>
          <p:cNvPr id="14" name="Text 9"/>
          <p:cNvSpPr txBox="1"/>
          <p:nvPr/>
        </p:nvSpPr>
        <p:spPr>
          <a:xfrm>
            <a:off x="4572000" y="237744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Skill grows through practice with feedback, not hours.</a:t>
            </a:r>
            <a:endParaRPr lang="en-US" sz="1300" dirty="0"/>
          </a:p>
        </p:txBody>
      </p:sp>
      <p:sp>
        <p:nvSpPr>
          <p:cNvPr id="15" name="Text 10"/>
          <p:cNvSpPr txBox="1"/>
          <p:nvPr/>
        </p:nvSpPr>
        <p:spPr>
          <a:xfrm>
            <a:off x="4572000" y="288036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DEPTH role-plays with scorecards; one skill at a time.</a:t>
            </a:r>
            <a:endParaRPr lang="en-US" sz="1300" dirty="0"/>
          </a:p>
        </p:txBody>
      </p:sp>
      <p:sp>
        <p:nvSpPr>
          <p:cNvPr id="16" name="Cognitive load card"/>
          <p:cNvSpPr/>
          <p:nvPr/>
        </p:nvSpPr>
        <p:spPr>
          <a:xfrm>
            <a:off x="8046720" y="1417320"/>
            <a:ext cx="3566160" cy="2240280"/>
          </a:xfrm>
          <a:prstGeom prst="roundRect">
            <a:avLst>
              <a:gd name="adj" fmla="val 3265"/>
            </a:avLst>
          </a:prstGeom>
          <a:solidFill>
            <a:schemeClr val="bg2"/>
          </a:solidFill>
          <a:ln w="12700">
            <a:solidFill>
              <a:schemeClr val="bg2"/>
            </a:solidFill>
            <a:prstDash val="solid"/>
          </a:ln>
        </p:spPr>
      </p:sp>
      <p:sp>
        <p:nvSpPr>
          <p:cNvPr id="17" name="Cognitive load icon circle"/>
          <p:cNvSpPr/>
          <p:nvPr/>
        </p:nvSpPr>
        <p:spPr>
          <a:xfrm>
            <a:off x="8321040" y="1691640"/>
            <a:ext cx="548640" cy="548640"/>
          </a:xfrm>
          <a:prstGeom prst="ellipse">
            <a:avLst/>
          </a:prstGeom>
          <a:solidFill>
            <a:schemeClr val="accent1"/>
          </a:solidFill>
          <a:ln w="12700">
            <a:solidFill>
              <a:schemeClr val="accent1"/>
            </a:solidFill>
            <a:prstDash val="solid"/>
          </a:ln>
        </p:spPr>
      </p:sp>
      <p:pic>
        <p:nvPicPr>
          <p:cNvPr id="18" name="Cognitive load icon" descr="Cognitive load icon">    </p:cNvPr>
          <p:cNvPicPr>
            <a:picLocks noChangeAspect="1"/>
          </p:cNvPicPr>
          <p:nvPr/>
        </p:nvPicPr>
        <p:blipFill>
          <a:blip r:embed="rId3"/>
          <a:stretch>
            <a:fillRect/>
          </a:stretch>
        </p:blipFill>
        <p:spPr>
          <a:xfrm>
            <a:off x="8458200" y="1828800"/>
            <a:ext cx="274320" cy="274320"/>
          </a:xfrm>
          <a:prstGeom prst="rect">
            <a:avLst/>
          </a:prstGeom>
        </p:spPr>
      </p:pic>
      <p:sp>
        <p:nvSpPr>
          <p:cNvPr id="19" name="Text 13"/>
          <p:cNvSpPr txBox="1"/>
          <p:nvPr/>
        </p:nvSpPr>
        <p:spPr>
          <a:xfrm>
            <a:off x="9006840" y="169164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Cognitive load</a:t>
            </a:r>
            <a:endParaRPr lang="en-US" sz="1800" dirty="0"/>
          </a:p>
        </p:txBody>
      </p:sp>
      <p:sp>
        <p:nvSpPr>
          <p:cNvPr id="20" name="Text 14"/>
          <p:cNvSpPr txBox="1"/>
          <p:nvPr/>
        </p:nvSpPr>
        <p:spPr>
          <a:xfrm>
            <a:off x="8321040" y="237744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Working memory is limited; overload stops learning.</a:t>
            </a:r>
            <a:endParaRPr lang="en-US" sz="1300" dirty="0"/>
          </a:p>
        </p:txBody>
      </p:sp>
      <p:sp>
        <p:nvSpPr>
          <p:cNvPr id="21" name="Text 15"/>
          <p:cNvSpPr txBox="1"/>
          <p:nvPr/>
        </p:nvSpPr>
        <p:spPr>
          <a:xfrm>
            <a:off x="8321040" y="288036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Minimum viable week 1; 10–20 minute chunks.</a:t>
            </a:r>
            <a:endParaRPr lang="en-US" sz="1300" dirty="0"/>
          </a:p>
        </p:txBody>
      </p:sp>
      <p:sp>
        <p:nvSpPr>
          <p:cNvPr id="22" name="Interleaving card"/>
          <p:cNvSpPr/>
          <p:nvPr/>
        </p:nvSpPr>
        <p:spPr>
          <a:xfrm>
            <a:off x="548640" y="3840480"/>
            <a:ext cx="3566160" cy="2240280"/>
          </a:xfrm>
          <a:prstGeom prst="roundRect">
            <a:avLst>
              <a:gd name="adj" fmla="val 3265"/>
            </a:avLst>
          </a:prstGeom>
          <a:solidFill>
            <a:schemeClr val="bg2"/>
          </a:solidFill>
          <a:ln w="12700">
            <a:solidFill>
              <a:schemeClr val="bg2"/>
            </a:solidFill>
            <a:prstDash val="solid"/>
          </a:ln>
        </p:spPr>
      </p:sp>
      <p:sp>
        <p:nvSpPr>
          <p:cNvPr id="23" name="Interleaving icon circle"/>
          <p:cNvSpPr/>
          <p:nvPr/>
        </p:nvSpPr>
        <p:spPr>
          <a:xfrm>
            <a:off x="822960" y="4114800"/>
            <a:ext cx="548640" cy="548640"/>
          </a:xfrm>
          <a:prstGeom prst="ellipse">
            <a:avLst/>
          </a:prstGeom>
          <a:solidFill>
            <a:schemeClr val="accent1"/>
          </a:solidFill>
          <a:ln w="12700">
            <a:solidFill>
              <a:schemeClr val="accent1"/>
            </a:solidFill>
            <a:prstDash val="solid"/>
          </a:ln>
        </p:spPr>
      </p:sp>
      <p:pic>
        <p:nvPicPr>
          <p:cNvPr id="24" name="Interleaving icon" descr="Interleaving icon">    </p:cNvPr>
          <p:cNvPicPr>
            <a:picLocks noChangeAspect="1"/>
          </p:cNvPicPr>
          <p:nvPr/>
        </p:nvPicPr>
        <p:blipFill>
          <a:blip r:embed="rId4"/>
          <a:stretch>
            <a:fillRect/>
          </a:stretch>
        </p:blipFill>
        <p:spPr>
          <a:xfrm>
            <a:off x="960120" y="4251960"/>
            <a:ext cx="274320" cy="274320"/>
          </a:xfrm>
          <a:prstGeom prst="rect">
            <a:avLst/>
          </a:prstGeom>
        </p:spPr>
      </p:pic>
      <p:sp>
        <p:nvSpPr>
          <p:cNvPr id="25" name="Text 18"/>
          <p:cNvSpPr txBox="1"/>
          <p:nvPr/>
        </p:nvSpPr>
        <p:spPr>
          <a:xfrm>
            <a:off x="1508760" y="411480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Interleaving</a:t>
            </a:r>
            <a:endParaRPr lang="en-US" sz="1800" dirty="0"/>
          </a:p>
        </p:txBody>
      </p:sp>
      <p:sp>
        <p:nvSpPr>
          <p:cNvPr id="26" name="Text 19"/>
          <p:cNvSpPr txBox="1"/>
          <p:nvPr/>
        </p:nvSpPr>
        <p:spPr>
          <a:xfrm>
            <a:off x="822960" y="480060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Mixing related topics builds better judgment.</a:t>
            </a:r>
            <a:endParaRPr lang="en-US" sz="1300" dirty="0"/>
          </a:p>
        </p:txBody>
      </p:sp>
      <p:sp>
        <p:nvSpPr>
          <p:cNvPr id="27" name="Text 20"/>
          <p:cNvSpPr txBox="1"/>
          <p:nvPr/>
        </p:nvSpPr>
        <p:spPr>
          <a:xfrm>
            <a:off x="822960" y="530352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Mix objection types and verticals in role-play.</a:t>
            </a:r>
            <a:endParaRPr lang="en-US" sz="1300" dirty="0"/>
          </a:p>
        </p:txBody>
      </p:sp>
      <p:sp>
        <p:nvSpPr>
          <p:cNvPr id="28" name="Social learning card"/>
          <p:cNvSpPr/>
          <p:nvPr/>
        </p:nvSpPr>
        <p:spPr>
          <a:xfrm>
            <a:off x="4297680" y="3840480"/>
            <a:ext cx="3566160" cy="2240280"/>
          </a:xfrm>
          <a:prstGeom prst="roundRect">
            <a:avLst>
              <a:gd name="adj" fmla="val 3265"/>
            </a:avLst>
          </a:prstGeom>
          <a:solidFill>
            <a:schemeClr val="bg2"/>
          </a:solidFill>
          <a:ln w="12700">
            <a:solidFill>
              <a:schemeClr val="bg2"/>
            </a:solidFill>
            <a:prstDash val="solid"/>
          </a:ln>
        </p:spPr>
      </p:sp>
      <p:sp>
        <p:nvSpPr>
          <p:cNvPr id="29" name="Social learning icon circle"/>
          <p:cNvSpPr/>
          <p:nvPr/>
        </p:nvSpPr>
        <p:spPr>
          <a:xfrm>
            <a:off x="4572000" y="4114800"/>
            <a:ext cx="548640" cy="548640"/>
          </a:xfrm>
          <a:prstGeom prst="ellipse">
            <a:avLst/>
          </a:prstGeom>
          <a:solidFill>
            <a:schemeClr val="accent1"/>
          </a:solidFill>
          <a:ln w="12700">
            <a:solidFill>
              <a:schemeClr val="accent1"/>
            </a:solidFill>
            <a:prstDash val="solid"/>
          </a:ln>
        </p:spPr>
      </p:sp>
      <p:pic>
        <p:nvPicPr>
          <p:cNvPr id="30" name="Social learning icon" descr="Social learning icon">    </p:cNvPr>
          <p:cNvPicPr>
            <a:picLocks noChangeAspect="1"/>
          </p:cNvPicPr>
          <p:nvPr/>
        </p:nvPicPr>
        <p:blipFill>
          <a:blip r:embed="rId5"/>
          <a:stretch>
            <a:fillRect/>
          </a:stretch>
        </p:blipFill>
        <p:spPr>
          <a:xfrm>
            <a:off x="4709160" y="4251960"/>
            <a:ext cx="274320" cy="274320"/>
          </a:xfrm>
          <a:prstGeom prst="rect">
            <a:avLst/>
          </a:prstGeom>
        </p:spPr>
      </p:pic>
      <p:sp>
        <p:nvSpPr>
          <p:cNvPr id="31" name="Text 23"/>
          <p:cNvSpPr txBox="1"/>
          <p:nvPr/>
        </p:nvSpPr>
        <p:spPr>
          <a:xfrm>
            <a:off x="5257800" y="411480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Social learning</a:t>
            </a:r>
            <a:endParaRPr lang="en-US" sz="1800" dirty="0"/>
          </a:p>
        </p:txBody>
      </p:sp>
      <p:sp>
        <p:nvSpPr>
          <p:cNvPr id="32" name="Text 24"/>
          <p:cNvSpPr txBox="1"/>
          <p:nvPr/>
        </p:nvSpPr>
        <p:spPr>
          <a:xfrm>
            <a:off x="4572000" y="480060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People learn by watching and copying others.</a:t>
            </a:r>
            <a:endParaRPr lang="en-US" sz="1300" dirty="0"/>
          </a:p>
        </p:txBody>
      </p:sp>
      <p:sp>
        <p:nvSpPr>
          <p:cNvPr id="33" name="Text 25"/>
          <p:cNvSpPr txBox="1"/>
          <p:nvPr/>
        </p:nvSpPr>
        <p:spPr>
          <a:xfrm>
            <a:off x="4572000" y="530352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Shadow top reps; Gong library; "how I won it" debriefs.</a:t>
            </a:r>
            <a:endParaRPr lang="en-US" sz="1300" dirty="0"/>
          </a:p>
        </p:txBody>
      </p:sp>
      <p:sp>
        <p:nvSpPr>
          <p:cNvPr id="34" name="Experiential cycle card"/>
          <p:cNvSpPr/>
          <p:nvPr/>
        </p:nvSpPr>
        <p:spPr>
          <a:xfrm>
            <a:off x="8046720" y="3840480"/>
            <a:ext cx="3566160" cy="2240280"/>
          </a:xfrm>
          <a:prstGeom prst="roundRect">
            <a:avLst>
              <a:gd name="adj" fmla="val 3265"/>
            </a:avLst>
          </a:prstGeom>
          <a:solidFill>
            <a:schemeClr val="bg2"/>
          </a:solidFill>
          <a:ln w="12700">
            <a:solidFill>
              <a:schemeClr val="bg2"/>
            </a:solidFill>
            <a:prstDash val="solid"/>
          </a:ln>
        </p:spPr>
      </p:sp>
      <p:sp>
        <p:nvSpPr>
          <p:cNvPr id="35" name="Experiential cycle icon circle"/>
          <p:cNvSpPr/>
          <p:nvPr/>
        </p:nvSpPr>
        <p:spPr>
          <a:xfrm>
            <a:off x="8321040" y="4114800"/>
            <a:ext cx="548640" cy="548640"/>
          </a:xfrm>
          <a:prstGeom prst="ellipse">
            <a:avLst/>
          </a:prstGeom>
          <a:solidFill>
            <a:schemeClr val="accent1"/>
          </a:solidFill>
          <a:ln w="12700">
            <a:solidFill>
              <a:schemeClr val="accent1"/>
            </a:solidFill>
            <a:prstDash val="solid"/>
          </a:ln>
        </p:spPr>
      </p:sp>
      <p:pic>
        <p:nvPicPr>
          <p:cNvPr id="36" name="Experiential cycle icon" descr="Experiential cycle icon">    </p:cNvPr>
          <p:cNvPicPr>
            <a:picLocks noChangeAspect="1"/>
          </p:cNvPicPr>
          <p:nvPr/>
        </p:nvPicPr>
        <p:blipFill>
          <a:blip r:embed="rId6"/>
          <a:stretch>
            <a:fillRect/>
          </a:stretch>
        </p:blipFill>
        <p:spPr>
          <a:xfrm>
            <a:off x="8458200" y="4251960"/>
            <a:ext cx="274320" cy="274320"/>
          </a:xfrm>
          <a:prstGeom prst="rect">
            <a:avLst/>
          </a:prstGeom>
        </p:spPr>
      </p:pic>
      <p:sp>
        <p:nvSpPr>
          <p:cNvPr id="37" name="Text 28"/>
          <p:cNvSpPr txBox="1"/>
          <p:nvPr/>
        </p:nvSpPr>
        <p:spPr>
          <a:xfrm>
            <a:off x="9006840" y="411480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Experiential cycle</a:t>
            </a:r>
            <a:endParaRPr lang="en-US" sz="1800" dirty="0"/>
          </a:p>
        </p:txBody>
      </p:sp>
      <p:sp>
        <p:nvSpPr>
          <p:cNvPr id="38" name="Text 29"/>
          <p:cNvSpPr txBox="1"/>
          <p:nvPr/>
        </p:nvSpPr>
        <p:spPr>
          <a:xfrm>
            <a:off x="8321040" y="4800600"/>
            <a:ext cx="3017520" cy="457200"/>
          </a:xfrm>
          <a:prstGeom prst="rect">
            <a:avLst/>
          </a:prstGeom>
          <a:noFill/>
          <a:ln/>
        </p:spPr>
        <p:txBody>
          <a:bodyPr wrap="square" lIns="0" tIns="0" rIns="0" bIns="0" rtlCol="0" anchor="t"/>
          <a:lstStyle/>
          <a:p>
            <a:pPr indent="0" marL="0">
              <a:buNone/>
            </a:pPr>
            <a:r>
              <a:rPr lang="en-US" sz="1300" dirty="0">
                <a:solidFill>
                  <a:schemeClr val="accent3"/>
                </a:solidFill>
              </a:rPr>
              <a:t>Experience → reflect → conceptualise → apply.</a:t>
            </a:r>
            <a:endParaRPr lang="en-US" sz="1300" dirty="0"/>
          </a:p>
        </p:txBody>
      </p:sp>
      <p:sp>
        <p:nvSpPr>
          <p:cNvPr id="39" name="Text 30"/>
          <p:cNvSpPr txBox="1"/>
          <p:nvPr/>
        </p:nvSpPr>
        <p:spPr>
          <a:xfrm>
            <a:off x="8321040" y="5303520"/>
            <a:ext cx="3017520" cy="640080"/>
          </a:xfrm>
          <a:prstGeom prst="rect">
            <a:avLst/>
          </a:prstGeom>
          <a:noFill/>
          <a:ln/>
        </p:spPr>
        <p:txBody>
          <a:bodyPr wrap="square" lIns="0" tIns="0" rIns="0" bIns="0" rtlCol="0" anchor="t"/>
          <a:lstStyle/>
          <a:p>
            <a:pPr indent="0" marL="0">
              <a:buNone/>
            </a:pPr>
            <a:r>
              <a:rPr lang="en-US" sz="1300" b="1" dirty="0">
                <a:solidFill>
                  <a:schemeClr val="accent1"/>
                </a:solidFill>
              </a:rPr>
              <a:t>We do: </a:t>
            </a:r>
            <a:pPr indent="0" marL="0">
              <a:buNone/>
            </a:pPr>
            <a:r>
              <a:rPr lang="en-US" sz="1300" dirty="0">
                <a:solidFill>
                  <a:schemeClr val="tx1"/>
                </a:solidFill>
              </a:rPr>
              <a:t>After each live call: reflect, debrief, try again.</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70-20-10: formal training alone won't ramp anyone</a:t>
            </a:r>
            <a:endParaRPr lang="en-US" sz="3200" dirty="0"/>
          </a:p>
        </p:txBody>
      </p:sp>
      <p:sp>
        <p:nvSpPr>
          <p:cNvPr id="4" name="On the job card"/>
          <p:cNvSpPr/>
          <p:nvPr/>
        </p:nvSpPr>
        <p:spPr>
          <a:xfrm>
            <a:off x="548640" y="1463040"/>
            <a:ext cx="3566160" cy="3749040"/>
          </a:xfrm>
          <a:prstGeom prst="roundRect">
            <a:avLst>
              <a:gd name="adj" fmla="val 2051"/>
            </a:avLst>
          </a:prstGeom>
          <a:solidFill>
            <a:schemeClr val="accent1"/>
          </a:solidFill>
          <a:ln w="12700">
            <a:solidFill>
              <a:schemeClr val="accent1"/>
            </a:solidFill>
            <a:prstDash val="solid"/>
          </a:ln>
        </p:spPr>
      </p:sp>
      <p:sp>
        <p:nvSpPr>
          <p:cNvPr id="5" name="Text 2"/>
          <p:cNvSpPr txBox="1"/>
          <p:nvPr/>
        </p:nvSpPr>
        <p:spPr>
          <a:xfrm>
            <a:off x="914400" y="1783080"/>
            <a:ext cx="2834640" cy="1188720"/>
          </a:xfrm>
          <a:prstGeom prst="rect">
            <a:avLst/>
          </a:prstGeom>
          <a:noFill/>
          <a:ln/>
        </p:spPr>
        <p:txBody>
          <a:bodyPr wrap="square" lIns="0" tIns="0" rIns="0" bIns="0" rtlCol="0" anchor="t"/>
          <a:lstStyle/>
          <a:p>
            <a:pPr indent="0" marL="0">
              <a:buNone/>
            </a:pPr>
            <a:r>
              <a:rPr lang="en-US" sz="6600" b="1" dirty="0">
                <a:solidFill>
                  <a:schemeClr val="bg1"/>
                </a:solidFill>
              </a:rPr>
              <a:t>70%</a:t>
            </a:r>
            <a:endParaRPr lang="en-US" sz="6600" dirty="0"/>
          </a:p>
        </p:txBody>
      </p:sp>
      <p:sp>
        <p:nvSpPr>
          <p:cNvPr id="6" name="Text 3"/>
          <p:cNvSpPr txBox="1"/>
          <p:nvPr/>
        </p:nvSpPr>
        <p:spPr>
          <a:xfrm>
            <a:off x="914400" y="3108960"/>
            <a:ext cx="2834640" cy="457200"/>
          </a:xfrm>
          <a:prstGeom prst="rect">
            <a:avLst/>
          </a:prstGeom>
          <a:noFill/>
          <a:ln/>
        </p:spPr>
        <p:txBody>
          <a:bodyPr wrap="square" lIns="0" tIns="0" rIns="0" bIns="0" rtlCol="0" anchor="t"/>
          <a:lstStyle/>
          <a:p>
            <a:pPr indent="0" marL="0">
              <a:buNone/>
            </a:pPr>
            <a:r>
              <a:rPr lang="en-US" sz="2200" b="1" dirty="0">
                <a:solidFill>
                  <a:schemeClr val="bg1"/>
                </a:solidFill>
              </a:rPr>
              <a:t>On the job</a:t>
            </a:r>
            <a:endParaRPr lang="en-US" sz="2200" dirty="0"/>
          </a:p>
        </p:txBody>
      </p:sp>
      <p:sp>
        <p:nvSpPr>
          <p:cNvPr id="7" name="Text 4"/>
          <p:cNvSpPr txBox="1"/>
          <p:nvPr/>
        </p:nvSpPr>
        <p:spPr>
          <a:xfrm>
            <a:off x="914400" y="3657600"/>
            <a:ext cx="2834640" cy="1280160"/>
          </a:xfrm>
          <a:prstGeom prst="rect">
            <a:avLst/>
          </a:prstGeom>
          <a:noFill/>
          <a:ln/>
        </p:spPr>
        <p:txBody>
          <a:bodyPr wrap="square" lIns="0" tIns="0" rIns="0" bIns="0" rtlCol="0" anchor="t"/>
          <a:lstStyle/>
          <a:p>
            <a:pPr indent="0" marL="0">
              <a:buNone/>
            </a:pPr>
            <a:r>
              <a:rPr lang="en-US" sz="1600" dirty="0">
                <a:solidFill>
                  <a:schemeClr val="bg1"/>
                </a:solidFill>
              </a:rPr>
              <a:t>Live deals, stretch assignments, owning accounts</a:t>
            </a:r>
            <a:endParaRPr lang="en-US" sz="1600" dirty="0"/>
          </a:p>
        </p:txBody>
      </p:sp>
      <p:sp>
        <p:nvSpPr>
          <p:cNvPr id="8" name="Through others card"/>
          <p:cNvSpPr/>
          <p:nvPr/>
        </p:nvSpPr>
        <p:spPr>
          <a:xfrm>
            <a:off x="4297680" y="1463040"/>
            <a:ext cx="3566160" cy="3749040"/>
          </a:xfrm>
          <a:prstGeom prst="roundRect">
            <a:avLst>
              <a:gd name="adj" fmla="val 2051"/>
            </a:avLst>
          </a:prstGeom>
          <a:solidFill>
            <a:schemeClr val="accent4"/>
          </a:solidFill>
          <a:ln w="12700">
            <a:solidFill>
              <a:schemeClr val="accent4"/>
            </a:solidFill>
            <a:prstDash val="solid"/>
          </a:ln>
        </p:spPr>
      </p:sp>
      <p:sp>
        <p:nvSpPr>
          <p:cNvPr id="9" name="Text 6"/>
          <p:cNvSpPr txBox="1"/>
          <p:nvPr/>
        </p:nvSpPr>
        <p:spPr>
          <a:xfrm>
            <a:off x="4663440" y="1783080"/>
            <a:ext cx="2834640" cy="1188720"/>
          </a:xfrm>
          <a:prstGeom prst="rect">
            <a:avLst/>
          </a:prstGeom>
          <a:noFill/>
          <a:ln/>
        </p:spPr>
        <p:txBody>
          <a:bodyPr wrap="square" lIns="0" tIns="0" rIns="0" bIns="0" rtlCol="0" anchor="t"/>
          <a:lstStyle/>
          <a:p>
            <a:pPr indent="0" marL="0">
              <a:buNone/>
            </a:pPr>
            <a:r>
              <a:rPr lang="en-US" sz="6600" b="1" dirty="0">
                <a:solidFill>
                  <a:schemeClr val="bg1"/>
                </a:solidFill>
              </a:rPr>
              <a:t>20%</a:t>
            </a:r>
            <a:endParaRPr lang="en-US" sz="6600" dirty="0"/>
          </a:p>
        </p:txBody>
      </p:sp>
      <p:sp>
        <p:nvSpPr>
          <p:cNvPr id="10" name="Text 7"/>
          <p:cNvSpPr txBox="1"/>
          <p:nvPr/>
        </p:nvSpPr>
        <p:spPr>
          <a:xfrm>
            <a:off x="4663440" y="3108960"/>
            <a:ext cx="2834640" cy="457200"/>
          </a:xfrm>
          <a:prstGeom prst="rect">
            <a:avLst/>
          </a:prstGeom>
          <a:noFill/>
          <a:ln/>
        </p:spPr>
        <p:txBody>
          <a:bodyPr wrap="square" lIns="0" tIns="0" rIns="0" bIns="0" rtlCol="0" anchor="t"/>
          <a:lstStyle/>
          <a:p>
            <a:pPr indent="0" marL="0">
              <a:buNone/>
            </a:pPr>
            <a:r>
              <a:rPr lang="en-US" sz="2200" b="1" dirty="0">
                <a:solidFill>
                  <a:schemeClr val="bg1"/>
                </a:solidFill>
              </a:rPr>
              <a:t>Through others</a:t>
            </a:r>
            <a:endParaRPr lang="en-US" sz="2200" dirty="0"/>
          </a:p>
        </p:txBody>
      </p:sp>
      <p:sp>
        <p:nvSpPr>
          <p:cNvPr id="11" name="Text 8"/>
          <p:cNvSpPr txBox="1"/>
          <p:nvPr/>
        </p:nvSpPr>
        <p:spPr>
          <a:xfrm>
            <a:off x="4663440" y="3657600"/>
            <a:ext cx="2834640" cy="1280160"/>
          </a:xfrm>
          <a:prstGeom prst="rect">
            <a:avLst/>
          </a:prstGeom>
          <a:noFill/>
          <a:ln/>
        </p:spPr>
        <p:txBody>
          <a:bodyPr wrap="square" lIns="0" tIns="0" rIns="0" bIns="0" rtlCol="0" anchor="t"/>
          <a:lstStyle/>
          <a:p>
            <a:pPr indent="0" marL="0">
              <a:buNone/>
            </a:pPr>
            <a:r>
              <a:rPr lang="en-US" sz="1600" dirty="0">
                <a:solidFill>
                  <a:schemeClr val="bg1"/>
                </a:solidFill>
              </a:rPr>
              <a:t>Manager coaching, shadowing, peer buddies</a:t>
            </a:r>
            <a:endParaRPr lang="en-US" sz="1600" dirty="0"/>
          </a:p>
        </p:txBody>
      </p:sp>
      <p:sp>
        <p:nvSpPr>
          <p:cNvPr id="12" name="Formal training card"/>
          <p:cNvSpPr/>
          <p:nvPr/>
        </p:nvSpPr>
        <p:spPr>
          <a:xfrm>
            <a:off x="8046720" y="1463040"/>
            <a:ext cx="3566160" cy="3749040"/>
          </a:xfrm>
          <a:prstGeom prst="roundRect">
            <a:avLst>
              <a:gd name="adj" fmla="val 2051"/>
            </a:avLst>
          </a:prstGeom>
          <a:solidFill>
            <a:schemeClr val="accent3"/>
          </a:solidFill>
          <a:ln w="12700">
            <a:solidFill>
              <a:schemeClr val="accent3"/>
            </a:solidFill>
            <a:prstDash val="solid"/>
          </a:ln>
        </p:spPr>
      </p:sp>
      <p:sp>
        <p:nvSpPr>
          <p:cNvPr id="13" name="Text 10"/>
          <p:cNvSpPr txBox="1"/>
          <p:nvPr/>
        </p:nvSpPr>
        <p:spPr>
          <a:xfrm>
            <a:off x="8412480" y="1783080"/>
            <a:ext cx="2834640" cy="1188720"/>
          </a:xfrm>
          <a:prstGeom prst="rect">
            <a:avLst/>
          </a:prstGeom>
          <a:noFill/>
          <a:ln/>
        </p:spPr>
        <p:txBody>
          <a:bodyPr wrap="square" lIns="0" tIns="0" rIns="0" bIns="0" rtlCol="0" anchor="t"/>
          <a:lstStyle/>
          <a:p>
            <a:pPr indent="0" marL="0">
              <a:buNone/>
            </a:pPr>
            <a:r>
              <a:rPr lang="en-US" sz="6600" b="1" dirty="0">
                <a:solidFill>
                  <a:schemeClr val="bg1"/>
                </a:solidFill>
              </a:rPr>
              <a:t>10%</a:t>
            </a:r>
            <a:endParaRPr lang="en-US" sz="6600" dirty="0"/>
          </a:p>
        </p:txBody>
      </p:sp>
      <p:sp>
        <p:nvSpPr>
          <p:cNvPr id="14" name="Text 11"/>
          <p:cNvSpPr txBox="1"/>
          <p:nvPr/>
        </p:nvSpPr>
        <p:spPr>
          <a:xfrm>
            <a:off x="8412480" y="3108960"/>
            <a:ext cx="2834640" cy="457200"/>
          </a:xfrm>
          <a:prstGeom prst="rect">
            <a:avLst/>
          </a:prstGeom>
          <a:noFill/>
          <a:ln/>
        </p:spPr>
        <p:txBody>
          <a:bodyPr wrap="square" lIns="0" tIns="0" rIns="0" bIns="0" rtlCol="0" anchor="t"/>
          <a:lstStyle/>
          <a:p>
            <a:pPr indent="0" marL="0">
              <a:buNone/>
            </a:pPr>
            <a:r>
              <a:rPr lang="en-US" sz="2200" b="1" dirty="0">
                <a:solidFill>
                  <a:schemeClr val="bg1"/>
                </a:solidFill>
              </a:rPr>
              <a:t>Formal training</a:t>
            </a:r>
            <a:endParaRPr lang="en-US" sz="2200" dirty="0"/>
          </a:p>
        </p:txBody>
      </p:sp>
      <p:sp>
        <p:nvSpPr>
          <p:cNvPr id="15" name="Text 12"/>
          <p:cNvSpPr txBox="1"/>
          <p:nvPr/>
        </p:nvSpPr>
        <p:spPr>
          <a:xfrm>
            <a:off x="8412480" y="3657600"/>
            <a:ext cx="2834640" cy="1280160"/>
          </a:xfrm>
          <a:prstGeom prst="rect">
            <a:avLst/>
          </a:prstGeom>
          <a:noFill/>
          <a:ln/>
        </p:spPr>
        <p:txBody>
          <a:bodyPr wrap="square" lIns="0" tIns="0" rIns="0" bIns="0" rtlCol="0" anchor="t"/>
          <a:lstStyle/>
          <a:p>
            <a:pPr indent="0" marL="0">
              <a:buNone/>
            </a:pPr>
            <a:r>
              <a:rPr lang="en-US" sz="1600" dirty="0">
                <a:solidFill>
                  <a:schemeClr val="bg1"/>
                </a:solidFill>
              </a:rPr>
              <a:t>Academy modules, workshops, e-learning</a:t>
            </a:r>
            <a:endParaRPr lang="en-US" sz="1600" dirty="0"/>
          </a:p>
        </p:txBody>
      </p:sp>
      <p:sp>
        <p:nvSpPr>
          <p:cNvPr id="16" name="Text 13"/>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600" i="1" dirty="0">
                <a:solidFill>
                  <a:schemeClr val="accent3"/>
                </a:solidFill>
              </a:rPr>
              <a:t>A rough guide, not a precise ratio. Design the 70 and the 20, not just the 10.</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Kirkpatrick: measure behaviour and results</a:t>
            </a:r>
            <a:endParaRPr lang="en-US" sz="3200" dirty="0"/>
          </a:p>
        </p:txBody>
      </p:sp>
      <p:sp>
        <p:nvSpPr>
          <p:cNvPr id="4" name="Reaction step"/>
          <p:cNvSpPr/>
          <p:nvPr/>
        </p:nvSpPr>
        <p:spPr>
          <a:xfrm>
            <a:off x="548640" y="3749040"/>
            <a:ext cx="2606040" cy="1737360"/>
          </a:xfrm>
          <a:prstGeom prst="roundRect">
            <a:avLst>
              <a:gd name="adj" fmla="val 4211"/>
            </a:avLst>
          </a:prstGeom>
          <a:solidFill>
            <a:schemeClr val="bg2"/>
          </a:solidFill>
          <a:ln w="12700">
            <a:solidFill>
              <a:schemeClr val="bg2"/>
            </a:solidFill>
            <a:prstDash val="solid"/>
          </a:ln>
        </p:spPr>
      </p:sp>
      <p:sp>
        <p:nvSpPr>
          <p:cNvPr id="5" name="Text 2"/>
          <p:cNvSpPr txBox="1"/>
          <p:nvPr/>
        </p:nvSpPr>
        <p:spPr>
          <a:xfrm>
            <a:off x="777240" y="3931920"/>
            <a:ext cx="2148840" cy="320040"/>
          </a:xfrm>
          <a:prstGeom prst="rect">
            <a:avLst/>
          </a:prstGeom>
          <a:noFill/>
          <a:ln/>
        </p:spPr>
        <p:txBody>
          <a:bodyPr wrap="square" lIns="0" tIns="0" rIns="0" bIns="0" rtlCol="0" anchor="t"/>
          <a:lstStyle/>
          <a:p>
            <a:pPr indent="0" marL="0">
              <a:buNone/>
            </a:pPr>
            <a:r>
              <a:rPr lang="en-US" sz="1300" b="1" dirty="0">
                <a:solidFill>
                  <a:schemeClr val="accent3"/>
                </a:solidFill>
              </a:rPr>
              <a:t>Level 1</a:t>
            </a:r>
            <a:endParaRPr lang="en-US" sz="1300" dirty="0"/>
          </a:p>
        </p:txBody>
      </p:sp>
      <p:sp>
        <p:nvSpPr>
          <p:cNvPr id="6" name="Text 3"/>
          <p:cNvSpPr txBox="1"/>
          <p:nvPr/>
        </p:nvSpPr>
        <p:spPr>
          <a:xfrm>
            <a:off x="777240" y="4251960"/>
            <a:ext cx="2148840" cy="457200"/>
          </a:xfrm>
          <a:prstGeom prst="rect">
            <a:avLst/>
          </a:prstGeom>
          <a:noFill/>
          <a:ln/>
        </p:spPr>
        <p:txBody>
          <a:bodyPr wrap="square" lIns="0" tIns="0" rIns="0" bIns="0" rtlCol="0" anchor="t"/>
          <a:lstStyle/>
          <a:p>
            <a:pPr indent="0" marL="0">
              <a:buNone/>
            </a:pPr>
            <a:r>
              <a:rPr lang="en-US" sz="2200" b="1" dirty="0">
                <a:solidFill>
                  <a:schemeClr val="tx1"/>
                </a:solidFill>
              </a:rPr>
              <a:t>Reaction</a:t>
            </a:r>
            <a:endParaRPr lang="en-US" sz="2200" dirty="0"/>
          </a:p>
        </p:txBody>
      </p:sp>
      <p:sp>
        <p:nvSpPr>
          <p:cNvPr id="7" name="Text 4"/>
          <p:cNvSpPr txBox="1"/>
          <p:nvPr/>
        </p:nvSpPr>
        <p:spPr>
          <a:xfrm>
            <a:off x="777240" y="4754880"/>
            <a:ext cx="2148840" cy="594360"/>
          </a:xfrm>
          <a:prstGeom prst="rect">
            <a:avLst/>
          </a:prstGeom>
          <a:noFill/>
          <a:ln/>
        </p:spPr>
        <p:txBody>
          <a:bodyPr wrap="square" lIns="0" tIns="0" rIns="0" bIns="0" rtlCol="0" anchor="t"/>
          <a:lstStyle/>
          <a:p>
            <a:pPr indent="0" marL="0">
              <a:spcAft>
                <a:spcPts val="400"/>
              </a:spcAft>
              <a:buNone/>
            </a:pPr>
            <a:r>
              <a:rPr lang="en-US" sz="1300" dirty="0">
                <a:solidFill>
                  <a:schemeClr val="accent3"/>
                </a:solidFill>
              </a:rPr>
              <a:t>Did they like it?</a:t>
            </a:r>
            <a:endParaRPr lang="en-US" sz="1300" dirty="0"/>
          </a:p>
          <a:p>
            <a:pPr indent="0" marL="0">
              <a:spcAft>
                <a:spcPts val="400"/>
              </a:spcAft>
              <a:buNone/>
            </a:pPr>
            <a:r>
              <a:rPr lang="en-US" sz="1300" i="1" dirty="0">
                <a:solidFill>
                  <a:schemeClr val="accent3"/>
                </a:solidFill>
              </a:rPr>
              <a:t>Session NPS</a:t>
            </a:r>
            <a:endParaRPr lang="en-US" sz="1300" dirty="0"/>
          </a:p>
        </p:txBody>
      </p:sp>
      <p:sp>
        <p:nvSpPr>
          <p:cNvPr id="8" name="Learning step"/>
          <p:cNvSpPr/>
          <p:nvPr/>
        </p:nvSpPr>
        <p:spPr>
          <a:xfrm>
            <a:off x="3337560" y="3063240"/>
            <a:ext cx="2606040" cy="2423160"/>
          </a:xfrm>
          <a:prstGeom prst="roundRect">
            <a:avLst>
              <a:gd name="adj" fmla="val 3019"/>
            </a:avLst>
          </a:prstGeom>
          <a:solidFill>
            <a:schemeClr val="bg2"/>
          </a:solidFill>
          <a:ln w="12700">
            <a:solidFill>
              <a:schemeClr val="bg2"/>
            </a:solidFill>
            <a:prstDash val="solid"/>
          </a:ln>
        </p:spPr>
      </p:sp>
      <p:sp>
        <p:nvSpPr>
          <p:cNvPr id="9" name="Text 6"/>
          <p:cNvSpPr txBox="1"/>
          <p:nvPr/>
        </p:nvSpPr>
        <p:spPr>
          <a:xfrm>
            <a:off x="3566160" y="3246120"/>
            <a:ext cx="2148840" cy="320040"/>
          </a:xfrm>
          <a:prstGeom prst="rect">
            <a:avLst/>
          </a:prstGeom>
          <a:noFill/>
          <a:ln/>
        </p:spPr>
        <p:txBody>
          <a:bodyPr wrap="square" lIns="0" tIns="0" rIns="0" bIns="0" rtlCol="0" anchor="t"/>
          <a:lstStyle/>
          <a:p>
            <a:pPr indent="0" marL="0">
              <a:buNone/>
            </a:pPr>
            <a:r>
              <a:rPr lang="en-US" sz="1300" b="1" dirty="0">
                <a:solidFill>
                  <a:schemeClr val="accent3"/>
                </a:solidFill>
              </a:rPr>
              <a:t>Level 2</a:t>
            </a:r>
            <a:endParaRPr lang="en-US" sz="1300" dirty="0"/>
          </a:p>
        </p:txBody>
      </p:sp>
      <p:sp>
        <p:nvSpPr>
          <p:cNvPr id="10" name="Text 7"/>
          <p:cNvSpPr txBox="1"/>
          <p:nvPr/>
        </p:nvSpPr>
        <p:spPr>
          <a:xfrm>
            <a:off x="3566160" y="3566160"/>
            <a:ext cx="2148840" cy="457200"/>
          </a:xfrm>
          <a:prstGeom prst="rect">
            <a:avLst/>
          </a:prstGeom>
          <a:noFill/>
          <a:ln/>
        </p:spPr>
        <p:txBody>
          <a:bodyPr wrap="square" lIns="0" tIns="0" rIns="0" bIns="0" rtlCol="0" anchor="t"/>
          <a:lstStyle/>
          <a:p>
            <a:pPr indent="0" marL="0">
              <a:buNone/>
            </a:pPr>
            <a:r>
              <a:rPr lang="en-US" sz="2200" b="1" dirty="0">
                <a:solidFill>
                  <a:schemeClr val="tx1"/>
                </a:solidFill>
              </a:rPr>
              <a:t>Learning</a:t>
            </a:r>
            <a:endParaRPr lang="en-US" sz="2200" dirty="0"/>
          </a:p>
        </p:txBody>
      </p:sp>
      <p:sp>
        <p:nvSpPr>
          <p:cNvPr id="11" name="Text 8"/>
          <p:cNvSpPr txBox="1"/>
          <p:nvPr/>
        </p:nvSpPr>
        <p:spPr>
          <a:xfrm>
            <a:off x="3566160" y="4069080"/>
            <a:ext cx="2148840" cy="1280160"/>
          </a:xfrm>
          <a:prstGeom prst="rect">
            <a:avLst/>
          </a:prstGeom>
          <a:noFill/>
          <a:ln/>
        </p:spPr>
        <p:txBody>
          <a:bodyPr wrap="square" lIns="0" tIns="0" rIns="0" bIns="0" rtlCol="0" anchor="t"/>
          <a:lstStyle/>
          <a:p>
            <a:pPr indent="0" marL="0">
              <a:spcAft>
                <a:spcPts val="400"/>
              </a:spcAft>
              <a:buNone/>
            </a:pPr>
            <a:r>
              <a:rPr lang="en-US" sz="1300" dirty="0">
                <a:solidFill>
                  <a:schemeClr val="accent3"/>
                </a:solidFill>
              </a:rPr>
              <a:t>Did they learn it?</a:t>
            </a:r>
            <a:endParaRPr lang="en-US" sz="1300" dirty="0"/>
          </a:p>
          <a:p>
            <a:pPr indent="0" marL="0">
              <a:spcAft>
                <a:spcPts val="400"/>
              </a:spcAft>
              <a:buNone/>
            </a:pPr>
            <a:r>
              <a:rPr lang="en-US" sz="1300" i="1" dirty="0">
                <a:solidFill>
                  <a:schemeClr val="accent3"/>
                </a:solidFill>
              </a:rPr>
              <a:t>Quiz and certification scores</a:t>
            </a:r>
            <a:endParaRPr lang="en-US" sz="1300" dirty="0"/>
          </a:p>
        </p:txBody>
      </p:sp>
      <p:sp>
        <p:nvSpPr>
          <p:cNvPr id="12" name="Behaviour step"/>
          <p:cNvSpPr/>
          <p:nvPr/>
        </p:nvSpPr>
        <p:spPr>
          <a:xfrm>
            <a:off x="6126480" y="2377440"/>
            <a:ext cx="2606040" cy="3108960"/>
          </a:xfrm>
          <a:prstGeom prst="roundRect">
            <a:avLst>
              <a:gd name="adj" fmla="val 2807"/>
            </a:avLst>
          </a:prstGeom>
          <a:solidFill>
            <a:schemeClr val="accent1"/>
          </a:solidFill>
          <a:ln w="12700">
            <a:solidFill>
              <a:schemeClr val="accent1"/>
            </a:solidFill>
            <a:prstDash val="solid"/>
          </a:ln>
        </p:spPr>
      </p:sp>
      <p:sp>
        <p:nvSpPr>
          <p:cNvPr id="13" name="Text 10"/>
          <p:cNvSpPr txBox="1"/>
          <p:nvPr/>
        </p:nvSpPr>
        <p:spPr>
          <a:xfrm>
            <a:off x="6355080" y="2560320"/>
            <a:ext cx="2148840" cy="320040"/>
          </a:xfrm>
          <a:prstGeom prst="rect">
            <a:avLst/>
          </a:prstGeom>
          <a:noFill/>
          <a:ln/>
        </p:spPr>
        <p:txBody>
          <a:bodyPr wrap="square" lIns="0" tIns="0" rIns="0" bIns="0" rtlCol="0" anchor="t"/>
          <a:lstStyle/>
          <a:p>
            <a:pPr indent="0" marL="0">
              <a:buNone/>
            </a:pPr>
            <a:r>
              <a:rPr lang="en-US" sz="1300" b="1" dirty="0">
                <a:solidFill>
                  <a:schemeClr val="bg1"/>
                </a:solidFill>
              </a:rPr>
              <a:t>Level 3</a:t>
            </a:r>
            <a:endParaRPr lang="en-US" sz="1300" dirty="0"/>
          </a:p>
        </p:txBody>
      </p:sp>
      <p:sp>
        <p:nvSpPr>
          <p:cNvPr id="14" name="Text 11"/>
          <p:cNvSpPr txBox="1"/>
          <p:nvPr/>
        </p:nvSpPr>
        <p:spPr>
          <a:xfrm>
            <a:off x="6355080" y="2880360"/>
            <a:ext cx="2148840" cy="457200"/>
          </a:xfrm>
          <a:prstGeom prst="rect">
            <a:avLst/>
          </a:prstGeom>
          <a:noFill/>
          <a:ln/>
        </p:spPr>
        <p:txBody>
          <a:bodyPr wrap="square" lIns="0" tIns="0" rIns="0" bIns="0" rtlCol="0" anchor="t"/>
          <a:lstStyle/>
          <a:p>
            <a:pPr indent="0" marL="0">
              <a:buNone/>
            </a:pPr>
            <a:r>
              <a:rPr lang="en-US" sz="2200" b="1" dirty="0">
                <a:solidFill>
                  <a:schemeClr val="bg1"/>
                </a:solidFill>
              </a:rPr>
              <a:t>Behaviour</a:t>
            </a:r>
            <a:endParaRPr lang="en-US" sz="2200" dirty="0"/>
          </a:p>
        </p:txBody>
      </p:sp>
      <p:sp>
        <p:nvSpPr>
          <p:cNvPr id="15" name="Text 12"/>
          <p:cNvSpPr txBox="1"/>
          <p:nvPr/>
        </p:nvSpPr>
        <p:spPr>
          <a:xfrm>
            <a:off x="6355080" y="3383280"/>
            <a:ext cx="2148840" cy="1965960"/>
          </a:xfrm>
          <a:prstGeom prst="rect">
            <a:avLst/>
          </a:prstGeom>
          <a:noFill/>
          <a:ln/>
        </p:spPr>
        <p:txBody>
          <a:bodyPr wrap="square" lIns="0" tIns="0" rIns="0" bIns="0" rtlCol="0" anchor="t"/>
          <a:lstStyle/>
          <a:p>
            <a:pPr indent="0" marL="0">
              <a:spcAft>
                <a:spcPts val="400"/>
              </a:spcAft>
              <a:buNone/>
            </a:pPr>
            <a:r>
              <a:rPr lang="en-US" sz="1300" dirty="0">
                <a:solidFill>
                  <a:schemeClr val="bg1"/>
                </a:solidFill>
              </a:rPr>
              <a:t>Do they do it on the job?</a:t>
            </a:r>
            <a:endParaRPr lang="en-US" sz="1300" dirty="0"/>
          </a:p>
          <a:p>
            <a:pPr indent="0" marL="0">
              <a:spcAft>
                <a:spcPts val="400"/>
              </a:spcAft>
              <a:buNone/>
            </a:pPr>
            <a:r>
              <a:rPr lang="en-US" sz="1300" i="1" dirty="0">
                <a:solidFill>
                  <a:schemeClr val="bg1"/>
                </a:solidFill>
              </a:rPr>
              <a:t>DEPTH fields in Salesforce, Gong call scores</a:t>
            </a:r>
            <a:endParaRPr lang="en-US" sz="1300" dirty="0"/>
          </a:p>
        </p:txBody>
      </p:sp>
      <p:sp>
        <p:nvSpPr>
          <p:cNvPr id="16" name="Results step"/>
          <p:cNvSpPr/>
          <p:nvPr/>
        </p:nvSpPr>
        <p:spPr>
          <a:xfrm>
            <a:off x="8915400" y="1691640"/>
            <a:ext cx="2606040" cy="3794760"/>
          </a:xfrm>
          <a:prstGeom prst="roundRect">
            <a:avLst>
              <a:gd name="adj" fmla="val 2807"/>
            </a:avLst>
          </a:prstGeom>
          <a:solidFill>
            <a:schemeClr val="accent1"/>
          </a:solidFill>
          <a:ln w="12700">
            <a:solidFill>
              <a:schemeClr val="accent1"/>
            </a:solidFill>
            <a:prstDash val="solid"/>
          </a:ln>
        </p:spPr>
      </p:sp>
      <p:sp>
        <p:nvSpPr>
          <p:cNvPr id="17" name="Text 14"/>
          <p:cNvSpPr txBox="1"/>
          <p:nvPr/>
        </p:nvSpPr>
        <p:spPr>
          <a:xfrm>
            <a:off x="9144000" y="1874520"/>
            <a:ext cx="2148840" cy="320040"/>
          </a:xfrm>
          <a:prstGeom prst="rect">
            <a:avLst/>
          </a:prstGeom>
          <a:noFill/>
          <a:ln/>
        </p:spPr>
        <p:txBody>
          <a:bodyPr wrap="square" lIns="0" tIns="0" rIns="0" bIns="0" rtlCol="0" anchor="t"/>
          <a:lstStyle/>
          <a:p>
            <a:pPr indent="0" marL="0">
              <a:buNone/>
            </a:pPr>
            <a:r>
              <a:rPr lang="en-US" sz="1300" b="1" dirty="0">
                <a:solidFill>
                  <a:schemeClr val="bg1"/>
                </a:solidFill>
              </a:rPr>
              <a:t>Level 4</a:t>
            </a:r>
            <a:endParaRPr lang="en-US" sz="1300" dirty="0"/>
          </a:p>
        </p:txBody>
      </p:sp>
      <p:sp>
        <p:nvSpPr>
          <p:cNvPr id="18" name="Text 15"/>
          <p:cNvSpPr txBox="1"/>
          <p:nvPr/>
        </p:nvSpPr>
        <p:spPr>
          <a:xfrm>
            <a:off x="9144000" y="2194560"/>
            <a:ext cx="2148840" cy="457200"/>
          </a:xfrm>
          <a:prstGeom prst="rect">
            <a:avLst/>
          </a:prstGeom>
          <a:noFill/>
          <a:ln/>
        </p:spPr>
        <p:txBody>
          <a:bodyPr wrap="square" lIns="0" tIns="0" rIns="0" bIns="0" rtlCol="0" anchor="t"/>
          <a:lstStyle/>
          <a:p>
            <a:pPr indent="0" marL="0">
              <a:buNone/>
            </a:pPr>
            <a:r>
              <a:rPr lang="en-US" sz="2200" b="1" dirty="0">
                <a:solidFill>
                  <a:schemeClr val="bg1"/>
                </a:solidFill>
              </a:rPr>
              <a:t>Results</a:t>
            </a:r>
            <a:endParaRPr lang="en-US" sz="2200" dirty="0"/>
          </a:p>
        </p:txBody>
      </p:sp>
      <p:sp>
        <p:nvSpPr>
          <p:cNvPr id="19" name="Text 16"/>
          <p:cNvSpPr txBox="1"/>
          <p:nvPr/>
        </p:nvSpPr>
        <p:spPr>
          <a:xfrm>
            <a:off x="9144000" y="2697480"/>
            <a:ext cx="2148840" cy="2651760"/>
          </a:xfrm>
          <a:prstGeom prst="rect">
            <a:avLst/>
          </a:prstGeom>
          <a:noFill/>
          <a:ln/>
        </p:spPr>
        <p:txBody>
          <a:bodyPr wrap="square" lIns="0" tIns="0" rIns="0" bIns="0" rtlCol="0" anchor="t"/>
          <a:lstStyle/>
          <a:p>
            <a:pPr indent="0" marL="0">
              <a:spcAft>
                <a:spcPts val="400"/>
              </a:spcAft>
              <a:buNone/>
            </a:pPr>
            <a:r>
              <a:rPr lang="en-US" sz="1300" dirty="0">
                <a:solidFill>
                  <a:schemeClr val="bg1"/>
                </a:solidFill>
              </a:rPr>
              <a:t>Did it move the business?</a:t>
            </a:r>
            <a:endParaRPr lang="en-US" sz="1300" dirty="0"/>
          </a:p>
          <a:p>
            <a:pPr indent="0" marL="0">
              <a:spcAft>
                <a:spcPts val="400"/>
              </a:spcAft>
              <a:buNone/>
            </a:pPr>
            <a:r>
              <a:rPr lang="en-US" sz="1300" i="1" dirty="0">
                <a:solidFill>
                  <a:schemeClr val="bg1"/>
                </a:solidFill>
              </a:rPr>
              <a:t>Win rate, time to first deal, ramped attainment</a:t>
            </a:r>
            <a:endParaRPr lang="en-US" sz="1300" dirty="0"/>
          </a:p>
        </p:txBody>
      </p:sp>
      <p:sp>
        <p:nvSpPr>
          <p:cNvPr id="20" name="Text 17"/>
          <p:cNvSpPr txBox="1"/>
          <p:nvPr/>
        </p:nvSpPr>
        <p:spPr>
          <a:xfrm>
            <a:off x="6126480" y="1371600"/>
            <a:ext cx="5486400" cy="365760"/>
          </a:xfrm>
          <a:prstGeom prst="rect">
            <a:avLst/>
          </a:prstGeom>
          <a:noFill/>
          <a:ln/>
        </p:spPr>
        <p:txBody>
          <a:bodyPr wrap="square" lIns="0" tIns="0" rIns="0" bIns="0" rtlCol="0" anchor="t"/>
          <a:lstStyle/>
          <a:p>
            <a:pPr algn="r" indent="0" marL="0">
              <a:buNone/>
            </a:pPr>
            <a:r>
              <a:rPr lang="en-US" sz="1500" b="1" dirty="0">
                <a:solidFill>
                  <a:schemeClr val="accent1"/>
                </a:solidFill>
              </a:rPr>
              <a:t>Charter metrics live at Levels 3–4</a:t>
            </a:r>
            <a:endParaRPr lang="en-US" sz="1500" dirty="0"/>
          </a:p>
        </p:txBody>
      </p:sp>
      <p:sp>
        <p:nvSpPr>
          <p:cNvPr id="21" name="Text 18"/>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400" b="1" dirty="0">
                <a:solidFill>
                  <a:schemeClr val="tx1"/>
                </a:solidFill>
              </a:rPr>
              <a:t>Backward design: </a:t>
            </a:r>
            <a:pPr indent="0" marL="0">
              <a:buNone/>
            </a:pPr>
            <a:r>
              <a:rPr lang="en-US" sz="1400" dirty="0">
                <a:solidFill>
                  <a:schemeClr val="accent3"/>
                </a:solidFill>
              </a:rPr>
              <a:t>start from the behaviour you want, define how you'd observe it, then build the content.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Design checklist for every programme</a:t>
            </a:r>
            <a:endParaRPr lang="en-US" sz="3200" dirty="0"/>
          </a:p>
        </p:txBody>
      </p:sp>
      <p:sp>
        <p:nvSpPr>
          <p:cNvPr id="4" name="checklist item 1"/>
          <p:cNvSpPr/>
          <p:nvPr/>
        </p:nvSpPr>
        <p:spPr>
          <a:xfrm>
            <a:off x="548640" y="1463040"/>
            <a:ext cx="5440680" cy="960120"/>
          </a:xfrm>
          <a:prstGeom prst="roundRect">
            <a:avLst>
              <a:gd name="adj" fmla="val 7619"/>
            </a:avLst>
          </a:prstGeom>
          <a:solidFill>
            <a:schemeClr val="bg2"/>
          </a:solidFill>
          <a:ln w="12700">
            <a:solidFill>
              <a:schemeClr val="bg2"/>
            </a:solidFill>
            <a:prstDash val="solid"/>
          </a:ln>
        </p:spPr>
      </p:sp>
      <p:pic>
        <p:nvPicPr>
          <p:cNvPr id="5" name="check icon 1" descr="check">    </p:cNvPr>
          <p:cNvPicPr>
            <a:picLocks noChangeAspect="1"/>
          </p:cNvPicPr>
          <p:nvPr/>
        </p:nvPicPr>
        <p:blipFill>
          <a:blip r:embed="rId1"/>
          <a:stretch>
            <a:fillRect/>
          </a:stretch>
        </p:blipFill>
        <p:spPr>
          <a:xfrm>
            <a:off x="822960" y="1719072"/>
            <a:ext cx="457200" cy="457200"/>
          </a:xfrm>
          <a:prstGeom prst="rect">
            <a:avLst/>
          </a:prstGeom>
        </p:spPr>
      </p:pic>
      <p:sp>
        <p:nvSpPr>
          <p:cNvPr id="6" name="Text 2"/>
          <p:cNvSpPr txBox="1"/>
          <p:nvPr/>
        </p:nvSpPr>
        <p:spPr>
          <a:xfrm>
            <a:off x="1508760" y="1554480"/>
            <a:ext cx="4297680" cy="777240"/>
          </a:xfrm>
          <a:prstGeom prst="rect">
            <a:avLst/>
          </a:prstGeom>
          <a:noFill/>
          <a:ln/>
        </p:spPr>
        <p:txBody>
          <a:bodyPr wrap="square" lIns="0" tIns="0" rIns="0" bIns="0" rtlCol="0" anchor="ctr"/>
          <a:lstStyle/>
          <a:p>
            <a:pPr indent="0" marL="0">
              <a:buNone/>
            </a:pPr>
            <a:r>
              <a:rPr lang="en-US" sz="1600" dirty="0">
                <a:solidFill>
                  <a:schemeClr val="tx1"/>
                </a:solidFill>
              </a:rPr>
              <a:t>Opens with why it matters to your number</a:t>
            </a:r>
            <a:endParaRPr lang="en-US" sz="1600" dirty="0"/>
          </a:p>
        </p:txBody>
      </p:sp>
      <p:sp>
        <p:nvSpPr>
          <p:cNvPr id="7" name="checklist item 2"/>
          <p:cNvSpPr/>
          <p:nvPr/>
        </p:nvSpPr>
        <p:spPr>
          <a:xfrm>
            <a:off x="548640" y="2606040"/>
            <a:ext cx="5440680" cy="960120"/>
          </a:xfrm>
          <a:prstGeom prst="roundRect">
            <a:avLst>
              <a:gd name="adj" fmla="val 7619"/>
            </a:avLst>
          </a:prstGeom>
          <a:solidFill>
            <a:schemeClr val="bg2"/>
          </a:solidFill>
          <a:ln w="12700">
            <a:solidFill>
              <a:schemeClr val="bg2"/>
            </a:solidFill>
            <a:prstDash val="solid"/>
          </a:ln>
        </p:spPr>
      </p:sp>
      <p:pic>
        <p:nvPicPr>
          <p:cNvPr id="8" name="check icon 2" descr="check">    </p:cNvPr>
          <p:cNvPicPr>
            <a:picLocks noChangeAspect="1"/>
          </p:cNvPicPr>
          <p:nvPr/>
        </p:nvPicPr>
        <p:blipFill>
          <a:blip r:embed="rId2"/>
          <a:stretch>
            <a:fillRect/>
          </a:stretch>
        </p:blipFill>
        <p:spPr>
          <a:xfrm>
            <a:off x="822960" y="2862072"/>
            <a:ext cx="457200" cy="457200"/>
          </a:xfrm>
          <a:prstGeom prst="rect">
            <a:avLst/>
          </a:prstGeom>
        </p:spPr>
      </p:pic>
      <p:sp>
        <p:nvSpPr>
          <p:cNvPr id="9" name="Text 4"/>
          <p:cNvSpPr txBox="1"/>
          <p:nvPr/>
        </p:nvSpPr>
        <p:spPr>
          <a:xfrm>
            <a:off x="1508760" y="2697480"/>
            <a:ext cx="4297680" cy="777240"/>
          </a:xfrm>
          <a:prstGeom prst="rect">
            <a:avLst/>
          </a:prstGeom>
          <a:noFill/>
          <a:ln/>
        </p:spPr>
        <p:txBody>
          <a:bodyPr wrap="square" lIns="0" tIns="0" rIns="0" bIns="0" rtlCol="0" anchor="ctr"/>
          <a:lstStyle/>
          <a:p>
            <a:pPr indent="0" marL="0">
              <a:buNone/>
            </a:pPr>
            <a:r>
              <a:rPr lang="en-US" sz="1600" dirty="0">
                <a:solidFill>
                  <a:schemeClr val="tx1"/>
                </a:solidFill>
              </a:rPr>
              <a:t>Built around a real scenario, not a topic list</a:t>
            </a:r>
            <a:endParaRPr lang="en-US" sz="1600" dirty="0"/>
          </a:p>
        </p:txBody>
      </p:sp>
      <p:sp>
        <p:nvSpPr>
          <p:cNvPr id="10" name="checklist item 3"/>
          <p:cNvSpPr/>
          <p:nvPr/>
        </p:nvSpPr>
        <p:spPr>
          <a:xfrm>
            <a:off x="548640" y="3749040"/>
            <a:ext cx="5440680" cy="960120"/>
          </a:xfrm>
          <a:prstGeom prst="roundRect">
            <a:avLst>
              <a:gd name="adj" fmla="val 7619"/>
            </a:avLst>
          </a:prstGeom>
          <a:solidFill>
            <a:schemeClr val="bg2"/>
          </a:solidFill>
          <a:ln w="12700">
            <a:solidFill>
              <a:schemeClr val="bg2"/>
            </a:solidFill>
            <a:prstDash val="solid"/>
          </a:ln>
        </p:spPr>
      </p:sp>
      <p:pic>
        <p:nvPicPr>
          <p:cNvPr id="11" name="check icon 3" descr="check">    </p:cNvPr>
          <p:cNvPicPr>
            <a:picLocks noChangeAspect="1"/>
          </p:cNvPicPr>
          <p:nvPr/>
        </p:nvPicPr>
        <p:blipFill>
          <a:blip r:embed="rId3"/>
          <a:stretch>
            <a:fillRect/>
          </a:stretch>
        </p:blipFill>
        <p:spPr>
          <a:xfrm>
            <a:off x="822960" y="4005072"/>
            <a:ext cx="457200" cy="457200"/>
          </a:xfrm>
          <a:prstGeom prst="rect">
            <a:avLst/>
          </a:prstGeom>
        </p:spPr>
      </p:pic>
      <p:sp>
        <p:nvSpPr>
          <p:cNvPr id="12" name="Text 6"/>
          <p:cNvSpPr txBox="1"/>
          <p:nvPr/>
        </p:nvSpPr>
        <p:spPr>
          <a:xfrm>
            <a:off x="1508760" y="3840480"/>
            <a:ext cx="4297680" cy="777240"/>
          </a:xfrm>
          <a:prstGeom prst="rect">
            <a:avLst/>
          </a:prstGeom>
          <a:noFill/>
          <a:ln/>
        </p:spPr>
        <p:txBody>
          <a:bodyPr wrap="square" lIns="0" tIns="0" rIns="0" bIns="0" rtlCol="0" anchor="ctr"/>
          <a:lstStyle/>
          <a:p>
            <a:pPr indent="0" marL="0">
              <a:buNone/>
            </a:pPr>
            <a:r>
              <a:rPr lang="en-US" sz="1600" dirty="0">
                <a:solidFill>
                  <a:schemeClr val="tx1"/>
                </a:solidFill>
              </a:rPr>
              <a:t>Active practice or recall every 10–15 min</a:t>
            </a:r>
            <a:endParaRPr lang="en-US" sz="1600" dirty="0"/>
          </a:p>
        </p:txBody>
      </p:sp>
      <p:sp>
        <p:nvSpPr>
          <p:cNvPr id="13" name="checklist item 4"/>
          <p:cNvSpPr/>
          <p:nvPr/>
        </p:nvSpPr>
        <p:spPr>
          <a:xfrm>
            <a:off x="548640" y="4892040"/>
            <a:ext cx="5440680" cy="960120"/>
          </a:xfrm>
          <a:prstGeom prst="roundRect">
            <a:avLst>
              <a:gd name="adj" fmla="val 7619"/>
            </a:avLst>
          </a:prstGeom>
          <a:solidFill>
            <a:schemeClr val="bg2"/>
          </a:solidFill>
          <a:ln w="12700">
            <a:solidFill>
              <a:schemeClr val="bg2"/>
            </a:solidFill>
            <a:prstDash val="solid"/>
          </a:ln>
        </p:spPr>
      </p:sp>
      <p:pic>
        <p:nvPicPr>
          <p:cNvPr id="14" name="check icon 4" descr="check">    </p:cNvPr>
          <p:cNvPicPr>
            <a:picLocks noChangeAspect="1"/>
          </p:cNvPicPr>
          <p:nvPr/>
        </p:nvPicPr>
        <p:blipFill>
          <a:blip r:embed="rId4"/>
          <a:stretch>
            <a:fillRect/>
          </a:stretch>
        </p:blipFill>
        <p:spPr>
          <a:xfrm>
            <a:off x="822960" y="5148072"/>
            <a:ext cx="457200" cy="457200"/>
          </a:xfrm>
          <a:prstGeom prst="rect">
            <a:avLst/>
          </a:prstGeom>
        </p:spPr>
      </p:pic>
      <p:sp>
        <p:nvSpPr>
          <p:cNvPr id="15" name="Text 8"/>
          <p:cNvSpPr txBox="1"/>
          <p:nvPr/>
        </p:nvSpPr>
        <p:spPr>
          <a:xfrm>
            <a:off x="1508760" y="4983480"/>
            <a:ext cx="4297680" cy="777240"/>
          </a:xfrm>
          <a:prstGeom prst="rect">
            <a:avLst/>
          </a:prstGeom>
          <a:noFill/>
          <a:ln/>
        </p:spPr>
        <p:txBody>
          <a:bodyPr wrap="square" lIns="0" tIns="0" rIns="0" bIns="0" rtlCol="0" anchor="ctr"/>
          <a:lstStyle/>
          <a:p>
            <a:pPr indent="0" marL="0">
              <a:buNone/>
            </a:pPr>
            <a:r>
              <a:rPr lang="en-US" sz="1600" dirty="0">
                <a:solidFill>
                  <a:schemeClr val="tx1"/>
                </a:solidFill>
              </a:rPr>
              <a:t>A practice step with feedback (role-play, certification, live call)</a:t>
            </a:r>
            <a:endParaRPr lang="en-US" sz="1600" dirty="0"/>
          </a:p>
        </p:txBody>
      </p:sp>
      <p:sp>
        <p:nvSpPr>
          <p:cNvPr id="16" name="checklist item 5"/>
          <p:cNvSpPr/>
          <p:nvPr/>
        </p:nvSpPr>
        <p:spPr>
          <a:xfrm>
            <a:off x="6172200" y="1463040"/>
            <a:ext cx="5440680" cy="960120"/>
          </a:xfrm>
          <a:prstGeom prst="roundRect">
            <a:avLst>
              <a:gd name="adj" fmla="val 7619"/>
            </a:avLst>
          </a:prstGeom>
          <a:solidFill>
            <a:schemeClr val="bg2"/>
          </a:solidFill>
          <a:ln w="12700">
            <a:solidFill>
              <a:schemeClr val="bg2"/>
            </a:solidFill>
            <a:prstDash val="solid"/>
          </a:ln>
        </p:spPr>
      </p:sp>
      <p:pic>
        <p:nvPicPr>
          <p:cNvPr id="17" name="check icon 5" descr="check">    </p:cNvPr>
          <p:cNvPicPr>
            <a:picLocks noChangeAspect="1"/>
          </p:cNvPicPr>
          <p:nvPr/>
        </p:nvPicPr>
        <p:blipFill>
          <a:blip r:embed="rId5"/>
          <a:stretch>
            <a:fillRect/>
          </a:stretch>
        </p:blipFill>
        <p:spPr>
          <a:xfrm>
            <a:off x="6446520" y="1719072"/>
            <a:ext cx="457200" cy="457200"/>
          </a:xfrm>
          <a:prstGeom prst="rect">
            <a:avLst/>
          </a:prstGeom>
        </p:spPr>
      </p:pic>
      <p:sp>
        <p:nvSpPr>
          <p:cNvPr id="18" name="Text 10"/>
          <p:cNvSpPr txBox="1"/>
          <p:nvPr/>
        </p:nvSpPr>
        <p:spPr>
          <a:xfrm>
            <a:off x="7132320" y="1554480"/>
            <a:ext cx="4297680" cy="777240"/>
          </a:xfrm>
          <a:prstGeom prst="rect">
            <a:avLst/>
          </a:prstGeom>
          <a:noFill/>
          <a:ln/>
        </p:spPr>
        <p:txBody>
          <a:bodyPr wrap="square" lIns="0" tIns="0" rIns="0" bIns="0" rtlCol="0" anchor="ctr"/>
          <a:lstStyle/>
          <a:p>
            <a:pPr indent="0" marL="0">
              <a:buNone/>
            </a:pPr>
            <a:r>
              <a:rPr lang="en-US" sz="1600" dirty="0">
                <a:solidFill>
                  <a:schemeClr val="tx1"/>
                </a:solidFill>
              </a:rPr>
              <a:t>A reinforcement plan: spaced touches over 4–6 weeks</a:t>
            </a:r>
            <a:endParaRPr lang="en-US" sz="1600" dirty="0"/>
          </a:p>
        </p:txBody>
      </p:sp>
      <p:sp>
        <p:nvSpPr>
          <p:cNvPr id="19" name="checklist item 6"/>
          <p:cNvSpPr/>
          <p:nvPr/>
        </p:nvSpPr>
        <p:spPr>
          <a:xfrm>
            <a:off x="6172200" y="2606040"/>
            <a:ext cx="5440680" cy="960120"/>
          </a:xfrm>
          <a:prstGeom prst="roundRect">
            <a:avLst>
              <a:gd name="adj" fmla="val 7619"/>
            </a:avLst>
          </a:prstGeom>
          <a:solidFill>
            <a:schemeClr val="bg2"/>
          </a:solidFill>
          <a:ln w="12700">
            <a:solidFill>
              <a:schemeClr val="bg2"/>
            </a:solidFill>
            <a:prstDash val="solid"/>
          </a:ln>
        </p:spPr>
      </p:sp>
      <p:pic>
        <p:nvPicPr>
          <p:cNvPr id="20" name="check icon 6" descr="check">    </p:cNvPr>
          <p:cNvPicPr>
            <a:picLocks noChangeAspect="1"/>
          </p:cNvPicPr>
          <p:nvPr/>
        </p:nvPicPr>
        <p:blipFill>
          <a:blip r:embed="rId6"/>
          <a:stretch>
            <a:fillRect/>
          </a:stretch>
        </p:blipFill>
        <p:spPr>
          <a:xfrm>
            <a:off x="6446520" y="2862072"/>
            <a:ext cx="457200" cy="457200"/>
          </a:xfrm>
          <a:prstGeom prst="rect">
            <a:avLst/>
          </a:prstGeom>
        </p:spPr>
      </p:pic>
      <p:sp>
        <p:nvSpPr>
          <p:cNvPr id="21" name="Text 12"/>
          <p:cNvSpPr txBox="1"/>
          <p:nvPr/>
        </p:nvSpPr>
        <p:spPr>
          <a:xfrm>
            <a:off x="7132320" y="2697480"/>
            <a:ext cx="4297680" cy="777240"/>
          </a:xfrm>
          <a:prstGeom prst="rect">
            <a:avLst/>
          </a:prstGeom>
          <a:noFill/>
          <a:ln/>
        </p:spPr>
        <p:txBody>
          <a:bodyPr wrap="square" lIns="0" tIns="0" rIns="0" bIns="0" rtlCol="0" anchor="ctr"/>
          <a:lstStyle/>
          <a:p>
            <a:pPr indent="0" marL="0">
              <a:buNone/>
            </a:pPr>
            <a:r>
              <a:rPr lang="en-US" sz="1600" dirty="0">
                <a:solidFill>
                  <a:schemeClr val="tx1"/>
                </a:solidFill>
              </a:rPr>
              <a:t>A role for the manager (coaching guide, scorecard)</a:t>
            </a:r>
            <a:endParaRPr lang="en-US" sz="1600" dirty="0"/>
          </a:p>
        </p:txBody>
      </p:sp>
      <p:sp>
        <p:nvSpPr>
          <p:cNvPr id="22" name="checklist item 7"/>
          <p:cNvSpPr/>
          <p:nvPr/>
        </p:nvSpPr>
        <p:spPr>
          <a:xfrm>
            <a:off x="6172200" y="3749040"/>
            <a:ext cx="5440680" cy="960120"/>
          </a:xfrm>
          <a:prstGeom prst="roundRect">
            <a:avLst>
              <a:gd name="adj" fmla="val 7619"/>
            </a:avLst>
          </a:prstGeom>
          <a:solidFill>
            <a:schemeClr val="bg2"/>
          </a:solidFill>
          <a:ln w="12700">
            <a:solidFill>
              <a:schemeClr val="bg2"/>
            </a:solidFill>
            <a:prstDash val="solid"/>
          </a:ln>
        </p:spPr>
      </p:sp>
      <p:pic>
        <p:nvPicPr>
          <p:cNvPr id="23" name="check icon 7" descr="check">    </p:cNvPr>
          <p:cNvPicPr>
            <a:picLocks noChangeAspect="1"/>
          </p:cNvPicPr>
          <p:nvPr/>
        </p:nvPicPr>
        <p:blipFill>
          <a:blip r:embed="rId7"/>
          <a:stretch>
            <a:fillRect/>
          </a:stretch>
        </p:blipFill>
        <p:spPr>
          <a:xfrm>
            <a:off x="6446520" y="4005072"/>
            <a:ext cx="457200" cy="457200"/>
          </a:xfrm>
          <a:prstGeom prst="rect">
            <a:avLst/>
          </a:prstGeom>
        </p:spPr>
      </p:pic>
      <p:sp>
        <p:nvSpPr>
          <p:cNvPr id="24" name="Text 14"/>
          <p:cNvSpPr txBox="1"/>
          <p:nvPr/>
        </p:nvSpPr>
        <p:spPr>
          <a:xfrm>
            <a:off x="7132320" y="3840480"/>
            <a:ext cx="4297680" cy="777240"/>
          </a:xfrm>
          <a:prstGeom prst="rect">
            <a:avLst/>
          </a:prstGeom>
          <a:noFill/>
          <a:ln/>
        </p:spPr>
        <p:txBody>
          <a:bodyPr wrap="square" lIns="0" tIns="0" rIns="0" bIns="0" rtlCol="0" anchor="ctr"/>
          <a:lstStyle/>
          <a:p>
            <a:pPr indent="0" marL="0">
              <a:buNone/>
            </a:pPr>
            <a:r>
              <a:rPr lang="en-US" sz="1600" dirty="0">
                <a:solidFill>
                  <a:schemeClr val="tx1"/>
                </a:solidFill>
              </a:rPr>
              <a:t>A measurable behaviour or outcome (Kirkpatrick L3/L4)</a:t>
            </a:r>
            <a:endParaRPr lang="en-US" sz="1600" dirty="0"/>
          </a:p>
        </p:txBody>
      </p:sp>
      <p:sp>
        <p:nvSpPr>
          <p:cNvPr id="25" name="checklist item 8"/>
          <p:cNvSpPr/>
          <p:nvPr/>
        </p:nvSpPr>
        <p:spPr>
          <a:xfrm>
            <a:off x="6172200" y="4892040"/>
            <a:ext cx="5440680" cy="960120"/>
          </a:xfrm>
          <a:prstGeom prst="roundRect">
            <a:avLst>
              <a:gd name="adj" fmla="val 7619"/>
            </a:avLst>
          </a:prstGeom>
          <a:solidFill>
            <a:schemeClr val="bg2"/>
          </a:solidFill>
          <a:ln w="12700">
            <a:solidFill>
              <a:schemeClr val="bg2"/>
            </a:solidFill>
            <a:prstDash val="solid"/>
          </a:ln>
        </p:spPr>
      </p:sp>
      <p:pic>
        <p:nvPicPr>
          <p:cNvPr id="26" name="check icon 8" descr="check">    </p:cNvPr>
          <p:cNvPicPr>
            <a:picLocks noChangeAspect="1"/>
          </p:cNvPicPr>
          <p:nvPr/>
        </p:nvPicPr>
        <p:blipFill>
          <a:blip r:embed="rId8"/>
          <a:stretch>
            <a:fillRect/>
          </a:stretch>
        </p:blipFill>
        <p:spPr>
          <a:xfrm>
            <a:off x="6446520" y="5148072"/>
            <a:ext cx="457200" cy="457200"/>
          </a:xfrm>
          <a:prstGeom prst="rect">
            <a:avLst/>
          </a:prstGeom>
        </p:spPr>
      </p:pic>
      <p:sp>
        <p:nvSpPr>
          <p:cNvPr id="27" name="Text 16"/>
          <p:cNvSpPr txBox="1"/>
          <p:nvPr/>
        </p:nvSpPr>
        <p:spPr>
          <a:xfrm>
            <a:off x="7132320" y="4983480"/>
            <a:ext cx="4297680" cy="777240"/>
          </a:xfrm>
          <a:prstGeom prst="rect">
            <a:avLst/>
          </a:prstGeom>
          <a:noFill/>
          <a:ln/>
        </p:spPr>
        <p:txBody>
          <a:bodyPr wrap="square" lIns="0" tIns="0" rIns="0" bIns="0" rtlCol="0" anchor="ctr"/>
          <a:lstStyle/>
          <a:p>
            <a:pPr indent="0" marL="0">
              <a:buNone/>
            </a:pPr>
            <a:r>
              <a:rPr lang="en-US" sz="1600" dirty="0">
                <a:solidFill>
                  <a:schemeClr val="tx1"/>
                </a:solidFill>
              </a:rPr>
              <a:t>A test-out option for experienced hires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lIns="0" tIns="0" rIns="0" bIns="0" rtlCol="0" anchor="ctr"/>
          <a:lstStyle/>
          <a:p>
            <a:pPr algn="l" indent="0" marL="0">
              <a:buNone/>
            </a:pPr>
            <a:r>
              <a:rPr lang="en-US" sz="4000" b="1" dirty="0">
                <a:solidFill>
                  <a:schemeClr val="bg1"/>
                </a:solidFill>
              </a:rPr>
              <a:t>Part 2: How to ramp a commercial team</a:t>
            </a:r>
            <a:endParaRPr lang="en-US" sz="4000" dirty="0"/>
          </a:p>
        </p:txBody>
      </p:sp>
      <p:sp>
        <p:nvSpPr>
          <p:cNvPr id="3" name="Text 0"/>
          <p:cNvSpPr/>
          <p:nvPr>
            <p:ph idx="101" type="body" hasCustomPrompt="1"/>
          </p:nvPr>
        </p:nvSpPr>
        <p:spPr>
          <a:xfrm>
            <a:off x="731520" y="3840480"/>
            <a:ext cx="9601200" cy="1097280"/>
          </a:xfrm>
          <a:prstGeom prst="rect">
            <a:avLst/>
          </a:prstGeom>
          <a:noFill/>
          <a:ln/>
        </p:spPr>
        <p:txBody>
          <a:bodyPr wrap="square" lIns="0" tIns="0" rIns="0" bIns="0" rtlCol="0" anchor="t"/>
          <a:lstStyle/>
          <a:p>
            <a:pPr algn="l" indent="0" marL="0">
              <a:buNone/>
            </a:pPr>
            <a:r>
              <a:rPr lang="en-US" sz="1800" dirty="0">
                <a:solidFill>
                  <a:schemeClr val="accent6"/>
                </a:solidFill>
              </a:rPr>
              <a:t>Principles, ramp structure, role-based 30/60/90 plans and how we measure it</a:t>
            </a:r>
            <a:endParaRPr lang="en-US" sz="1800" dirty="0"/>
          </a:p>
        </p:txBody>
      </p:sp>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Seven principles for ramping well</a:t>
            </a:r>
            <a:endParaRPr lang="en-US" sz="3200" dirty="0"/>
          </a:p>
        </p:txBody>
      </p:sp>
      <p:sp>
        <p:nvSpPr>
          <p:cNvPr id="4" name="number 1"/>
          <p:cNvSpPr txBox="1"/>
          <p:nvPr/>
        </p:nvSpPr>
        <p:spPr>
          <a:xfrm>
            <a:off x="548640" y="15087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5" name="Text 2"/>
          <p:cNvSpPr txBox="1"/>
          <p:nvPr/>
        </p:nvSpPr>
        <p:spPr>
          <a:xfrm>
            <a:off x="1234440" y="1463040"/>
            <a:ext cx="2926080" cy="594360"/>
          </a:xfrm>
          <a:prstGeom prst="rect">
            <a:avLst/>
          </a:prstGeom>
          <a:noFill/>
          <a:ln/>
        </p:spPr>
        <p:txBody>
          <a:bodyPr wrap="square" lIns="0" tIns="0" rIns="0" bIns="0" rtlCol="0" anchor="ctr"/>
          <a:lstStyle/>
          <a:p>
            <a:pPr indent="0" marL="0">
              <a:buNone/>
            </a:pPr>
            <a:r>
              <a:rPr lang="en-US" sz="1600" b="1" dirty="0">
                <a:solidFill>
                  <a:schemeClr val="tx1"/>
                </a:solidFill>
              </a:rPr>
              <a:t>Ramp by milestones, not calendar</a:t>
            </a:r>
            <a:endParaRPr lang="en-US" sz="1600" dirty="0"/>
          </a:p>
        </p:txBody>
      </p:sp>
      <p:sp>
        <p:nvSpPr>
          <p:cNvPr id="6" name="Text 3"/>
          <p:cNvSpPr txBox="1"/>
          <p:nvPr/>
        </p:nvSpPr>
        <p:spPr>
          <a:xfrm>
            <a:off x="1234440" y="2057400"/>
            <a:ext cx="2926080" cy="822960"/>
          </a:xfrm>
          <a:prstGeom prst="rect">
            <a:avLst/>
          </a:prstGeom>
          <a:noFill/>
          <a:ln/>
        </p:spPr>
        <p:txBody>
          <a:bodyPr wrap="square" lIns="0" tIns="0" rIns="0" bIns="0" rtlCol="0" anchor="t"/>
          <a:lstStyle/>
          <a:p>
            <a:pPr indent="0" marL="0">
              <a:buNone/>
            </a:pPr>
            <a:r>
              <a:rPr lang="en-US" sz="1300" dirty="0">
                <a:solidFill>
                  <a:schemeClr val="accent3"/>
                </a:solidFill>
              </a:rPr>
              <a:t>First meeting, first qualified opp, first deal. 30/60/90 is the expected pace.</a:t>
            </a:r>
            <a:endParaRPr lang="en-US" sz="1300" dirty="0"/>
          </a:p>
        </p:txBody>
      </p:sp>
      <p:sp>
        <p:nvSpPr>
          <p:cNvPr id="7" name="number 2"/>
          <p:cNvSpPr txBox="1"/>
          <p:nvPr/>
        </p:nvSpPr>
        <p:spPr>
          <a:xfrm>
            <a:off x="548640" y="30632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8" name="Text 5"/>
          <p:cNvSpPr txBox="1"/>
          <p:nvPr/>
        </p:nvSpPr>
        <p:spPr>
          <a:xfrm>
            <a:off x="1234440" y="3017520"/>
            <a:ext cx="2926080" cy="594360"/>
          </a:xfrm>
          <a:prstGeom prst="rect">
            <a:avLst/>
          </a:prstGeom>
          <a:noFill/>
          <a:ln/>
        </p:spPr>
        <p:txBody>
          <a:bodyPr wrap="square" lIns="0" tIns="0" rIns="0" bIns="0" rtlCol="0" anchor="ctr"/>
          <a:lstStyle/>
          <a:p>
            <a:pPr indent="0" marL="0">
              <a:buNone/>
            </a:pPr>
            <a:r>
              <a:rPr lang="en-US" sz="1600" b="1" dirty="0">
                <a:solidFill>
                  <a:schemeClr val="tx1"/>
                </a:solidFill>
              </a:rPr>
              <a:t>Front-load the minimum</a:t>
            </a:r>
            <a:endParaRPr lang="en-US" sz="1600" dirty="0"/>
          </a:p>
        </p:txBody>
      </p:sp>
      <p:sp>
        <p:nvSpPr>
          <p:cNvPr id="9" name="Text 6"/>
          <p:cNvSpPr txBox="1"/>
          <p:nvPr/>
        </p:nvSpPr>
        <p:spPr>
          <a:xfrm>
            <a:off x="1234440" y="3611880"/>
            <a:ext cx="2926080" cy="822960"/>
          </a:xfrm>
          <a:prstGeom prst="rect">
            <a:avLst/>
          </a:prstGeom>
          <a:noFill/>
          <a:ln/>
        </p:spPr>
        <p:txBody>
          <a:bodyPr wrap="square" lIns="0" tIns="0" rIns="0" bIns="0" rtlCol="0" anchor="t"/>
          <a:lstStyle/>
          <a:p>
            <a:pPr indent="0" marL="0">
              <a:buNone/>
            </a:pPr>
            <a:r>
              <a:rPr lang="en-US" sz="1300" dirty="0">
                <a:solidFill>
                  <a:schemeClr val="accent3"/>
                </a:solidFill>
              </a:rPr>
              <a:t>Week 1 covers what's needed for a credible first conversation. Then learn by doing.</a:t>
            </a:r>
            <a:endParaRPr lang="en-US" sz="1300" dirty="0"/>
          </a:p>
        </p:txBody>
      </p:sp>
      <p:sp>
        <p:nvSpPr>
          <p:cNvPr id="10" name="number 3"/>
          <p:cNvSpPr txBox="1"/>
          <p:nvPr/>
        </p:nvSpPr>
        <p:spPr>
          <a:xfrm>
            <a:off x="548640" y="46177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1" name="Text 8"/>
          <p:cNvSpPr txBox="1"/>
          <p:nvPr/>
        </p:nvSpPr>
        <p:spPr>
          <a:xfrm>
            <a:off x="1234440" y="4572000"/>
            <a:ext cx="2926080" cy="594360"/>
          </a:xfrm>
          <a:prstGeom prst="rect">
            <a:avLst/>
          </a:prstGeom>
          <a:noFill/>
          <a:ln/>
        </p:spPr>
        <p:txBody>
          <a:bodyPr wrap="square" lIns="0" tIns="0" rIns="0" bIns="0" rtlCol="0" anchor="ctr"/>
          <a:lstStyle/>
          <a:p>
            <a:pPr indent="0" marL="0">
              <a:buNone/>
            </a:pPr>
            <a:r>
              <a:rPr lang="en-US" sz="1600" b="1" dirty="0">
                <a:solidFill>
                  <a:schemeClr val="tx1"/>
                </a:solidFill>
              </a:rPr>
              <a:t>Make it role-specific</a:t>
            </a:r>
            <a:endParaRPr lang="en-US" sz="1600" dirty="0"/>
          </a:p>
        </p:txBody>
      </p:sp>
      <p:sp>
        <p:nvSpPr>
          <p:cNvPr id="12" name="Text 9"/>
          <p:cNvSpPr txBox="1"/>
          <p:nvPr/>
        </p:nvSpPr>
        <p:spPr>
          <a:xfrm>
            <a:off x="1234440" y="5166360"/>
            <a:ext cx="2926080" cy="822960"/>
          </a:xfrm>
          <a:prstGeom prst="rect">
            <a:avLst/>
          </a:prstGeom>
          <a:noFill/>
          <a:ln/>
        </p:spPr>
        <p:txBody>
          <a:bodyPr wrap="square" lIns="0" tIns="0" rIns="0" bIns="0" rtlCol="0" anchor="t"/>
          <a:lstStyle/>
          <a:p>
            <a:pPr indent="0" marL="0">
              <a:buNone/>
            </a:pPr>
            <a:r>
              <a:rPr lang="en-US" sz="1300" dirty="0">
                <a:solidFill>
                  <a:schemeClr val="accent3"/>
                </a:solidFill>
              </a:rPr>
              <a:t>One shared core is fine; one shared path isn't.</a:t>
            </a:r>
            <a:endParaRPr lang="en-US" sz="1300" dirty="0"/>
          </a:p>
        </p:txBody>
      </p:sp>
      <p:sp>
        <p:nvSpPr>
          <p:cNvPr id="13" name="number 5"/>
          <p:cNvSpPr txBox="1"/>
          <p:nvPr/>
        </p:nvSpPr>
        <p:spPr>
          <a:xfrm>
            <a:off x="4343400" y="150876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14" name="Text 11"/>
          <p:cNvSpPr txBox="1"/>
          <p:nvPr/>
        </p:nvSpPr>
        <p:spPr>
          <a:xfrm>
            <a:off x="5029200" y="1463040"/>
            <a:ext cx="2926080" cy="594360"/>
          </a:xfrm>
          <a:prstGeom prst="rect">
            <a:avLst/>
          </a:prstGeom>
          <a:noFill/>
          <a:ln/>
        </p:spPr>
        <p:txBody>
          <a:bodyPr wrap="square" lIns="0" tIns="0" rIns="0" bIns="0" rtlCol="0" anchor="ctr"/>
          <a:lstStyle/>
          <a:p>
            <a:pPr indent="0" marL="0">
              <a:buNone/>
            </a:pPr>
            <a:r>
              <a:rPr lang="en-US" sz="1600" b="1" dirty="0">
                <a:solidFill>
                  <a:schemeClr val="tx1"/>
                </a:solidFill>
              </a:rPr>
              <a:t>Certify, don't just complete</a:t>
            </a:r>
            <a:endParaRPr lang="en-US" sz="1600" dirty="0"/>
          </a:p>
        </p:txBody>
      </p:sp>
      <p:sp>
        <p:nvSpPr>
          <p:cNvPr id="15" name="Text 12"/>
          <p:cNvSpPr txBox="1"/>
          <p:nvPr/>
        </p:nvSpPr>
        <p:spPr>
          <a:xfrm>
            <a:off x="5029200" y="2057400"/>
            <a:ext cx="2926080" cy="822960"/>
          </a:xfrm>
          <a:prstGeom prst="rect">
            <a:avLst/>
          </a:prstGeom>
          <a:noFill/>
          <a:ln/>
        </p:spPr>
        <p:txBody>
          <a:bodyPr wrap="square" lIns="0" tIns="0" rIns="0" bIns="0" rtlCol="0" anchor="t"/>
          <a:lstStyle/>
          <a:p>
            <a:pPr indent="0" marL="0">
              <a:buNone/>
            </a:pPr>
            <a:r>
              <a:rPr lang="en-US" sz="1300" dirty="0">
                <a:solidFill>
                  <a:schemeClr val="accent3"/>
                </a:solidFill>
              </a:rPr>
              <a:t>Gate progress on shown ability, not finished modules.</a:t>
            </a:r>
            <a:endParaRPr lang="en-US" sz="1300" dirty="0"/>
          </a:p>
        </p:txBody>
      </p:sp>
      <p:sp>
        <p:nvSpPr>
          <p:cNvPr id="16" name="number 6"/>
          <p:cNvSpPr txBox="1"/>
          <p:nvPr/>
        </p:nvSpPr>
        <p:spPr>
          <a:xfrm>
            <a:off x="4343400" y="30632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17" name="Text 14"/>
          <p:cNvSpPr txBox="1"/>
          <p:nvPr/>
        </p:nvSpPr>
        <p:spPr>
          <a:xfrm>
            <a:off x="5029200" y="3017520"/>
            <a:ext cx="2926080" cy="594360"/>
          </a:xfrm>
          <a:prstGeom prst="rect">
            <a:avLst/>
          </a:prstGeom>
          <a:noFill/>
          <a:ln/>
        </p:spPr>
        <p:txBody>
          <a:bodyPr wrap="square" lIns="0" tIns="0" rIns="0" bIns="0" rtlCol="0" anchor="ctr"/>
          <a:lstStyle/>
          <a:p>
            <a:pPr indent="0" marL="0">
              <a:buNone/>
            </a:pPr>
            <a:r>
              <a:rPr lang="en-US" sz="1600" b="1" dirty="0">
                <a:solidFill>
                  <a:schemeClr val="tx1"/>
                </a:solidFill>
              </a:rPr>
              <a:t>Reinforce past day 90</a:t>
            </a:r>
            <a:endParaRPr lang="en-US" sz="1600" dirty="0"/>
          </a:p>
        </p:txBody>
      </p:sp>
      <p:sp>
        <p:nvSpPr>
          <p:cNvPr id="18" name="Text 15"/>
          <p:cNvSpPr txBox="1"/>
          <p:nvPr/>
        </p:nvSpPr>
        <p:spPr>
          <a:xfrm>
            <a:off x="5029200" y="3611880"/>
            <a:ext cx="2926080" cy="822960"/>
          </a:xfrm>
          <a:prstGeom prst="rect">
            <a:avLst/>
          </a:prstGeom>
          <a:noFill/>
          <a:ln/>
        </p:spPr>
        <p:txBody>
          <a:bodyPr wrap="square" lIns="0" tIns="0" rIns="0" bIns="0" rtlCol="0" anchor="t"/>
          <a:lstStyle/>
          <a:p>
            <a:pPr indent="0" marL="0">
              <a:buNone/>
            </a:pPr>
            <a:r>
              <a:rPr lang="en-US" sz="1300" dirty="0">
                <a:solidFill>
                  <a:schemeClr val="accent3"/>
                </a:solidFill>
              </a:rPr>
              <a:t>Ramp turns into everboarding with no gap.</a:t>
            </a:r>
            <a:endParaRPr lang="en-US" sz="1300" dirty="0"/>
          </a:p>
        </p:txBody>
      </p:sp>
      <p:sp>
        <p:nvSpPr>
          <p:cNvPr id="19" name="number 7"/>
          <p:cNvSpPr txBox="1"/>
          <p:nvPr/>
        </p:nvSpPr>
        <p:spPr>
          <a:xfrm>
            <a:off x="4343400" y="461772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bg1"/>
                </a:solidFill>
              </a:rPr>
              <a:t>7</a:t>
            </a:r>
            <a:endParaRPr lang="en-US" sz="1700" dirty="0"/>
          </a:p>
        </p:txBody>
      </p:sp>
      <p:sp>
        <p:nvSpPr>
          <p:cNvPr id="20" name="Text 17"/>
          <p:cNvSpPr txBox="1"/>
          <p:nvPr/>
        </p:nvSpPr>
        <p:spPr>
          <a:xfrm>
            <a:off x="5029200" y="4572000"/>
            <a:ext cx="2926080" cy="594360"/>
          </a:xfrm>
          <a:prstGeom prst="rect">
            <a:avLst/>
          </a:prstGeom>
          <a:noFill/>
          <a:ln/>
        </p:spPr>
        <p:txBody>
          <a:bodyPr wrap="square" lIns="0" tIns="0" rIns="0" bIns="0" rtlCol="0" anchor="ctr"/>
          <a:lstStyle/>
          <a:p>
            <a:pPr indent="0" marL="0">
              <a:buNone/>
            </a:pPr>
            <a:r>
              <a:rPr lang="en-US" sz="1600" b="1" dirty="0">
                <a:solidFill>
                  <a:schemeClr val="tx1"/>
                </a:solidFill>
              </a:rPr>
              <a:t>Measure leading indicators</a:t>
            </a:r>
            <a:endParaRPr lang="en-US" sz="1600" dirty="0"/>
          </a:p>
        </p:txBody>
      </p:sp>
      <p:sp>
        <p:nvSpPr>
          <p:cNvPr id="21" name="Text 18"/>
          <p:cNvSpPr txBox="1"/>
          <p:nvPr/>
        </p:nvSpPr>
        <p:spPr>
          <a:xfrm>
            <a:off x="5029200" y="5166360"/>
            <a:ext cx="2926080" cy="822960"/>
          </a:xfrm>
          <a:prstGeom prst="rect">
            <a:avLst/>
          </a:prstGeom>
          <a:noFill/>
          <a:ln/>
        </p:spPr>
        <p:txBody>
          <a:bodyPr wrap="square" lIns="0" tIns="0" rIns="0" bIns="0" rtlCol="0" anchor="t"/>
          <a:lstStyle/>
          <a:p>
            <a:pPr indent="0" marL="0">
              <a:buNone/>
            </a:pPr>
            <a:r>
              <a:rPr lang="en-US" sz="1300" dirty="0">
                <a:solidFill>
                  <a:schemeClr val="accent3"/>
                </a:solidFill>
              </a:rPr>
              <a:t>Activity and skill data show problems weeks before quota does.</a:t>
            </a:r>
            <a:endParaRPr lang="en-US" sz="1300" dirty="0"/>
          </a:p>
        </p:txBody>
      </p:sp>
      <p:sp>
        <p:nvSpPr>
          <p:cNvPr id="22" name="manager callout"/>
          <p:cNvSpPr/>
          <p:nvPr/>
        </p:nvSpPr>
        <p:spPr>
          <a:xfrm>
            <a:off x="8183880" y="1463040"/>
            <a:ext cx="3429000" cy="4480560"/>
          </a:xfrm>
          <a:prstGeom prst="roundRect">
            <a:avLst>
              <a:gd name="adj" fmla="val 2133"/>
            </a:avLst>
          </a:prstGeom>
          <a:solidFill>
            <a:schemeClr val="tx2"/>
          </a:solidFill>
          <a:ln w="12700">
            <a:solidFill>
              <a:schemeClr val="tx2"/>
            </a:solidFill>
            <a:prstDash val="solid"/>
          </a:ln>
        </p:spPr>
      </p:sp>
      <p:sp>
        <p:nvSpPr>
          <p:cNvPr id="23" name="number 4"/>
          <p:cNvSpPr txBox="1"/>
          <p:nvPr/>
        </p:nvSpPr>
        <p:spPr>
          <a:xfrm>
            <a:off x="8503920" y="1783080"/>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700" b="1" dirty="0">
                <a:solidFill>
                  <a:schemeClr val="tx2"/>
                </a:solidFill>
              </a:rPr>
              <a:t>4</a:t>
            </a:r>
            <a:endParaRPr lang="en-US" sz="1700" dirty="0"/>
          </a:p>
        </p:txBody>
      </p:sp>
      <p:sp>
        <p:nvSpPr>
          <p:cNvPr id="24" name="Text 21"/>
          <p:cNvSpPr txBox="1"/>
          <p:nvPr/>
        </p:nvSpPr>
        <p:spPr>
          <a:xfrm>
            <a:off x="8503920" y="2468880"/>
            <a:ext cx="2834640" cy="914400"/>
          </a:xfrm>
          <a:prstGeom prst="rect">
            <a:avLst/>
          </a:prstGeom>
          <a:noFill/>
          <a:ln/>
        </p:spPr>
        <p:txBody>
          <a:bodyPr wrap="square" lIns="0" tIns="0" rIns="0" bIns="0" rtlCol="0" anchor="t"/>
          <a:lstStyle/>
          <a:p>
            <a:pPr indent="0" marL="0">
              <a:buNone/>
            </a:pPr>
            <a:r>
              <a:rPr lang="en-US" sz="2400" b="1" dirty="0">
                <a:solidFill>
                  <a:schemeClr val="bg1"/>
                </a:solidFill>
              </a:rPr>
              <a:t>The manager matters most</a:t>
            </a:r>
            <a:endParaRPr lang="en-US" sz="2400" dirty="0"/>
          </a:p>
        </p:txBody>
      </p:sp>
      <p:sp>
        <p:nvSpPr>
          <p:cNvPr id="25" name="Text 22"/>
          <p:cNvSpPr txBox="1"/>
          <p:nvPr/>
        </p:nvSpPr>
        <p:spPr>
          <a:xfrm>
            <a:off x="8503920" y="3520440"/>
            <a:ext cx="2834640" cy="2194560"/>
          </a:xfrm>
          <a:prstGeom prst="rect">
            <a:avLst/>
          </a:prstGeom>
          <a:noFill/>
          <a:ln/>
        </p:spPr>
        <p:txBody>
          <a:bodyPr wrap="square" lIns="0" tIns="0" rIns="0" bIns="0" rtlCol="0" anchor="t"/>
          <a:lstStyle/>
          <a:p>
            <a:pPr indent="0" marL="0">
              <a:buNone/>
            </a:pPr>
            <a:r>
              <a:rPr lang="en-US" sz="1500" dirty="0">
                <a:solidFill>
                  <a:schemeClr val="accent6"/>
                </a:solidFill>
              </a:rPr>
              <a:t>Frontline coaching affects ramp more than any content. Managers own the 30/60/90 plan; enablement equips them to coach it.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Ramp architecture: four phases, no gaps</a:t>
            </a:r>
            <a:endParaRPr lang="en-US" sz="3200" dirty="0"/>
          </a:p>
        </p:txBody>
      </p:sp>
      <p:sp>
        <p:nvSpPr>
          <p:cNvPr id="4" name="Pre-boarding phase card"/>
          <p:cNvSpPr/>
          <p:nvPr/>
        </p:nvSpPr>
        <p:spPr>
          <a:xfrm>
            <a:off x="548640" y="1463040"/>
            <a:ext cx="2560320" cy="4572000"/>
          </a:xfrm>
          <a:prstGeom prst="roundRect">
            <a:avLst>
              <a:gd name="adj" fmla="val 2857"/>
            </a:avLst>
          </a:prstGeom>
          <a:solidFill>
            <a:schemeClr val="bg2"/>
          </a:solidFill>
          <a:ln w="12700">
            <a:solidFill>
              <a:schemeClr val="bg2"/>
            </a:solidFill>
            <a:prstDash val="solid"/>
          </a:ln>
        </p:spPr>
      </p:sp>
      <p:sp>
        <p:nvSpPr>
          <p:cNvPr id="5" name="Pre-boarding icon circle"/>
          <p:cNvSpPr/>
          <p:nvPr/>
        </p:nvSpPr>
        <p:spPr>
          <a:xfrm>
            <a:off x="822960" y="1737360"/>
            <a:ext cx="640080" cy="640080"/>
          </a:xfrm>
          <a:prstGeom prst="ellipse">
            <a:avLst/>
          </a:prstGeom>
          <a:solidFill>
            <a:schemeClr val="accent1"/>
          </a:solidFill>
          <a:ln w="12700">
            <a:solidFill>
              <a:schemeClr val="accent1"/>
            </a:solidFill>
            <a:prstDash val="solid"/>
          </a:ln>
        </p:spPr>
      </p:sp>
      <p:pic>
        <p:nvPicPr>
          <p:cNvPr id="6" name="Pre-boarding icon" descr="Pre-boarding icon">    </p:cNvPr>
          <p:cNvPicPr>
            <a:picLocks noChangeAspect="1"/>
          </p:cNvPicPr>
          <p:nvPr/>
        </p:nvPicPr>
        <p:blipFill>
          <a:blip r:embed="rId1"/>
          <a:stretch>
            <a:fillRect/>
          </a:stretch>
        </p:blipFill>
        <p:spPr>
          <a:xfrm>
            <a:off x="982980" y="1897380"/>
            <a:ext cx="320040" cy="320040"/>
          </a:xfrm>
          <a:prstGeom prst="rect">
            <a:avLst/>
          </a:prstGeom>
        </p:spPr>
      </p:pic>
      <p:sp>
        <p:nvSpPr>
          <p:cNvPr id="7" name="Text 3"/>
          <p:cNvSpPr txBox="1"/>
          <p:nvPr/>
        </p:nvSpPr>
        <p:spPr>
          <a:xfrm>
            <a:off x="822960" y="2514600"/>
            <a:ext cx="2103120" cy="457200"/>
          </a:xfrm>
          <a:prstGeom prst="rect">
            <a:avLst/>
          </a:prstGeom>
          <a:noFill/>
          <a:ln/>
        </p:spPr>
        <p:txBody>
          <a:bodyPr wrap="square" lIns="0" tIns="0" rIns="0" bIns="0" rtlCol="0" anchor="t"/>
          <a:lstStyle/>
          <a:p>
            <a:pPr indent="0" marL="0">
              <a:buNone/>
            </a:pPr>
            <a:r>
              <a:rPr lang="en-US" sz="2000" b="1" dirty="0">
                <a:solidFill>
                  <a:schemeClr val="tx1"/>
                </a:solidFill>
              </a:rPr>
              <a:t>Pre-boarding</a:t>
            </a:r>
            <a:endParaRPr lang="en-US" sz="2000" dirty="0"/>
          </a:p>
        </p:txBody>
      </p:sp>
      <p:sp>
        <p:nvSpPr>
          <p:cNvPr id="8" name="Text 4"/>
          <p:cNvSpPr txBox="1"/>
          <p:nvPr/>
        </p:nvSpPr>
        <p:spPr>
          <a:xfrm>
            <a:off x="822960" y="2926080"/>
            <a:ext cx="2103120" cy="365760"/>
          </a:xfrm>
          <a:prstGeom prst="rect">
            <a:avLst/>
          </a:prstGeom>
          <a:noFill/>
          <a:ln/>
        </p:spPr>
        <p:txBody>
          <a:bodyPr wrap="square" lIns="0" tIns="0" rIns="0" bIns="0" rtlCol="0" anchor="t"/>
          <a:lstStyle/>
          <a:p>
            <a:pPr indent="0" marL="0">
              <a:buNone/>
            </a:pPr>
            <a:r>
              <a:rPr lang="en-US" sz="1300" b="1" dirty="0">
                <a:solidFill>
                  <a:schemeClr val="accent1"/>
                </a:solidFill>
              </a:rPr>
              <a:t>Before day 1</a:t>
            </a:r>
            <a:endParaRPr lang="en-US" sz="1300" dirty="0"/>
          </a:p>
        </p:txBody>
      </p:sp>
      <p:sp>
        <p:nvSpPr>
          <p:cNvPr id="9" name="Text 5"/>
          <p:cNvSpPr txBox="1"/>
          <p:nvPr/>
        </p:nvSpPr>
        <p:spPr>
          <a:xfrm>
            <a:off x="822960" y="3383280"/>
            <a:ext cx="214884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Welcome pack</a:t>
            </a:r>
            <a:endParaRPr lang="en-US" sz="1300" dirty="0"/>
          </a:p>
          <a:p>
            <a:pPr marL="342900" indent="-342900">
              <a:spcAft>
                <a:spcPts val="600"/>
              </a:spcAft>
              <a:buSzPct val="100000"/>
              <a:buChar char="•"/>
            </a:pPr>
            <a:r>
              <a:rPr lang="en-US" sz="1300" dirty="0">
                <a:solidFill>
                  <a:schemeClr val="tx1"/>
                </a:solidFill>
              </a:rPr>
              <a:t>Tool access ready</a:t>
            </a:r>
            <a:endParaRPr lang="en-US" sz="1300" dirty="0"/>
          </a:p>
          <a:p>
            <a:pPr marL="342900" indent="-342900">
              <a:spcAft>
                <a:spcPts val="600"/>
              </a:spcAft>
              <a:buSzPct val="100000"/>
              <a:buChar char="•"/>
            </a:pPr>
            <a:r>
              <a:rPr lang="en-US" sz="1300" dirty="0">
                <a:solidFill>
                  <a:schemeClr val="tx1"/>
                </a:solidFill>
              </a:rPr>
              <a:t>Light pre-reads</a:t>
            </a:r>
            <a:endParaRPr lang="en-US" sz="1300" dirty="0"/>
          </a:p>
          <a:p>
            <a:pPr marL="342900" indent="-342900">
              <a:spcAft>
                <a:spcPts val="600"/>
              </a:spcAft>
              <a:buSzPct val="100000"/>
              <a:buChar char="•"/>
            </a:pPr>
            <a:r>
              <a:rPr lang="en-US" sz="1300" dirty="0">
                <a:solidFill>
                  <a:schemeClr val="tx1"/>
                </a:solidFill>
              </a:rPr>
              <a:t>Buddy assigned</a:t>
            </a:r>
            <a:endParaRPr lang="en-US" sz="1300" dirty="0"/>
          </a:p>
          <a:p>
            <a:pPr marL="342900" indent="-342900">
              <a:spcAft>
                <a:spcPts val="600"/>
              </a:spcAft>
              <a:buSzPct val="100000"/>
              <a:buChar char="•"/>
            </a:pPr>
            <a:r>
              <a:rPr lang="en-US" sz="1300" dirty="0">
                <a:solidFill>
                  <a:schemeClr val="tx1"/>
                </a:solidFill>
              </a:rPr>
              <a:t>Manager drafts 30/60/90</a:t>
            </a:r>
            <a:endParaRPr lang="en-US" sz="1300" dirty="0"/>
          </a:p>
        </p:txBody>
      </p:sp>
      <p:sp>
        <p:nvSpPr>
          <p:cNvPr id="10" name="phase arrow 1"/>
          <p:cNvSpPr/>
          <p:nvPr/>
        </p:nvSpPr>
        <p:spPr>
          <a:xfrm>
            <a:off x="3163824" y="3566160"/>
            <a:ext cx="164592" cy="365760"/>
          </a:xfrm>
          <a:prstGeom prst="chevron">
            <a:avLst/>
          </a:prstGeom>
          <a:solidFill>
            <a:schemeClr val="accent3"/>
          </a:solidFill>
          <a:ln w="12700">
            <a:solidFill>
              <a:schemeClr val="accent3"/>
            </a:solidFill>
            <a:prstDash val="solid"/>
          </a:ln>
        </p:spPr>
      </p:sp>
      <p:sp>
        <p:nvSpPr>
          <p:cNvPr id="11" name="Onboard phase card"/>
          <p:cNvSpPr/>
          <p:nvPr/>
        </p:nvSpPr>
        <p:spPr>
          <a:xfrm>
            <a:off x="3383280" y="1463040"/>
            <a:ext cx="2560320" cy="4572000"/>
          </a:xfrm>
          <a:prstGeom prst="roundRect">
            <a:avLst>
              <a:gd name="adj" fmla="val 2857"/>
            </a:avLst>
          </a:prstGeom>
          <a:solidFill>
            <a:schemeClr val="bg2"/>
          </a:solidFill>
          <a:ln w="12700">
            <a:solidFill>
              <a:schemeClr val="bg2"/>
            </a:solidFill>
            <a:prstDash val="solid"/>
          </a:ln>
        </p:spPr>
      </p:sp>
      <p:sp>
        <p:nvSpPr>
          <p:cNvPr id="12" name="Onboard icon circle"/>
          <p:cNvSpPr/>
          <p:nvPr/>
        </p:nvSpPr>
        <p:spPr>
          <a:xfrm>
            <a:off x="3657600" y="1737360"/>
            <a:ext cx="640080" cy="640080"/>
          </a:xfrm>
          <a:prstGeom prst="ellipse">
            <a:avLst/>
          </a:prstGeom>
          <a:solidFill>
            <a:schemeClr val="accent1"/>
          </a:solidFill>
          <a:ln w="12700">
            <a:solidFill>
              <a:schemeClr val="accent1"/>
            </a:solidFill>
            <a:prstDash val="solid"/>
          </a:ln>
        </p:spPr>
      </p:sp>
      <p:pic>
        <p:nvPicPr>
          <p:cNvPr id="13" name="Onboard icon" descr="Onboard icon">    </p:cNvPr>
          <p:cNvPicPr>
            <a:picLocks noChangeAspect="1"/>
          </p:cNvPicPr>
          <p:nvPr/>
        </p:nvPicPr>
        <p:blipFill>
          <a:blip r:embed="rId2"/>
          <a:stretch>
            <a:fillRect/>
          </a:stretch>
        </p:blipFill>
        <p:spPr>
          <a:xfrm>
            <a:off x="3817620" y="1897380"/>
            <a:ext cx="320040" cy="320040"/>
          </a:xfrm>
          <a:prstGeom prst="rect">
            <a:avLst/>
          </a:prstGeom>
        </p:spPr>
      </p:pic>
      <p:sp>
        <p:nvSpPr>
          <p:cNvPr id="14" name="Text 9"/>
          <p:cNvSpPr txBox="1"/>
          <p:nvPr/>
        </p:nvSpPr>
        <p:spPr>
          <a:xfrm>
            <a:off x="3657600" y="2514600"/>
            <a:ext cx="2103120" cy="457200"/>
          </a:xfrm>
          <a:prstGeom prst="rect">
            <a:avLst/>
          </a:prstGeom>
          <a:noFill/>
          <a:ln/>
        </p:spPr>
        <p:txBody>
          <a:bodyPr wrap="square" lIns="0" tIns="0" rIns="0" bIns="0" rtlCol="0" anchor="t"/>
          <a:lstStyle/>
          <a:p>
            <a:pPr indent="0" marL="0">
              <a:buNone/>
            </a:pPr>
            <a:r>
              <a:rPr lang="en-US" sz="2000" b="1" dirty="0">
                <a:solidFill>
                  <a:schemeClr val="tx1"/>
                </a:solidFill>
              </a:rPr>
              <a:t>Onboard</a:t>
            </a:r>
            <a:endParaRPr lang="en-US" sz="2000" dirty="0"/>
          </a:p>
        </p:txBody>
      </p:sp>
      <p:sp>
        <p:nvSpPr>
          <p:cNvPr id="15" name="Text 10"/>
          <p:cNvSpPr txBox="1"/>
          <p:nvPr/>
        </p:nvSpPr>
        <p:spPr>
          <a:xfrm>
            <a:off x="3657600" y="2926080"/>
            <a:ext cx="2103120" cy="365760"/>
          </a:xfrm>
          <a:prstGeom prst="rect">
            <a:avLst/>
          </a:prstGeom>
          <a:noFill/>
          <a:ln/>
        </p:spPr>
        <p:txBody>
          <a:bodyPr wrap="square" lIns="0" tIns="0" rIns="0" bIns="0" rtlCol="0" anchor="t"/>
          <a:lstStyle/>
          <a:p>
            <a:pPr indent="0" marL="0">
              <a:buNone/>
            </a:pPr>
            <a:r>
              <a:rPr lang="en-US" sz="1300" b="1" dirty="0">
                <a:solidFill>
                  <a:schemeClr val="accent1"/>
                </a:solidFill>
              </a:rPr>
              <a:t>Weeks 1–2</a:t>
            </a:r>
            <a:endParaRPr lang="en-US" sz="1300" dirty="0"/>
          </a:p>
        </p:txBody>
      </p:sp>
      <p:sp>
        <p:nvSpPr>
          <p:cNvPr id="16" name="Text 11"/>
          <p:cNvSpPr txBox="1"/>
          <p:nvPr/>
        </p:nvSpPr>
        <p:spPr>
          <a:xfrm>
            <a:off x="3657600" y="3383280"/>
            <a:ext cx="214884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Checkout &amp; NORAM context</a:t>
            </a:r>
            <a:endParaRPr lang="en-US" sz="1300" dirty="0"/>
          </a:p>
          <a:p>
            <a:pPr marL="342900" indent="-342900">
              <a:spcAft>
                <a:spcPts val="600"/>
              </a:spcAft>
              <a:buSzPct val="100000"/>
              <a:buChar char="•"/>
            </a:pPr>
            <a:r>
              <a:rPr lang="en-US" sz="1300" dirty="0">
                <a:solidFill>
                  <a:schemeClr val="tx1"/>
                </a:solidFill>
              </a:rPr>
              <a:t>Payments 101</a:t>
            </a:r>
            <a:endParaRPr lang="en-US" sz="1300" dirty="0"/>
          </a:p>
          <a:p>
            <a:pPr marL="342900" indent="-342900">
              <a:spcAft>
                <a:spcPts val="600"/>
              </a:spcAft>
              <a:buSzPct val="100000"/>
              <a:buChar char="•"/>
            </a:pPr>
            <a:r>
              <a:rPr lang="en-US" sz="1300" dirty="0">
                <a:solidFill>
                  <a:schemeClr val="tx1"/>
                </a:solidFill>
              </a:rPr>
              <a:t>RevWay/DEPTH intro</a:t>
            </a:r>
            <a:endParaRPr lang="en-US" sz="1300" dirty="0"/>
          </a:p>
          <a:p>
            <a:pPr marL="342900" indent="-342900">
              <a:spcAft>
                <a:spcPts val="600"/>
              </a:spcAft>
              <a:buSzPct val="100000"/>
              <a:buChar char="•"/>
            </a:pPr>
            <a:r>
              <a:rPr lang="en-US" sz="1300" dirty="0">
                <a:solidFill>
                  <a:schemeClr val="tx1"/>
                </a:solidFill>
              </a:rPr>
              <a:t>Salesforce, Gong, Glean, Drive</a:t>
            </a:r>
            <a:endParaRPr lang="en-US" sz="1300" dirty="0"/>
          </a:p>
          <a:p>
            <a:pPr marL="342900" indent="-342900">
              <a:spcAft>
                <a:spcPts val="600"/>
              </a:spcAft>
              <a:buSzPct val="100000"/>
              <a:buChar char="•"/>
            </a:pPr>
            <a:r>
              <a:rPr lang="en-US" sz="1300" dirty="0">
                <a:solidFill>
                  <a:schemeClr val="tx1"/>
                </a:solidFill>
              </a:rPr>
              <a:t>First certification</a:t>
            </a:r>
            <a:endParaRPr lang="en-US" sz="1300" dirty="0"/>
          </a:p>
        </p:txBody>
      </p:sp>
      <p:sp>
        <p:nvSpPr>
          <p:cNvPr id="17" name="phase arrow 2"/>
          <p:cNvSpPr/>
          <p:nvPr/>
        </p:nvSpPr>
        <p:spPr>
          <a:xfrm>
            <a:off x="5998464" y="3566160"/>
            <a:ext cx="164592" cy="365760"/>
          </a:xfrm>
          <a:prstGeom prst="chevron">
            <a:avLst/>
          </a:prstGeom>
          <a:solidFill>
            <a:schemeClr val="accent3"/>
          </a:solidFill>
          <a:ln w="12700">
            <a:solidFill>
              <a:schemeClr val="accent3"/>
            </a:solidFill>
            <a:prstDash val="solid"/>
          </a:ln>
        </p:spPr>
      </p:sp>
      <p:sp>
        <p:nvSpPr>
          <p:cNvPr id="18" name="Ramp phase card"/>
          <p:cNvSpPr/>
          <p:nvPr/>
        </p:nvSpPr>
        <p:spPr>
          <a:xfrm>
            <a:off x="6217920" y="1463040"/>
            <a:ext cx="2560320" cy="4572000"/>
          </a:xfrm>
          <a:prstGeom prst="roundRect">
            <a:avLst>
              <a:gd name="adj" fmla="val 2857"/>
            </a:avLst>
          </a:prstGeom>
          <a:solidFill>
            <a:schemeClr val="tx2"/>
          </a:solidFill>
          <a:ln w="12700">
            <a:solidFill>
              <a:schemeClr val="tx2"/>
            </a:solidFill>
            <a:prstDash val="solid"/>
          </a:ln>
        </p:spPr>
      </p:sp>
      <p:sp>
        <p:nvSpPr>
          <p:cNvPr id="19" name="Ramp icon circle"/>
          <p:cNvSpPr/>
          <p:nvPr/>
        </p:nvSpPr>
        <p:spPr>
          <a:xfrm>
            <a:off x="6492240" y="1737360"/>
            <a:ext cx="640080" cy="640080"/>
          </a:xfrm>
          <a:prstGeom prst="ellipse">
            <a:avLst/>
          </a:prstGeom>
          <a:solidFill>
            <a:schemeClr val="accent6"/>
          </a:solidFill>
          <a:ln w="12700">
            <a:solidFill>
              <a:schemeClr val="accent6"/>
            </a:solidFill>
            <a:prstDash val="solid"/>
          </a:ln>
        </p:spPr>
      </p:sp>
      <p:pic>
        <p:nvPicPr>
          <p:cNvPr id="20" name="Ramp icon" descr="Ramp icon">    </p:cNvPr>
          <p:cNvPicPr>
            <a:picLocks noChangeAspect="1"/>
          </p:cNvPicPr>
          <p:nvPr/>
        </p:nvPicPr>
        <p:blipFill>
          <a:blip r:embed="rId3"/>
          <a:stretch>
            <a:fillRect/>
          </a:stretch>
        </p:blipFill>
        <p:spPr>
          <a:xfrm>
            <a:off x="6652260" y="1897380"/>
            <a:ext cx="320040" cy="320040"/>
          </a:xfrm>
          <a:prstGeom prst="rect">
            <a:avLst/>
          </a:prstGeom>
        </p:spPr>
      </p:pic>
      <p:sp>
        <p:nvSpPr>
          <p:cNvPr id="21" name="Text 15"/>
          <p:cNvSpPr txBox="1"/>
          <p:nvPr/>
        </p:nvSpPr>
        <p:spPr>
          <a:xfrm>
            <a:off x="6492240" y="2514600"/>
            <a:ext cx="2103120" cy="457200"/>
          </a:xfrm>
          <a:prstGeom prst="rect">
            <a:avLst/>
          </a:prstGeom>
          <a:noFill/>
          <a:ln/>
        </p:spPr>
        <p:txBody>
          <a:bodyPr wrap="square" lIns="0" tIns="0" rIns="0" bIns="0" rtlCol="0" anchor="t"/>
          <a:lstStyle/>
          <a:p>
            <a:pPr indent="0" marL="0">
              <a:buNone/>
            </a:pPr>
            <a:r>
              <a:rPr lang="en-US" sz="2000" b="1" dirty="0">
                <a:solidFill>
                  <a:schemeClr val="bg1"/>
                </a:solidFill>
              </a:rPr>
              <a:t>Ramp</a:t>
            </a:r>
            <a:endParaRPr lang="en-US" sz="2000" dirty="0"/>
          </a:p>
        </p:txBody>
      </p:sp>
      <p:sp>
        <p:nvSpPr>
          <p:cNvPr id="22" name="Text 16"/>
          <p:cNvSpPr txBox="1"/>
          <p:nvPr/>
        </p:nvSpPr>
        <p:spPr>
          <a:xfrm>
            <a:off x="6492240" y="2926080"/>
            <a:ext cx="2103120" cy="365760"/>
          </a:xfrm>
          <a:prstGeom prst="rect">
            <a:avLst/>
          </a:prstGeom>
          <a:noFill/>
          <a:ln/>
        </p:spPr>
        <p:txBody>
          <a:bodyPr wrap="square" lIns="0" tIns="0" rIns="0" bIns="0" rtlCol="0" anchor="t"/>
          <a:lstStyle/>
          <a:p>
            <a:pPr indent="0" marL="0">
              <a:buNone/>
            </a:pPr>
            <a:r>
              <a:rPr lang="en-US" sz="1300" b="1" dirty="0">
                <a:solidFill>
                  <a:schemeClr val="accent6"/>
                </a:solidFill>
              </a:rPr>
              <a:t>Days 15–90</a:t>
            </a:r>
            <a:endParaRPr lang="en-US" sz="1300" dirty="0"/>
          </a:p>
        </p:txBody>
      </p:sp>
      <p:sp>
        <p:nvSpPr>
          <p:cNvPr id="23" name="Text 17"/>
          <p:cNvSpPr txBox="1"/>
          <p:nvPr/>
        </p:nvSpPr>
        <p:spPr>
          <a:xfrm>
            <a:off x="6492240" y="3383280"/>
            <a:ext cx="214884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Role pathway + live deals</a:t>
            </a:r>
            <a:endParaRPr lang="en-US" sz="1300" dirty="0"/>
          </a:p>
          <a:p>
            <a:pPr marL="342900" indent="-342900">
              <a:spcAft>
                <a:spcPts val="600"/>
              </a:spcAft>
              <a:buSzPct val="100000"/>
              <a:buChar char="•"/>
            </a:pPr>
            <a:r>
              <a:rPr lang="en-US" sz="1300" dirty="0">
                <a:solidFill>
                  <a:schemeClr val="bg1"/>
                </a:solidFill>
              </a:rPr>
              <a:t>Weekly manager coaching</a:t>
            </a:r>
            <a:endParaRPr lang="en-US" sz="1300" dirty="0"/>
          </a:p>
          <a:p>
            <a:pPr marL="342900" indent="-342900">
              <a:spcAft>
                <a:spcPts val="600"/>
              </a:spcAft>
              <a:buSzPct val="100000"/>
              <a:buChar char="•"/>
            </a:pPr>
            <a:r>
              <a:rPr lang="en-US" sz="1300" dirty="0">
                <a:solidFill>
                  <a:schemeClr val="bg1"/>
                </a:solidFill>
              </a:rPr>
              <a:t>Shadow → co-lead → lead</a:t>
            </a:r>
            <a:endParaRPr lang="en-US" sz="1300" dirty="0"/>
          </a:p>
          <a:p>
            <a:pPr marL="342900" indent="-342900">
              <a:spcAft>
                <a:spcPts val="600"/>
              </a:spcAft>
              <a:buSzPct val="100000"/>
              <a:buChar char="•"/>
            </a:pPr>
            <a:r>
              <a:rPr lang="en-US" sz="1300" dirty="0">
                <a:solidFill>
                  <a:schemeClr val="bg1"/>
                </a:solidFill>
              </a:rPr>
              <a:t>Certification gates</a:t>
            </a:r>
            <a:endParaRPr lang="en-US" sz="1300" dirty="0"/>
          </a:p>
          <a:p>
            <a:pPr marL="342900" indent="-342900">
              <a:spcAft>
                <a:spcPts val="600"/>
              </a:spcAft>
              <a:buSzPct val="100000"/>
              <a:buChar char="•"/>
            </a:pPr>
            <a:r>
              <a:rPr lang="en-US" sz="1300" dirty="0">
                <a:solidFill>
                  <a:schemeClr val="bg1"/>
                </a:solidFill>
              </a:rPr>
              <a:t>Spaced reinforcement</a:t>
            </a:r>
            <a:endParaRPr lang="en-US" sz="1300" dirty="0"/>
          </a:p>
        </p:txBody>
      </p:sp>
      <p:sp>
        <p:nvSpPr>
          <p:cNvPr id="24" name="phase arrow 3"/>
          <p:cNvSpPr/>
          <p:nvPr/>
        </p:nvSpPr>
        <p:spPr>
          <a:xfrm>
            <a:off x="8833104" y="3566160"/>
            <a:ext cx="164592" cy="365760"/>
          </a:xfrm>
          <a:prstGeom prst="chevron">
            <a:avLst/>
          </a:prstGeom>
          <a:solidFill>
            <a:schemeClr val="accent3"/>
          </a:solidFill>
          <a:ln w="12700">
            <a:solidFill>
              <a:schemeClr val="accent3"/>
            </a:solidFill>
            <a:prstDash val="solid"/>
          </a:ln>
        </p:spPr>
      </p:sp>
      <p:sp>
        <p:nvSpPr>
          <p:cNvPr id="25" name="Everboard phase card"/>
          <p:cNvSpPr/>
          <p:nvPr/>
        </p:nvSpPr>
        <p:spPr>
          <a:xfrm>
            <a:off x="9052560" y="1463040"/>
            <a:ext cx="2560320" cy="4572000"/>
          </a:xfrm>
          <a:prstGeom prst="roundRect">
            <a:avLst>
              <a:gd name="adj" fmla="val 2857"/>
            </a:avLst>
          </a:prstGeom>
          <a:solidFill>
            <a:schemeClr val="bg2"/>
          </a:solidFill>
          <a:ln w="12700">
            <a:solidFill>
              <a:schemeClr val="bg2"/>
            </a:solidFill>
            <a:prstDash val="solid"/>
          </a:ln>
        </p:spPr>
      </p:sp>
      <p:sp>
        <p:nvSpPr>
          <p:cNvPr id="26" name="Everboard icon circle"/>
          <p:cNvSpPr/>
          <p:nvPr/>
        </p:nvSpPr>
        <p:spPr>
          <a:xfrm>
            <a:off x="9326880" y="1737360"/>
            <a:ext cx="640080" cy="640080"/>
          </a:xfrm>
          <a:prstGeom prst="ellipse">
            <a:avLst/>
          </a:prstGeom>
          <a:solidFill>
            <a:schemeClr val="accent1"/>
          </a:solidFill>
          <a:ln w="12700">
            <a:solidFill>
              <a:schemeClr val="accent1"/>
            </a:solidFill>
            <a:prstDash val="solid"/>
          </a:ln>
        </p:spPr>
      </p:sp>
      <p:pic>
        <p:nvPicPr>
          <p:cNvPr id="27" name="Everboard icon" descr="Everboard icon">    </p:cNvPr>
          <p:cNvPicPr>
            <a:picLocks noChangeAspect="1"/>
          </p:cNvPicPr>
          <p:nvPr/>
        </p:nvPicPr>
        <p:blipFill>
          <a:blip r:embed="rId4"/>
          <a:stretch>
            <a:fillRect/>
          </a:stretch>
        </p:blipFill>
        <p:spPr>
          <a:xfrm>
            <a:off x="9486900" y="1897380"/>
            <a:ext cx="320040" cy="320040"/>
          </a:xfrm>
          <a:prstGeom prst="rect">
            <a:avLst/>
          </a:prstGeom>
        </p:spPr>
      </p:pic>
      <p:sp>
        <p:nvSpPr>
          <p:cNvPr id="28" name="Text 21"/>
          <p:cNvSpPr txBox="1"/>
          <p:nvPr/>
        </p:nvSpPr>
        <p:spPr>
          <a:xfrm>
            <a:off x="9326880" y="2514600"/>
            <a:ext cx="2103120" cy="457200"/>
          </a:xfrm>
          <a:prstGeom prst="rect">
            <a:avLst/>
          </a:prstGeom>
          <a:noFill/>
          <a:ln/>
        </p:spPr>
        <p:txBody>
          <a:bodyPr wrap="square" lIns="0" tIns="0" rIns="0" bIns="0" rtlCol="0" anchor="t"/>
          <a:lstStyle/>
          <a:p>
            <a:pPr indent="0" marL="0">
              <a:buNone/>
            </a:pPr>
            <a:r>
              <a:rPr lang="en-US" sz="2000" b="1" dirty="0">
                <a:solidFill>
                  <a:schemeClr val="tx1"/>
                </a:solidFill>
              </a:rPr>
              <a:t>Everboard</a:t>
            </a:r>
            <a:endParaRPr lang="en-US" sz="2000" dirty="0"/>
          </a:p>
        </p:txBody>
      </p:sp>
      <p:sp>
        <p:nvSpPr>
          <p:cNvPr id="29" name="Text 22"/>
          <p:cNvSpPr txBox="1"/>
          <p:nvPr/>
        </p:nvSpPr>
        <p:spPr>
          <a:xfrm>
            <a:off x="9326880" y="2926080"/>
            <a:ext cx="2103120" cy="365760"/>
          </a:xfrm>
          <a:prstGeom prst="rect">
            <a:avLst/>
          </a:prstGeom>
          <a:noFill/>
          <a:ln/>
        </p:spPr>
        <p:txBody>
          <a:bodyPr wrap="square" lIns="0" tIns="0" rIns="0" bIns="0" rtlCol="0" anchor="t"/>
          <a:lstStyle/>
          <a:p>
            <a:pPr indent="0" marL="0">
              <a:buNone/>
            </a:pPr>
            <a:r>
              <a:rPr lang="en-US" sz="1300" b="1" dirty="0">
                <a:solidFill>
                  <a:schemeClr val="accent1"/>
                </a:solidFill>
              </a:rPr>
              <a:t>Day 90+</a:t>
            </a:r>
            <a:endParaRPr lang="en-US" sz="1300" dirty="0"/>
          </a:p>
        </p:txBody>
      </p:sp>
      <p:sp>
        <p:nvSpPr>
          <p:cNvPr id="30" name="Text 23"/>
          <p:cNvSpPr txBox="1"/>
          <p:nvPr/>
        </p:nvSpPr>
        <p:spPr>
          <a:xfrm>
            <a:off x="9326880" y="3383280"/>
            <a:ext cx="214884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Monthly skills sessions</a:t>
            </a:r>
            <a:endParaRPr lang="en-US" sz="1300" dirty="0"/>
          </a:p>
          <a:p>
            <a:pPr marL="342900" indent="-342900">
              <a:spcAft>
                <a:spcPts val="600"/>
              </a:spcAft>
              <a:buSzPct val="100000"/>
              <a:buChar char="•"/>
            </a:pPr>
            <a:r>
              <a:rPr lang="en-US" sz="1300" dirty="0">
                <a:solidFill>
                  <a:schemeClr val="tx1"/>
                </a:solidFill>
              </a:rPr>
              <a:t>Quarterly product updates</a:t>
            </a:r>
            <a:endParaRPr lang="en-US" sz="1300" dirty="0"/>
          </a:p>
          <a:p>
            <a:pPr marL="342900" indent="-342900">
              <a:spcAft>
                <a:spcPts val="600"/>
              </a:spcAft>
              <a:buSzPct val="100000"/>
              <a:buChar char="•"/>
            </a:pPr>
            <a:r>
              <a:rPr lang="en-US" sz="1300" dirty="0">
                <a:solidFill>
                  <a:schemeClr val="tx1"/>
                </a:solidFill>
              </a:rPr>
              <a:t>Recertification</a:t>
            </a:r>
            <a:endParaRPr lang="en-US" sz="1300" dirty="0"/>
          </a:p>
          <a:p>
            <a:pPr marL="342900" indent="-342900">
              <a:spcAft>
                <a:spcPts val="600"/>
              </a:spcAft>
              <a:buSzPct val="100000"/>
              <a:buChar char="•"/>
            </a:pPr>
            <a:r>
              <a:rPr lang="en-US" sz="1300" dirty="0">
                <a:solidFill>
                  <a:schemeClr val="tx1"/>
                </a:solidFill>
              </a:rPr>
              <a:t>Role transitions (BDR→AE, new manager)</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BDR ramp: 30 / 60 / 90</a:t>
            </a:r>
            <a:endParaRPr lang="en-US" sz="3200" dirty="0"/>
          </a:p>
        </p:txBody>
      </p:sp>
      <p:sp>
        <p:nvSpPr>
          <p:cNvPr id="4" name="BDR icon circle"/>
          <p:cNvSpPr/>
          <p:nvPr/>
        </p:nvSpPr>
        <p:spPr>
          <a:xfrm>
            <a:off x="10972800" y="411480"/>
            <a:ext cx="640080" cy="640080"/>
          </a:xfrm>
          <a:prstGeom prst="ellipse">
            <a:avLst/>
          </a:prstGeom>
          <a:solidFill>
            <a:schemeClr val="accent1"/>
          </a:solidFill>
          <a:ln w="12700">
            <a:solidFill>
              <a:schemeClr val="accent1"/>
            </a:solidFill>
            <a:prstDash val="solid"/>
          </a:ln>
        </p:spPr>
      </p:sp>
      <p:pic>
        <p:nvPicPr>
          <p:cNvPr id="5" name="BDR icon" descr="BDR icon">    </p:cNvPr>
          <p:cNvPicPr>
            <a:picLocks noChangeAspect="1"/>
          </p:cNvPicPr>
          <p:nvPr/>
        </p:nvPicPr>
        <p:blipFill>
          <a:blip r:embed="rId1"/>
          <a:stretch>
            <a:fillRect/>
          </a:stretch>
        </p:blipFill>
        <p:spPr>
          <a:xfrm>
            <a:off x="11132820" y="571500"/>
            <a:ext cx="320040" cy="320040"/>
          </a:xfrm>
          <a:prstGeom prst="rect">
            <a:avLst/>
          </a:prstGeom>
        </p:spPr>
      </p:pic>
      <p:sp>
        <p:nvSpPr>
          <p:cNvPr id="6" name="BDR Days 0–30 card"/>
          <p:cNvSpPr/>
          <p:nvPr/>
        </p:nvSpPr>
        <p:spPr>
          <a:xfrm>
            <a:off x="548640" y="1417320"/>
            <a:ext cx="3566160" cy="4709160"/>
          </a:xfrm>
          <a:prstGeom prst="roundRect">
            <a:avLst>
              <a:gd name="adj" fmla="val 2051"/>
            </a:avLst>
          </a:prstGeom>
          <a:solidFill>
            <a:schemeClr val="bg2"/>
          </a:solidFill>
          <a:ln w="12700">
            <a:solidFill>
              <a:schemeClr val="bg2"/>
            </a:solidFill>
            <a:prstDash val="solid"/>
          </a:ln>
        </p:spPr>
      </p:sp>
      <p:sp>
        <p:nvSpPr>
          <p:cNvPr id="7" name="BDR Days 0–30 header"/>
          <p:cNvSpPr txBox="1"/>
          <p:nvPr/>
        </p:nvSpPr>
        <p:spPr>
          <a:xfrm>
            <a:off x="548640" y="1417320"/>
            <a:ext cx="356616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0–30</a:t>
            </a:r>
            <a:endParaRPr lang="en-US" sz="1600" dirty="0"/>
          </a:p>
        </p:txBody>
      </p:sp>
      <p:sp>
        <p:nvSpPr>
          <p:cNvPr id="8" name="Text 4"/>
          <p:cNvSpPr txBox="1"/>
          <p:nvPr/>
        </p:nvSpPr>
        <p:spPr>
          <a:xfrm>
            <a:off x="777240" y="2103120"/>
            <a:ext cx="310896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600" dirty="0"/>
          </a:p>
          <a:p>
            <a:pPr indent="0" marL="0">
              <a:buNone/>
            </a:pPr>
            <a:r>
              <a:rPr lang="en-US" sz="1600" dirty="0">
                <a:solidFill>
                  <a:schemeClr val="tx1"/>
                </a:solidFill>
              </a:rPr>
              <a:t>ICP and personas, payments basics, value props by vertical, outreach tools</a:t>
            </a:r>
            <a:endParaRPr lang="en-US" sz="1600" dirty="0"/>
          </a:p>
          <a:p>
            <a:pPr indent="0" marL="0">
              <a:buNone/>
            </a:pPr>
            <a:r>
              <a:rPr lang="en-US" sz="600" dirty="0">
                <a:solidFill>
                  <a:srgbClr val="000000"/>
                </a:solidFill>
              </a:rPr>
              <a:t> </a:t>
            </a:r>
            <a:endParaRPr lang="en-US" sz="1600" dirty="0"/>
          </a:p>
          <a:p>
            <a:pPr indent="0" marL="0">
              <a:buNone/>
            </a:pPr>
            <a:r>
              <a:rPr lang="en-US" sz="1100" b="1" spc="100" kern="0" dirty="0">
                <a:solidFill>
                  <a:schemeClr val="accent1"/>
                </a:solidFill>
              </a:rPr>
              <a:t>DO</a:t>
            </a:r>
            <a:endParaRPr lang="en-US" sz="1600" dirty="0"/>
          </a:p>
          <a:p>
            <a:pPr indent="0" marL="0">
              <a:buNone/>
            </a:pPr>
            <a:r>
              <a:rPr lang="en-US" sz="1600" dirty="0">
                <a:solidFill>
                  <a:schemeClr val="tx1"/>
                </a:solidFill>
              </a:rPr>
              <a:t>Shadow 10+ calls, run sequences, first live calls by week 2</a:t>
            </a:r>
            <a:endParaRPr lang="en-US" sz="1600" dirty="0"/>
          </a:p>
        </p:txBody>
      </p:sp>
      <p:sp>
        <p:nvSpPr>
          <p:cNvPr id="9" name="BDR Days 0–30 gate"/>
          <p:cNvSpPr/>
          <p:nvPr/>
        </p:nvSpPr>
        <p:spPr>
          <a:xfrm>
            <a:off x="685800" y="4663440"/>
            <a:ext cx="3291840" cy="1325880"/>
          </a:xfrm>
          <a:prstGeom prst="roundRect">
            <a:avLst>
              <a:gd name="adj" fmla="val 5517"/>
            </a:avLst>
          </a:prstGeom>
          <a:solidFill>
            <a:schemeClr val="bg1"/>
          </a:solidFill>
          <a:ln w="12700">
            <a:solidFill>
              <a:schemeClr val="bg1"/>
            </a:solidFill>
            <a:prstDash val="solid"/>
          </a:ln>
        </p:spPr>
      </p:sp>
      <p:sp>
        <p:nvSpPr>
          <p:cNvPr id="10" name="Text 6"/>
          <p:cNvSpPr txBox="1"/>
          <p:nvPr/>
        </p:nvSpPr>
        <p:spPr>
          <a:xfrm>
            <a:off x="822960" y="4773168"/>
            <a:ext cx="301752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400" dirty="0"/>
          </a:p>
          <a:p>
            <a:pPr indent="0" marL="0">
              <a:buNone/>
            </a:pPr>
            <a:r>
              <a:rPr lang="en-US" sz="1400" b="1" dirty="0">
                <a:solidFill>
                  <a:schemeClr val="tx1"/>
                </a:solidFill>
              </a:rPr>
              <a:t>Cold-call and email certification. First meeting booked</a:t>
            </a:r>
            <a:endParaRPr lang="en-US" sz="1400" dirty="0"/>
          </a:p>
        </p:txBody>
      </p:sp>
      <p:sp>
        <p:nvSpPr>
          <p:cNvPr id="11" name="BDR Days 31–60 card"/>
          <p:cNvSpPr/>
          <p:nvPr/>
        </p:nvSpPr>
        <p:spPr>
          <a:xfrm>
            <a:off x="4297680" y="1417320"/>
            <a:ext cx="3566160" cy="4709160"/>
          </a:xfrm>
          <a:prstGeom prst="roundRect">
            <a:avLst>
              <a:gd name="adj" fmla="val 2051"/>
            </a:avLst>
          </a:prstGeom>
          <a:solidFill>
            <a:schemeClr val="bg2"/>
          </a:solidFill>
          <a:ln w="12700">
            <a:solidFill>
              <a:schemeClr val="bg2"/>
            </a:solidFill>
            <a:prstDash val="solid"/>
          </a:ln>
        </p:spPr>
      </p:sp>
      <p:sp>
        <p:nvSpPr>
          <p:cNvPr id="12" name="BDR Days 31–60 header"/>
          <p:cNvSpPr txBox="1"/>
          <p:nvPr/>
        </p:nvSpPr>
        <p:spPr>
          <a:xfrm>
            <a:off x="4297680" y="1417320"/>
            <a:ext cx="356616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31–60</a:t>
            </a:r>
            <a:endParaRPr lang="en-US" sz="1600" dirty="0"/>
          </a:p>
        </p:txBody>
      </p:sp>
      <p:sp>
        <p:nvSpPr>
          <p:cNvPr id="13" name="Text 9"/>
          <p:cNvSpPr txBox="1"/>
          <p:nvPr/>
        </p:nvSpPr>
        <p:spPr>
          <a:xfrm>
            <a:off x="4526280" y="2103120"/>
            <a:ext cx="310896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600" dirty="0"/>
          </a:p>
          <a:p>
            <a:pPr indent="0" marL="0">
              <a:buNone/>
            </a:pPr>
            <a:r>
              <a:rPr lang="en-US" sz="1600" dirty="0">
                <a:solidFill>
                  <a:schemeClr val="tx1"/>
                </a:solidFill>
              </a:rPr>
              <a:t>Objection handling, qualification criteria, competitor overview</a:t>
            </a:r>
            <a:endParaRPr lang="en-US" sz="1600" dirty="0"/>
          </a:p>
          <a:p>
            <a:pPr indent="0" marL="0">
              <a:buNone/>
            </a:pPr>
            <a:r>
              <a:rPr lang="en-US" sz="600" dirty="0">
                <a:solidFill>
                  <a:srgbClr val="000000"/>
                </a:solidFill>
              </a:rPr>
              <a:t> </a:t>
            </a:r>
            <a:endParaRPr lang="en-US" sz="1600" dirty="0"/>
          </a:p>
          <a:p>
            <a:pPr indent="0" marL="0">
              <a:buNone/>
            </a:pPr>
            <a:r>
              <a:rPr lang="en-US" sz="1100" b="1" spc="100" kern="0" dirty="0">
                <a:solidFill>
                  <a:schemeClr val="accent1"/>
                </a:solidFill>
              </a:rPr>
              <a:t>DO</a:t>
            </a:r>
            <a:endParaRPr lang="en-US" sz="1600" dirty="0"/>
          </a:p>
          <a:p>
            <a:pPr indent="0" marL="0">
              <a:buNone/>
            </a:pPr>
            <a:r>
              <a:rPr lang="en-US" sz="1600" dirty="0">
                <a:solidFill>
                  <a:schemeClr val="tx1"/>
                </a:solidFill>
              </a:rPr>
              <a:t>Activity targets at about 50–75%</a:t>
            </a:r>
            <a:endParaRPr lang="en-US" sz="1600" dirty="0"/>
          </a:p>
        </p:txBody>
      </p:sp>
      <p:sp>
        <p:nvSpPr>
          <p:cNvPr id="14" name="BDR Days 31–60 gate"/>
          <p:cNvSpPr/>
          <p:nvPr/>
        </p:nvSpPr>
        <p:spPr>
          <a:xfrm>
            <a:off x="4434840" y="4663440"/>
            <a:ext cx="3291840" cy="1325880"/>
          </a:xfrm>
          <a:prstGeom prst="roundRect">
            <a:avLst>
              <a:gd name="adj" fmla="val 5517"/>
            </a:avLst>
          </a:prstGeom>
          <a:solidFill>
            <a:schemeClr val="bg1"/>
          </a:solidFill>
          <a:ln w="12700">
            <a:solidFill>
              <a:schemeClr val="bg1"/>
            </a:solidFill>
            <a:prstDash val="solid"/>
          </a:ln>
        </p:spPr>
      </p:sp>
      <p:sp>
        <p:nvSpPr>
          <p:cNvPr id="15" name="Text 11"/>
          <p:cNvSpPr txBox="1"/>
          <p:nvPr/>
        </p:nvSpPr>
        <p:spPr>
          <a:xfrm>
            <a:off x="4572000" y="4773168"/>
            <a:ext cx="301752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400" dirty="0"/>
          </a:p>
          <a:p>
            <a:pPr indent="0" marL="0">
              <a:buNone/>
            </a:pPr>
            <a:r>
              <a:rPr lang="en-US" sz="1400" b="1" dirty="0">
                <a:solidFill>
                  <a:schemeClr val="tx1"/>
                </a:solidFill>
              </a:rPr>
              <a:t>~50% of meetings-booked target. Qualification role-play passed</a:t>
            </a:r>
            <a:endParaRPr lang="en-US" sz="1400" dirty="0"/>
          </a:p>
        </p:txBody>
      </p:sp>
      <p:sp>
        <p:nvSpPr>
          <p:cNvPr id="16" name="BDR Days 61–90 card"/>
          <p:cNvSpPr/>
          <p:nvPr/>
        </p:nvSpPr>
        <p:spPr>
          <a:xfrm>
            <a:off x="8046720" y="1417320"/>
            <a:ext cx="3566160" cy="4709160"/>
          </a:xfrm>
          <a:prstGeom prst="roundRect">
            <a:avLst>
              <a:gd name="adj" fmla="val 2051"/>
            </a:avLst>
          </a:prstGeom>
          <a:solidFill>
            <a:schemeClr val="bg2"/>
          </a:solidFill>
          <a:ln w="12700">
            <a:solidFill>
              <a:schemeClr val="bg2"/>
            </a:solidFill>
            <a:prstDash val="solid"/>
          </a:ln>
        </p:spPr>
      </p:sp>
      <p:sp>
        <p:nvSpPr>
          <p:cNvPr id="17" name="BDR Days 61–90 header"/>
          <p:cNvSpPr txBox="1"/>
          <p:nvPr/>
        </p:nvSpPr>
        <p:spPr>
          <a:xfrm>
            <a:off x="8046720" y="1417320"/>
            <a:ext cx="356616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61–90</a:t>
            </a:r>
            <a:endParaRPr lang="en-US" sz="1600" dirty="0"/>
          </a:p>
        </p:txBody>
      </p:sp>
      <p:sp>
        <p:nvSpPr>
          <p:cNvPr id="18" name="Text 14"/>
          <p:cNvSpPr txBox="1"/>
          <p:nvPr/>
        </p:nvSpPr>
        <p:spPr>
          <a:xfrm>
            <a:off x="8275320" y="2103120"/>
            <a:ext cx="310896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600" dirty="0"/>
          </a:p>
          <a:p>
            <a:pPr indent="0" marL="0">
              <a:buNone/>
            </a:pPr>
            <a:r>
              <a:rPr lang="en-US" sz="1600" dirty="0">
                <a:solidFill>
                  <a:schemeClr val="tx1"/>
                </a:solidFill>
              </a:rPr>
              <a:t>Advanced discovery, multithreading, account research</a:t>
            </a:r>
            <a:endParaRPr lang="en-US" sz="1600" dirty="0"/>
          </a:p>
          <a:p>
            <a:pPr indent="0" marL="0">
              <a:buNone/>
            </a:pPr>
            <a:r>
              <a:rPr lang="en-US" sz="600" dirty="0">
                <a:solidFill>
                  <a:srgbClr val="000000"/>
                </a:solidFill>
              </a:rPr>
              <a:t> </a:t>
            </a:r>
            <a:endParaRPr lang="en-US" sz="1600" dirty="0"/>
          </a:p>
          <a:p>
            <a:pPr indent="0" marL="0">
              <a:buNone/>
            </a:pPr>
            <a:r>
              <a:rPr lang="en-US" sz="1100" b="1" spc="100" kern="0" dirty="0">
                <a:solidFill>
                  <a:schemeClr val="accent1"/>
                </a:solidFill>
              </a:rPr>
              <a:t>DO</a:t>
            </a:r>
            <a:endParaRPr lang="en-US" sz="1600" dirty="0"/>
          </a:p>
          <a:p>
            <a:pPr indent="0" marL="0">
              <a:buNone/>
            </a:pPr>
            <a:r>
              <a:rPr lang="en-US" sz="1600" dirty="0">
                <a:solidFill>
                  <a:schemeClr val="tx1"/>
                </a:solidFill>
              </a:rPr>
              <a:t>Full activity, self-directed account plans</a:t>
            </a:r>
            <a:endParaRPr lang="en-US" sz="1600" dirty="0"/>
          </a:p>
        </p:txBody>
      </p:sp>
      <p:sp>
        <p:nvSpPr>
          <p:cNvPr id="19" name="BDR Days 61–90 gate"/>
          <p:cNvSpPr/>
          <p:nvPr/>
        </p:nvSpPr>
        <p:spPr>
          <a:xfrm>
            <a:off x="8183880" y="4663440"/>
            <a:ext cx="3291840" cy="1325880"/>
          </a:xfrm>
          <a:prstGeom prst="roundRect">
            <a:avLst>
              <a:gd name="adj" fmla="val 5517"/>
            </a:avLst>
          </a:prstGeom>
          <a:solidFill>
            <a:schemeClr val="bg1"/>
          </a:solidFill>
          <a:ln w="12700">
            <a:solidFill>
              <a:schemeClr val="bg1"/>
            </a:solidFill>
            <a:prstDash val="solid"/>
          </a:ln>
        </p:spPr>
      </p:sp>
      <p:sp>
        <p:nvSpPr>
          <p:cNvPr id="20" name="Text 16"/>
          <p:cNvSpPr txBox="1"/>
          <p:nvPr/>
        </p:nvSpPr>
        <p:spPr>
          <a:xfrm>
            <a:off x="8321040" y="4773168"/>
            <a:ext cx="301752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400" dirty="0"/>
          </a:p>
          <a:p>
            <a:pPr indent="0" marL="0">
              <a:buNone/>
            </a:pPr>
            <a:r>
              <a:rPr lang="en-US" sz="1400" b="1" dirty="0">
                <a:solidFill>
                  <a:schemeClr val="tx1"/>
                </a:solidFill>
              </a:rPr>
              <a:t>100% of meetings and SQL target. Manager sign-off</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AE ramp: 30 / 60 / 90</a:t>
            </a:r>
            <a:endParaRPr lang="en-US" sz="3200" dirty="0"/>
          </a:p>
        </p:txBody>
      </p:sp>
      <p:sp>
        <p:nvSpPr>
          <p:cNvPr id="4" name="AE icon circle"/>
          <p:cNvSpPr/>
          <p:nvPr/>
        </p:nvSpPr>
        <p:spPr>
          <a:xfrm>
            <a:off x="10972800" y="411480"/>
            <a:ext cx="640080" cy="640080"/>
          </a:xfrm>
          <a:prstGeom prst="ellipse">
            <a:avLst/>
          </a:prstGeom>
          <a:solidFill>
            <a:schemeClr val="accent1"/>
          </a:solidFill>
          <a:ln w="12700">
            <a:solidFill>
              <a:schemeClr val="accent1"/>
            </a:solidFill>
            <a:prstDash val="solid"/>
          </a:ln>
        </p:spPr>
      </p:sp>
      <p:pic>
        <p:nvPicPr>
          <p:cNvPr id="5" name="AE icon" descr="AE icon">    </p:cNvPr>
          <p:cNvPicPr>
            <a:picLocks noChangeAspect="1"/>
          </p:cNvPicPr>
          <p:nvPr/>
        </p:nvPicPr>
        <p:blipFill>
          <a:blip r:embed="rId1"/>
          <a:stretch>
            <a:fillRect/>
          </a:stretch>
        </p:blipFill>
        <p:spPr>
          <a:xfrm>
            <a:off x="11132820" y="571500"/>
            <a:ext cx="320040" cy="320040"/>
          </a:xfrm>
          <a:prstGeom prst="rect">
            <a:avLst/>
          </a:prstGeom>
        </p:spPr>
      </p:pic>
      <p:sp>
        <p:nvSpPr>
          <p:cNvPr id="6" name="AE Days 0–30 card"/>
          <p:cNvSpPr/>
          <p:nvPr/>
        </p:nvSpPr>
        <p:spPr>
          <a:xfrm>
            <a:off x="548640" y="1417320"/>
            <a:ext cx="2628900" cy="4709160"/>
          </a:xfrm>
          <a:prstGeom prst="roundRect">
            <a:avLst>
              <a:gd name="adj" fmla="val 2783"/>
            </a:avLst>
          </a:prstGeom>
          <a:solidFill>
            <a:schemeClr val="bg2"/>
          </a:solidFill>
          <a:ln w="12700">
            <a:solidFill>
              <a:schemeClr val="bg2"/>
            </a:solidFill>
            <a:prstDash val="solid"/>
          </a:ln>
        </p:spPr>
      </p:sp>
      <p:sp>
        <p:nvSpPr>
          <p:cNvPr id="7" name="AE Days 0–30 header"/>
          <p:cNvSpPr txBox="1"/>
          <p:nvPr/>
        </p:nvSpPr>
        <p:spPr>
          <a:xfrm>
            <a:off x="548640" y="1417320"/>
            <a:ext cx="262890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0–30</a:t>
            </a:r>
            <a:endParaRPr lang="en-US" sz="1600" dirty="0"/>
          </a:p>
        </p:txBody>
      </p:sp>
      <p:sp>
        <p:nvSpPr>
          <p:cNvPr id="8" name="Text 4"/>
          <p:cNvSpPr txBox="1"/>
          <p:nvPr/>
        </p:nvSpPr>
        <p:spPr>
          <a:xfrm>
            <a:off x="777240" y="2103120"/>
            <a:ext cx="217170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400" dirty="0"/>
          </a:p>
          <a:p>
            <a:pPr indent="0" marL="0">
              <a:buNone/>
            </a:pPr>
            <a:r>
              <a:rPr lang="en-US" sz="1400" dirty="0">
                <a:solidFill>
                  <a:schemeClr val="tx1"/>
                </a:solidFill>
              </a:rPr>
              <a:t>Payments Academy core (acquiring, schemes, APMs, interchange/pricing), DEPTH, deal process</a:t>
            </a:r>
            <a:endParaRPr lang="en-US" sz="1400" dirty="0"/>
          </a:p>
          <a:p>
            <a:pPr indent="0" marL="0">
              <a:buNone/>
            </a:pPr>
            <a:r>
              <a:rPr lang="en-US" sz="600" dirty="0">
                <a:solidFill>
                  <a:srgbClr val="000000"/>
                </a:solidFill>
              </a:rPr>
              <a:t> </a:t>
            </a:r>
            <a:endParaRPr lang="en-US" sz="1400" dirty="0"/>
          </a:p>
          <a:p>
            <a:pPr indent="0" marL="0">
              <a:buNone/>
            </a:pPr>
            <a:r>
              <a:rPr lang="en-US" sz="1100" b="1" spc="100" kern="0" dirty="0">
                <a:solidFill>
                  <a:schemeClr val="accent1"/>
                </a:solidFill>
              </a:rPr>
              <a:t>DO</a:t>
            </a:r>
            <a:endParaRPr lang="en-US" sz="1400" dirty="0"/>
          </a:p>
          <a:p>
            <a:pPr indent="0" marL="0">
              <a:buNone/>
            </a:pPr>
            <a:r>
              <a:rPr lang="en-US" sz="1400" dirty="0">
                <a:solidFill>
                  <a:schemeClr val="tx1"/>
                </a:solidFill>
              </a:rPr>
              <a:t>Shadow discovery and pitch calls, build territory plan, account research</a:t>
            </a:r>
            <a:endParaRPr lang="en-US" sz="1400" dirty="0"/>
          </a:p>
        </p:txBody>
      </p:sp>
      <p:sp>
        <p:nvSpPr>
          <p:cNvPr id="9" name="AE Days 0–30 gate"/>
          <p:cNvSpPr/>
          <p:nvPr/>
        </p:nvSpPr>
        <p:spPr>
          <a:xfrm>
            <a:off x="685800" y="4663440"/>
            <a:ext cx="2354580" cy="1325880"/>
          </a:xfrm>
          <a:prstGeom prst="roundRect">
            <a:avLst>
              <a:gd name="adj" fmla="val 5517"/>
            </a:avLst>
          </a:prstGeom>
          <a:solidFill>
            <a:schemeClr val="bg1"/>
          </a:solidFill>
          <a:ln w="12700">
            <a:solidFill>
              <a:schemeClr val="bg1"/>
            </a:solidFill>
            <a:prstDash val="solid"/>
          </a:ln>
        </p:spPr>
      </p:sp>
      <p:sp>
        <p:nvSpPr>
          <p:cNvPr id="10" name="Text 6"/>
          <p:cNvSpPr txBox="1"/>
          <p:nvPr/>
        </p:nvSpPr>
        <p:spPr>
          <a:xfrm>
            <a:off x="822960" y="4773168"/>
            <a:ext cx="208026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300" dirty="0"/>
          </a:p>
          <a:p>
            <a:pPr indent="0" marL="0">
              <a:buNone/>
            </a:pPr>
            <a:r>
              <a:rPr lang="en-US" sz="1300" b="1" dirty="0">
                <a:solidFill>
                  <a:schemeClr val="tx1"/>
                </a:solidFill>
              </a:rPr>
              <a:t>Pitch certification. DEPTH role-play. First customer meeting</a:t>
            </a:r>
            <a:endParaRPr lang="en-US" sz="1300" dirty="0"/>
          </a:p>
        </p:txBody>
      </p:sp>
      <p:sp>
        <p:nvSpPr>
          <p:cNvPr id="11" name="AE Days 31–60 card"/>
          <p:cNvSpPr/>
          <p:nvPr/>
        </p:nvSpPr>
        <p:spPr>
          <a:xfrm>
            <a:off x="3360420" y="1417320"/>
            <a:ext cx="2628900" cy="4709160"/>
          </a:xfrm>
          <a:prstGeom prst="roundRect">
            <a:avLst>
              <a:gd name="adj" fmla="val 2783"/>
            </a:avLst>
          </a:prstGeom>
          <a:solidFill>
            <a:schemeClr val="bg2"/>
          </a:solidFill>
          <a:ln w="12700">
            <a:solidFill>
              <a:schemeClr val="bg2"/>
            </a:solidFill>
            <a:prstDash val="solid"/>
          </a:ln>
        </p:spPr>
      </p:sp>
      <p:sp>
        <p:nvSpPr>
          <p:cNvPr id="12" name="AE Days 31–60 header"/>
          <p:cNvSpPr txBox="1"/>
          <p:nvPr/>
        </p:nvSpPr>
        <p:spPr>
          <a:xfrm>
            <a:off x="3360420" y="1417320"/>
            <a:ext cx="262890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31–60</a:t>
            </a:r>
            <a:endParaRPr lang="en-US" sz="1600" dirty="0"/>
          </a:p>
        </p:txBody>
      </p:sp>
      <p:sp>
        <p:nvSpPr>
          <p:cNvPr id="13" name="Text 9"/>
          <p:cNvSpPr txBox="1"/>
          <p:nvPr/>
        </p:nvSpPr>
        <p:spPr>
          <a:xfrm>
            <a:off x="3589020" y="2103120"/>
            <a:ext cx="217170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400" dirty="0"/>
          </a:p>
          <a:p>
            <a:pPr indent="0" marL="0">
              <a:buNone/>
            </a:pPr>
            <a:r>
              <a:rPr lang="en-US" sz="1400" dirty="0">
                <a:solidFill>
                  <a:schemeClr val="tx1"/>
                </a:solidFill>
              </a:rPr>
              <a:t>Commercial structuring, business cases, competitive positioning, working with SE</a:t>
            </a:r>
            <a:endParaRPr lang="en-US" sz="1400" dirty="0"/>
          </a:p>
          <a:p>
            <a:pPr indent="0" marL="0">
              <a:buNone/>
            </a:pPr>
            <a:r>
              <a:rPr lang="en-US" sz="600" dirty="0">
                <a:solidFill>
                  <a:srgbClr val="000000"/>
                </a:solidFill>
              </a:rPr>
              <a:t> </a:t>
            </a:r>
            <a:endParaRPr lang="en-US" sz="1400" dirty="0"/>
          </a:p>
          <a:p>
            <a:pPr indent="0" marL="0">
              <a:buNone/>
            </a:pPr>
            <a:r>
              <a:rPr lang="en-US" sz="1100" b="1" spc="100" kern="0" dirty="0">
                <a:solidFill>
                  <a:schemeClr val="accent1"/>
                </a:solidFill>
              </a:rPr>
              <a:t>DO</a:t>
            </a:r>
            <a:endParaRPr lang="en-US" sz="1400" dirty="0"/>
          </a:p>
          <a:p>
            <a:pPr indent="0" marL="0">
              <a:buNone/>
            </a:pPr>
            <a:r>
              <a:rPr lang="en-US" sz="1400" dirty="0">
                <a:solidFill>
                  <a:schemeClr val="tx1"/>
                </a:solidFill>
              </a:rPr>
              <a:t>Co-lead, then lead discovery. Build pipeline</a:t>
            </a:r>
            <a:endParaRPr lang="en-US" sz="1400" dirty="0"/>
          </a:p>
        </p:txBody>
      </p:sp>
      <p:sp>
        <p:nvSpPr>
          <p:cNvPr id="14" name="AE Days 31–60 gate"/>
          <p:cNvSpPr/>
          <p:nvPr/>
        </p:nvSpPr>
        <p:spPr>
          <a:xfrm>
            <a:off x="3497580" y="4663440"/>
            <a:ext cx="2354580" cy="1325880"/>
          </a:xfrm>
          <a:prstGeom prst="roundRect">
            <a:avLst>
              <a:gd name="adj" fmla="val 5517"/>
            </a:avLst>
          </a:prstGeom>
          <a:solidFill>
            <a:schemeClr val="bg1"/>
          </a:solidFill>
          <a:ln w="12700">
            <a:solidFill>
              <a:schemeClr val="bg1"/>
            </a:solidFill>
            <a:prstDash val="solid"/>
          </a:ln>
        </p:spPr>
      </p:sp>
      <p:sp>
        <p:nvSpPr>
          <p:cNvPr id="15" name="Text 11"/>
          <p:cNvSpPr txBox="1"/>
          <p:nvPr/>
        </p:nvSpPr>
        <p:spPr>
          <a:xfrm>
            <a:off x="3634740" y="4773168"/>
            <a:ext cx="208026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300" dirty="0"/>
          </a:p>
          <a:p>
            <a:pPr indent="0" marL="0">
              <a:buNone/>
            </a:pPr>
            <a:r>
              <a:rPr lang="en-US" sz="1300" b="1" dirty="0">
                <a:solidFill>
                  <a:schemeClr val="tx1"/>
                </a:solidFill>
              </a:rPr>
              <a:t>First qualified opp. Pipeline at target. Manager deal review</a:t>
            </a:r>
            <a:endParaRPr lang="en-US" sz="1300" dirty="0"/>
          </a:p>
        </p:txBody>
      </p:sp>
      <p:sp>
        <p:nvSpPr>
          <p:cNvPr id="16" name="AE Days 61–90 card"/>
          <p:cNvSpPr/>
          <p:nvPr/>
        </p:nvSpPr>
        <p:spPr>
          <a:xfrm>
            <a:off x="6172200" y="1417320"/>
            <a:ext cx="2628900" cy="4709160"/>
          </a:xfrm>
          <a:prstGeom prst="roundRect">
            <a:avLst>
              <a:gd name="adj" fmla="val 2783"/>
            </a:avLst>
          </a:prstGeom>
          <a:solidFill>
            <a:schemeClr val="bg2"/>
          </a:solidFill>
          <a:ln w="12700">
            <a:solidFill>
              <a:schemeClr val="bg2"/>
            </a:solidFill>
            <a:prstDash val="solid"/>
          </a:ln>
        </p:spPr>
      </p:sp>
      <p:sp>
        <p:nvSpPr>
          <p:cNvPr id="17" name="AE Days 61–90 header"/>
          <p:cNvSpPr txBox="1"/>
          <p:nvPr/>
        </p:nvSpPr>
        <p:spPr>
          <a:xfrm>
            <a:off x="6172200" y="1417320"/>
            <a:ext cx="262890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61–90</a:t>
            </a:r>
            <a:endParaRPr lang="en-US" sz="1600" dirty="0"/>
          </a:p>
        </p:txBody>
      </p:sp>
      <p:sp>
        <p:nvSpPr>
          <p:cNvPr id="18" name="Text 14"/>
          <p:cNvSpPr txBox="1"/>
          <p:nvPr/>
        </p:nvSpPr>
        <p:spPr>
          <a:xfrm>
            <a:off x="6400800" y="2103120"/>
            <a:ext cx="217170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400" dirty="0"/>
          </a:p>
          <a:p>
            <a:pPr indent="0" marL="0">
              <a:buNone/>
            </a:pPr>
            <a:r>
              <a:rPr lang="en-US" sz="1400" dirty="0">
                <a:solidFill>
                  <a:schemeClr val="tx1"/>
                </a:solidFill>
              </a:rPr>
              <a:t>Negotiation, procurement and legal, mutual action plans</a:t>
            </a:r>
            <a:endParaRPr lang="en-US" sz="1400" dirty="0"/>
          </a:p>
          <a:p>
            <a:pPr indent="0" marL="0">
              <a:buNone/>
            </a:pPr>
            <a:r>
              <a:rPr lang="en-US" sz="600" dirty="0">
                <a:solidFill>
                  <a:srgbClr val="000000"/>
                </a:solidFill>
              </a:rPr>
              <a:t> </a:t>
            </a:r>
            <a:endParaRPr lang="en-US" sz="1400" dirty="0"/>
          </a:p>
          <a:p>
            <a:pPr indent="0" marL="0">
              <a:buNone/>
            </a:pPr>
            <a:r>
              <a:rPr lang="en-US" sz="1100" b="1" spc="100" kern="0" dirty="0">
                <a:solidFill>
                  <a:schemeClr val="accent1"/>
                </a:solidFill>
              </a:rPr>
              <a:t>DO</a:t>
            </a:r>
            <a:endParaRPr lang="en-US" sz="1400" dirty="0"/>
          </a:p>
          <a:p>
            <a:pPr indent="0" marL="0">
              <a:buNone/>
            </a:pPr>
            <a:r>
              <a:rPr lang="en-US" sz="1400" dirty="0">
                <a:solidFill>
                  <a:schemeClr val="tx1"/>
                </a:solidFill>
              </a:rPr>
              <a:t>Lead full cycles, multithread to the economic buyer</a:t>
            </a:r>
            <a:endParaRPr lang="en-US" sz="1400" dirty="0"/>
          </a:p>
        </p:txBody>
      </p:sp>
      <p:sp>
        <p:nvSpPr>
          <p:cNvPr id="19" name="AE Days 61–90 gate"/>
          <p:cNvSpPr/>
          <p:nvPr/>
        </p:nvSpPr>
        <p:spPr>
          <a:xfrm>
            <a:off x="6309360" y="4663440"/>
            <a:ext cx="2354580" cy="1325880"/>
          </a:xfrm>
          <a:prstGeom prst="roundRect">
            <a:avLst>
              <a:gd name="adj" fmla="val 5517"/>
            </a:avLst>
          </a:prstGeom>
          <a:solidFill>
            <a:schemeClr val="bg1"/>
          </a:solidFill>
          <a:ln w="12700">
            <a:solidFill>
              <a:schemeClr val="bg1"/>
            </a:solidFill>
            <a:prstDash val="solid"/>
          </a:ln>
        </p:spPr>
      </p:sp>
      <p:sp>
        <p:nvSpPr>
          <p:cNvPr id="20" name="Text 16"/>
          <p:cNvSpPr txBox="1"/>
          <p:nvPr/>
        </p:nvSpPr>
        <p:spPr>
          <a:xfrm>
            <a:off x="6446520" y="4773168"/>
            <a:ext cx="208026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300" dirty="0"/>
          </a:p>
          <a:p>
            <a:pPr indent="0" marL="0">
              <a:buNone/>
            </a:pPr>
            <a:r>
              <a:rPr lang="en-US" sz="1300" b="1" dirty="0">
                <a:solidFill>
                  <a:schemeClr val="tx1"/>
                </a:solidFill>
              </a:rPr>
              <a:t>Pipeline coverage target. Opps progressing. Ramp sign-off</a:t>
            </a:r>
            <a:endParaRPr lang="en-US" sz="1300" dirty="0"/>
          </a:p>
        </p:txBody>
      </p:sp>
      <p:sp>
        <p:nvSpPr>
          <p:cNvPr id="21" name="AE Day 90+ card"/>
          <p:cNvSpPr/>
          <p:nvPr/>
        </p:nvSpPr>
        <p:spPr>
          <a:xfrm>
            <a:off x="8983980" y="1417320"/>
            <a:ext cx="2628900" cy="4709160"/>
          </a:xfrm>
          <a:prstGeom prst="roundRect">
            <a:avLst>
              <a:gd name="adj" fmla="val 2783"/>
            </a:avLst>
          </a:prstGeom>
          <a:solidFill>
            <a:schemeClr val="bg2"/>
          </a:solidFill>
          <a:ln w="12700">
            <a:solidFill>
              <a:schemeClr val="bg2"/>
            </a:solidFill>
            <a:prstDash val="solid"/>
          </a:ln>
        </p:spPr>
      </p:sp>
      <p:sp>
        <p:nvSpPr>
          <p:cNvPr id="22" name="AE Day 90+ header"/>
          <p:cNvSpPr txBox="1"/>
          <p:nvPr/>
        </p:nvSpPr>
        <p:spPr>
          <a:xfrm>
            <a:off x="8983980" y="1417320"/>
            <a:ext cx="262890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 90+</a:t>
            </a:r>
            <a:endParaRPr lang="en-US" sz="1600" dirty="0"/>
          </a:p>
        </p:txBody>
      </p:sp>
      <p:sp>
        <p:nvSpPr>
          <p:cNvPr id="23" name="Text 19"/>
          <p:cNvSpPr txBox="1"/>
          <p:nvPr/>
        </p:nvSpPr>
        <p:spPr>
          <a:xfrm>
            <a:off x="9212580" y="2103120"/>
            <a:ext cx="217170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400" dirty="0"/>
          </a:p>
          <a:p>
            <a:pPr indent="0" marL="0">
              <a:buNone/>
            </a:pPr>
            <a:r>
              <a:rPr lang="en-US" sz="1400" dirty="0">
                <a:solidFill>
                  <a:schemeClr val="tx1"/>
                </a:solidFill>
              </a:rPr>
              <a:t>Advanced verticals, enterprise motions</a:t>
            </a:r>
            <a:endParaRPr lang="en-US" sz="1400" dirty="0"/>
          </a:p>
          <a:p>
            <a:pPr indent="0" marL="0">
              <a:buNone/>
            </a:pPr>
            <a:r>
              <a:rPr lang="en-US" sz="600" dirty="0">
                <a:solidFill>
                  <a:srgbClr val="000000"/>
                </a:solidFill>
              </a:rPr>
              <a:t> </a:t>
            </a:r>
            <a:endParaRPr lang="en-US" sz="1400" dirty="0"/>
          </a:p>
          <a:p>
            <a:pPr indent="0" marL="0">
              <a:buNone/>
            </a:pPr>
            <a:r>
              <a:rPr lang="en-US" sz="1100" b="1" spc="100" kern="0" dirty="0">
                <a:solidFill>
                  <a:schemeClr val="accent1"/>
                </a:solidFill>
              </a:rPr>
              <a:t>DO</a:t>
            </a:r>
            <a:endParaRPr lang="en-US" sz="1400" dirty="0"/>
          </a:p>
          <a:p>
            <a:pPr indent="0" marL="0">
              <a:buNone/>
            </a:pPr>
            <a:r>
              <a:rPr lang="en-US" sz="1400" dirty="0">
                <a:solidFill>
                  <a:schemeClr val="tx1"/>
                </a:solidFill>
              </a:rPr>
              <a:t>Full quota on the ramped quota schedule</a:t>
            </a:r>
            <a:endParaRPr lang="en-US" sz="1400" dirty="0"/>
          </a:p>
        </p:txBody>
      </p:sp>
      <p:sp>
        <p:nvSpPr>
          <p:cNvPr id="24" name="AE Day 90+ gate"/>
          <p:cNvSpPr/>
          <p:nvPr/>
        </p:nvSpPr>
        <p:spPr>
          <a:xfrm>
            <a:off x="9121140" y="4663440"/>
            <a:ext cx="2354580" cy="1325880"/>
          </a:xfrm>
          <a:prstGeom prst="roundRect">
            <a:avLst>
              <a:gd name="adj" fmla="val 5517"/>
            </a:avLst>
          </a:prstGeom>
          <a:solidFill>
            <a:schemeClr val="bg1"/>
          </a:solidFill>
          <a:ln w="12700">
            <a:solidFill>
              <a:schemeClr val="bg1"/>
            </a:solidFill>
            <a:prstDash val="solid"/>
          </a:ln>
        </p:spPr>
      </p:sp>
      <p:sp>
        <p:nvSpPr>
          <p:cNvPr id="25" name="Text 21"/>
          <p:cNvSpPr txBox="1"/>
          <p:nvPr/>
        </p:nvSpPr>
        <p:spPr>
          <a:xfrm>
            <a:off x="9258300" y="4773168"/>
            <a:ext cx="208026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300" dirty="0"/>
          </a:p>
          <a:p>
            <a:pPr indent="0" marL="0">
              <a:buNone/>
            </a:pPr>
            <a:r>
              <a:rPr lang="en-US" sz="1300" b="1" dirty="0">
                <a:solidFill>
                  <a:schemeClr val="tx1"/>
                </a:solidFill>
              </a:rPr>
              <a:t>First closed deal (cycle-dependent). Ramped attainment</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Account Manager ramp: 30 / 60 / 90</a:t>
            </a:r>
            <a:endParaRPr lang="en-US" sz="3200" dirty="0"/>
          </a:p>
        </p:txBody>
      </p:sp>
      <p:sp>
        <p:nvSpPr>
          <p:cNvPr id="4" name="Account Manager icon circle"/>
          <p:cNvSpPr/>
          <p:nvPr/>
        </p:nvSpPr>
        <p:spPr>
          <a:xfrm>
            <a:off x="10972800" y="411480"/>
            <a:ext cx="640080" cy="640080"/>
          </a:xfrm>
          <a:prstGeom prst="ellipse">
            <a:avLst/>
          </a:prstGeom>
          <a:solidFill>
            <a:schemeClr val="accent1"/>
          </a:solidFill>
          <a:ln w="12700">
            <a:solidFill>
              <a:schemeClr val="accent1"/>
            </a:solidFill>
            <a:prstDash val="solid"/>
          </a:ln>
        </p:spPr>
      </p:sp>
      <p:pic>
        <p:nvPicPr>
          <p:cNvPr id="5" name="Account Manager icon" descr="Account Manager icon">    </p:cNvPr>
          <p:cNvPicPr>
            <a:picLocks noChangeAspect="1"/>
          </p:cNvPicPr>
          <p:nvPr/>
        </p:nvPicPr>
        <p:blipFill>
          <a:blip r:embed="rId1"/>
          <a:stretch>
            <a:fillRect/>
          </a:stretch>
        </p:blipFill>
        <p:spPr>
          <a:xfrm>
            <a:off x="11132820" y="571500"/>
            <a:ext cx="320040" cy="320040"/>
          </a:xfrm>
          <a:prstGeom prst="rect">
            <a:avLst/>
          </a:prstGeom>
        </p:spPr>
      </p:pic>
      <p:sp>
        <p:nvSpPr>
          <p:cNvPr id="6" name="Account Manager Days 0–30 card"/>
          <p:cNvSpPr/>
          <p:nvPr/>
        </p:nvSpPr>
        <p:spPr>
          <a:xfrm>
            <a:off x="548640" y="1417320"/>
            <a:ext cx="3566160" cy="4709160"/>
          </a:xfrm>
          <a:prstGeom prst="roundRect">
            <a:avLst>
              <a:gd name="adj" fmla="val 2051"/>
            </a:avLst>
          </a:prstGeom>
          <a:solidFill>
            <a:schemeClr val="bg2"/>
          </a:solidFill>
          <a:ln w="12700">
            <a:solidFill>
              <a:schemeClr val="bg2"/>
            </a:solidFill>
            <a:prstDash val="solid"/>
          </a:ln>
        </p:spPr>
      </p:sp>
      <p:sp>
        <p:nvSpPr>
          <p:cNvPr id="7" name="Account Manager Days 0–30 header"/>
          <p:cNvSpPr txBox="1"/>
          <p:nvPr/>
        </p:nvSpPr>
        <p:spPr>
          <a:xfrm>
            <a:off x="548640" y="1417320"/>
            <a:ext cx="356616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0–30</a:t>
            </a:r>
            <a:endParaRPr lang="en-US" sz="1600" dirty="0"/>
          </a:p>
        </p:txBody>
      </p:sp>
      <p:sp>
        <p:nvSpPr>
          <p:cNvPr id="8" name="Text 4"/>
          <p:cNvSpPr txBox="1"/>
          <p:nvPr/>
        </p:nvSpPr>
        <p:spPr>
          <a:xfrm>
            <a:off x="777240" y="2103120"/>
            <a:ext cx="310896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600" dirty="0"/>
          </a:p>
          <a:p>
            <a:pPr indent="0" marL="0">
              <a:buNone/>
            </a:pPr>
            <a:r>
              <a:rPr lang="en-US" sz="1600" dirty="0">
                <a:solidFill>
                  <a:schemeClr val="tx1"/>
                </a:solidFill>
              </a:rPr>
              <a:t>Book of business, product depth, merchant health metrics (auth rates, volume, churn signals)</a:t>
            </a:r>
            <a:endParaRPr lang="en-US" sz="1600" dirty="0"/>
          </a:p>
          <a:p>
            <a:pPr indent="0" marL="0">
              <a:buNone/>
            </a:pPr>
            <a:r>
              <a:rPr lang="en-US" sz="600" dirty="0">
                <a:solidFill>
                  <a:srgbClr val="000000"/>
                </a:solidFill>
              </a:rPr>
              <a:t> </a:t>
            </a:r>
            <a:endParaRPr lang="en-US" sz="1600" dirty="0"/>
          </a:p>
          <a:p>
            <a:pPr indent="0" marL="0">
              <a:buNone/>
            </a:pPr>
            <a:r>
              <a:rPr lang="en-US" sz="1100" b="1" spc="100" kern="0" dirty="0">
                <a:solidFill>
                  <a:schemeClr val="accent1"/>
                </a:solidFill>
              </a:rPr>
              <a:t>DO</a:t>
            </a:r>
            <a:endParaRPr lang="en-US" sz="1600" dirty="0"/>
          </a:p>
          <a:p>
            <a:pPr indent="0" marL="0">
              <a:buNone/>
            </a:pPr>
            <a:r>
              <a:rPr lang="en-US" sz="1600" dirty="0">
                <a:solidFill>
                  <a:schemeClr val="tx1"/>
                </a:solidFill>
              </a:rPr>
              <a:t>Meet top accounts with the outgoing owner, build account plans</a:t>
            </a:r>
            <a:endParaRPr lang="en-US" sz="1600" dirty="0"/>
          </a:p>
        </p:txBody>
      </p:sp>
      <p:sp>
        <p:nvSpPr>
          <p:cNvPr id="9" name="Account Manager Days 0–30 gate"/>
          <p:cNvSpPr/>
          <p:nvPr/>
        </p:nvSpPr>
        <p:spPr>
          <a:xfrm>
            <a:off x="685800" y="4663440"/>
            <a:ext cx="3291840" cy="1325880"/>
          </a:xfrm>
          <a:prstGeom prst="roundRect">
            <a:avLst>
              <a:gd name="adj" fmla="val 5517"/>
            </a:avLst>
          </a:prstGeom>
          <a:solidFill>
            <a:schemeClr val="bg1"/>
          </a:solidFill>
          <a:ln w="12700">
            <a:solidFill>
              <a:schemeClr val="bg1"/>
            </a:solidFill>
            <a:prstDash val="solid"/>
          </a:ln>
        </p:spPr>
      </p:sp>
      <p:sp>
        <p:nvSpPr>
          <p:cNvPr id="10" name="Text 6"/>
          <p:cNvSpPr txBox="1"/>
          <p:nvPr/>
        </p:nvSpPr>
        <p:spPr>
          <a:xfrm>
            <a:off x="822960" y="4773168"/>
            <a:ext cx="301752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400" dirty="0"/>
          </a:p>
          <a:p>
            <a:pPr indent="0" marL="0">
              <a:buNone/>
            </a:pPr>
            <a:r>
              <a:rPr lang="en-US" sz="1400" b="1" dirty="0">
                <a:solidFill>
                  <a:schemeClr val="tx1"/>
                </a:solidFill>
              </a:rPr>
              <a:t>Account plan review. Product certification</a:t>
            </a:r>
            <a:endParaRPr lang="en-US" sz="1400" dirty="0"/>
          </a:p>
        </p:txBody>
      </p:sp>
      <p:sp>
        <p:nvSpPr>
          <p:cNvPr id="11" name="Account Manager Days 31–60 card"/>
          <p:cNvSpPr/>
          <p:nvPr/>
        </p:nvSpPr>
        <p:spPr>
          <a:xfrm>
            <a:off x="4297680" y="1417320"/>
            <a:ext cx="3566160" cy="4709160"/>
          </a:xfrm>
          <a:prstGeom prst="roundRect">
            <a:avLst>
              <a:gd name="adj" fmla="val 2051"/>
            </a:avLst>
          </a:prstGeom>
          <a:solidFill>
            <a:schemeClr val="bg2"/>
          </a:solidFill>
          <a:ln w="12700">
            <a:solidFill>
              <a:schemeClr val="bg2"/>
            </a:solidFill>
            <a:prstDash val="solid"/>
          </a:ln>
        </p:spPr>
      </p:sp>
      <p:sp>
        <p:nvSpPr>
          <p:cNvPr id="12" name="Account Manager Days 31–60 header"/>
          <p:cNvSpPr txBox="1"/>
          <p:nvPr/>
        </p:nvSpPr>
        <p:spPr>
          <a:xfrm>
            <a:off x="4297680" y="1417320"/>
            <a:ext cx="356616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31–60</a:t>
            </a:r>
            <a:endParaRPr lang="en-US" sz="1600" dirty="0"/>
          </a:p>
        </p:txBody>
      </p:sp>
      <p:sp>
        <p:nvSpPr>
          <p:cNvPr id="13" name="Text 9"/>
          <p:cNvSpPr txBox="1"/>
          <p:nvPr/>
        </p:nvSpPr>
        <p:spPr>
          <a:xfrm>
            <a:off x="4526280" y="2103120"/>
            <a:ext cx="310896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600" dirty="0"/>
          </a:p>
          <a:p>
            <a:pPr indent="0" marL="0">
              <a:buNone/>
            </a:pPr>
            <a:r>
              <a:rPr lang="en-US" sz="1600" dirty="0">
                <a:solidFill>
                  <a:schemeClr val="tx1"/>
                </a:solidFill>
              </a:rPr>
              <a:t>Expansion plays (new geos, APMs, Issuing), QBR structure</a:t>
            </a:r>
            <a:endParaRPr lang="en-US" sz="1600" dirty="0"/>
          </a:p>
          <a:p>
            <a:pPr indent="0" marL="0">
              <a:buNone/>
            </a:pPr>
            <a:r>
              <a:rPr lang="en-US" sz="600" dirty="0">
                <a:solidFill>
                  <a:srgbClr val="000000"/>
                </a:solidFill>
              </a:rPr>
              <a:t> </a:t>
            </a:r>
            <a:endParaRPr lang="en-US" sz="1600" dirty="0"/>
          </a:p>
          <a:p>
            <a:pPr indent="0" marL="0">
              <a:buNone/>
            </a:pPr>
            <a:r>
              <a:rPr lang="en-US" sz="1100" b="1" spc="100" kern="0" dirty="0">
                <a:solidFill>
                  <a:schemeClr val="accent1"/>
                </a:solidFill>
              </a:rPr>
              <a:t>DO</a:t>
            </a:r>
            <a:endParaRPr lang="en-US" sz="1600" dirty="0"/>
          </a:p>
          <a:p>
            <a:pPr indent="0" marL="0">
              <a:buNone/>
            </a:pPr>
            <a:r>
              <a:rPr lang="en-US" sz="1600" dirty="0">
                <a:solidFill>
                  <a:schemeClr val="tx1"/>
                </a:solidFill>
              </a:rPr>
              <a:t>Run first QBRs, identify expansion opps</a:t>
            </a:r>
            <a:endParaRPr lang="en-US" sz="1600" dirty="0"/>
          </a:p>
        </p:txBody>
      </p:sp>
      <p:sp>
        <p:nvSpPr>
          <p:cNvPr id="14" name="Account Manager Days 31–60 gate"/>
          <p:cNvSpPr/>
          <p:nvPr/>
        </p:nvSpPr>
        <p:spPr>
          <a:xfrm>
            <a:off x="4434840" y="4663440"/>
            <a:ext cx="3291840" cy="1325880"/>
          </a:xfrm>
          <a:prstGeom prst="roundRect">
            <a:avLst>
              <a:gd name="adj" fmla="val 5517"/>
            </a:avLst>
          </a:prstGeom>
          <a:solidFill>
            <a:schemeClr val="bg1"/>
          </a:solidFill>
          <a:ln w="12700">
            <a:solidFill>
              <a:schemeClr val="bg1"/>
            </a:solidFill>
            <a:prstDash val="solid"/>
          </a:ln>
        </p:spPr>
      </p:sp>
      <p:sp>
        <p:nvSpPr>
          <p:cNvPr id="15" name="Text 11"/>
          <p:cNvSpPr txBox="1"/>
          <p:nvPr/>
        </p:nvSpPr>
        <p:spPr>
          <a:xfrm>
            <a:off x="4572000" y="4773168"/>
            <a:ext cx="301752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400" dirty="0"/>
          </a:p>
          <a:p>
            <a:pPr indent="0" marL="0">
              <a:buNone/>
            </a:pPr>
            <a:r>
              <a:rPr lang="en-US" sz="1400" b="1" dirty="0">
                <a:solidFill>
                  <a:schemeClr val="tx1"/>
                </a:solidFill>
              </a:rPr>
              <a:t>First expansion opp. QBR certification</a:t>
            </a:r>
            <a:endParaRPr lang="en-US" sz="1400" dirty="0"/>
          </a:p>
        </p:txBody>
      </p:sp>
      <p:sp>
        <p:nvSpPr>
          <p:cNvPr id="16" name="Account Manager Days 61–90 card"/>
          <p:cNvSpPr/>
          <p:nvPr/>
        </p:nvSpPr>
        <p:spPr>
          <a:xfrm>
            <a:off x="8046720" y="1417320"/>
            <a:ext cx="3566160" cy="4709160"/>
          </a:xfrm>
          <a:prstGeom prst="roundRect">
            <a:avLst>
              <a:gd name="adj" fmla="val 2051"/>
            </a:avLst>
          </a:prstGeom>
          <a:solidFill>
            <a:schemeClr val="bg2"/>
          </a:solidFill>
          <a:ln w="12700">
            <a:solidFill>
              <a:schemeClr val="bg2"/>
            </a:solidFill>
            <a:prstDash val="solid"/>
          </a:ln>
        </p:spPr>
      </p:sp>
      <p:sp>
        <p:nvSpPr>
          <p:cNvPr id="17" name="Account Manager Days 61–90 header"/>
          <p:cNvSpPr txBox="1"/>
          <p:nvPr/>
        </p:nvSpPr>
        <p:spPr>
          <a:xfrm>
            <a:off x="8046720" y="1417320"/>
            <a:ext cx="356616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61–90</a:t>
            </a:r>
            <a:endParaRPr lang="en-US" sz="1600" dirty="0"/>
          </a:p>
        </p:txBody>
      </p:sp>
      <p:sp>
        <p:nvSpPr>
          <p:cNvPr id="18" name="Text 14"/>
          <p:cNvSpPr txBox="1"/>
          <p:nvPr/>
        </p:nvSpPr>
        <p:spPr>
          <a:xfrm>
            <a:off x="8275320" y="2103120"/>
            <a:ext cx="310896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600" dirty="0"/>
          </a:p>
          <a:p>
            <a:pPr indent="0" marL="0">
              <a:buNone/>
            </a:pPr>
            <a:r>
              <a:rPr lang="en-US" sz="1600" dirty="0">
                <a:solidFill>
                  <a:schemeClr val="tx1"/>
                </a:solidFill>
              </a:rPr>
              <a:t>Renewal and negotiation, executive sponsorship</a:t>
            </a:r>
            <a:endParaRPr lang="en-US" sz="1600" dirty="0"/>
          </a:p>
          <a:p>
            <a:pPr indent="0" marL="0">
              <a:buNone/>
            </a:pPr>
            <a:r>
              <a:rPr lang="en-US" sz="600" dirty="0">
                <a:solidFill>
                  <a:srgbClr val="000000"/>
                </a:solidFill>
              </a:rPr>
              <a:t> </a:t>
            </a:r>
            <a:endParaRPr lang="en-US" sz="1600" dirty="0"/>
          </a:p>
          <a:p>
            <a:pPr indent="0" marL="0">
              <a:buNone/>
            </a:pPr>
            <a:r>
              <a:rPr lang="en-US" sz="1100" b="1" spc="100" kern="0" dirty="0">
                <a:solidFill>
                  <a:schemeClr val="accent1"/>
                </a:solidFill>
              </a:rPr>
              <a:t>DO</a:t>
            </a:r>
            <a:endParaRPr lang="en-US" sz="1600" dirty="0"/>
          </a:p>
          <a:p>
            <a:pPr indent="0" marL="0">
              <a:buNone/>
            </a:pPr>
            <a:r>
              <a:rPr lang="en-US" sz="1600" dirty="0">
                <a:solidFill>
                  <a:schemeClr val="tx1"/>
                </a:solidFill>
              </a:rPr>
              <a:t>Own the full book independently</a:t>
            </a:r>
            <a:endParaRPr lang="en-US" sz="1600" dirty="0"/>
          </a:p>
        </p:txBody>
      </p:sp>
      <p:sp>
        <p:nvSpPr>
          <p:cNvPr id="19" name="Account Manager Days 61–90 gate"/>
          <p:cNvSpPr/>
          <p:nvPr/>
        </p:nvSpPr>
        <p:spPr>
          <a:xfrm>
            <a:off x="8183880" y="4663440"/>
            <a:ext cx="3291840" cy="1325880"/>
          </a:xfrm>
          <a:prstGeom prst="roundRect">
            <a:avLst>
              <a:gd name="adj" fmla="val 5517"/>
            </a:avLst>
          </a:prstGeom>
          <a:solidFill>
            <a:schemeClr val="bg1"/>
          </a:solidFill>
          <a:ln w="12700">
            <a:solidFill>
              <a:schemeClr val="bg1"/>
            </a:solidFill>
            <a:prstDash val="solid"/>
          </a:ln>
        </p:spPr>
      </p:sp>
      <p:sp>
        <p:nvSpPr>
          <p:cNvPr id="20" name="Text 16"/>
          <p:cNvSpPr txBox="1"/>
          <p:nvPr/>
        </p:nvSpPr>
        <p:spPr>
          <a:xfrm>
            <a:off x="8321040" y="4773168"/>
            <a:ext cx="301752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400" dirty="0"/>
          </a:p>
          <a:p>
            <a:pPr indent="0" marL="0">
              <a:buNone/>
            </a:pPr>
            <a:r>
              <a:rPr lang="en-US" sz="1400" b="1" dirty="0">
                <a:solidFill>
                  <a:schemeClr val="tx1"/>
                </a:solidFill>
              </a:rPr>
              <a:t>Retention and expansion pipeline targets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Solutions Engineer ramp: 30 / 60 / 90</a:t>
            </a:r>
            <a:endParaRPr lang="en-US" sz="3200" dirty="0"/>
          </a:p>
        </p:txBody>
      </p:sp>
      <p:sp>
        <p:nvSpPr>
          <p:cNvPr id="4" name="Solutions Engineer icon circle"/>
          <p:cNvSpPr/>
          <p:nvPr/>
        </p:nvSpPr>
        <p:spPr>
          <a:xfrm>
            <a:off x="10972800" y="411480"/>
            <a:ext cx="640080" cy="640080"/>
          </a:xfrm>
          <a:prstGeom prst="ellipse">
            <a:avLst/>
          </a:prstGeom>
          <a:solidFill>
            <a:schemeClr val="accent1"/>
          </a:solidFill>
          <a:ln w="12700">
            <a:solidFill>
              <a:schemeClr val="accent1"/>
            </a:solidFill>
            <a:prstDash val="solid"/>
          </a:ln>
        </p:spPr>
      </p:sp>
      <p:pic>
        <p:nvPicPr>
          <p:cNvPr id="5" name="Solutions Engineer icon" descr="Solutions Engineer icon">    </p:cNvPr>
          <p:cNvPicPr>
            <a:picLocks noChangeAspect="1"/>
          </p:cNvPicPr>
          <p:nvPr/>
        </p:nvPicPr>
        <p:blipFill>
          <a:blip r:embed="rId1"/>
          <a:stretch>
            <a:fillRect/>
          </a:stretch>
        </p:blipFill>
        <p:spPr>
          <a:xfrm>
            <a:off x="11132820" y="571500"/>
            <a:ext cx="320040" cy="320040"/>
          </a:xfrm>
          <a:prstGeom prst="rect">
            <a:avLst/>
          </a:prstGeom>
        </p:spPr>
      </p:pic>
      <p:sp>
        <p:nvSpPr>
          <p:cNvPr id="6" name="Solutions Engineer Days 0–30 card"/>
          <p:cNvSpPr/>
          <p:nvPr/>
        </p:nvSpPr>
        <p:spPr>
          <a:xfrm>
            <a:off x="548640" y="1417320"/>
            <a:ext cx="3566160" cy="4709160"/>
          </a:xfrm>
          <a:prstGeom prst="roundRect">
            <a:avLst>
              <a:gd name="adj" fmla="val 2051"/>
            </a:avLst>
          </a:prstGeom>
          <a:solidFill>
            <a:schemeClr val="bg2"/>
          </a:solidFill>
          <a:ln w="12700">
            <a:solidFill>
              <a:schemeClr val="bg2"/>
            </a:solidFill>
            <a:prstDash val="solid"/>
          </a:ln>
        </p:spPr>
      </p:sp>
      <p:sp>
        <p:nvSpPr>
          <p:cNvPr id="7" name="Solutions Engineer Days 0–30 header"/>
          <p:cNvSpPr txBox="1"/>
          <p:nvPr/>
        </p:nvSpPr>
        <p:spPr>
          <a:xfrm>
            <a:off x="548640" y="1417320"/>
            <a:ext cx="356616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0–30</a:t>
            </a:r>
            <a:endParaRPr lang="en-US" sz="1600" dirty="0"/>
          </a:p>
        </p:txBody>
      </p:sp>
      <p:sp>
        <p:nvSpPr>
          <p:cNvPr id="8" name="Text 4"/>
          <p:cNvSpPr txBox="1"/>
          <p:nvPr/>
        </p:nvSpPr>
        <p:spPr>
          <a:xfrm>
            <a:off x="777240" y="2103120"/>
            <a:ext cx="310896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600" dirty="0"/>
          </a:p>
          <a:p>
            <a:pPr indent="0" marL="0">
              <a:buNone/>
            </a:pPr>
            <a:r>
              <a:rPr lang="en-US" sz="1600" dirty="0">
                <a:solidFill>
                  <a:schemeClr val="tx1"/>
                </a:solidFill>
              </a:rPr>
              <a:t>Platform architecture, APIs, integration patterns, sandbox, security and compliance</a:t>
            </a:r>
            <a:endParaRPr lang="en-US" sz="1600" dirty="0"/>
          </a:p>
          <a:p>
            <a:pPr indent="0" marL="0">
              <a:buNone/>
            </a:pPr>
            <a:r>
              <a:rPr lang="en-US" sz="600" dirty="0">
                <a:solidFill>
                  <a:srgbClr val="000000"/>
                </a:solidFill>
              </a:rPr>
              <a:t> </a:t>
            </a:r>
            <a:endParaRPr lang="en-US" sz="1600" dirty="0"/>
          </a:p>
          <a:p>
            <a:pPr indent="0" marL="0">
              <a:buNone/>
            </a:pPr>
            <a:r>
              <a:rPr lang="en-US" sz="1100" b="1" spc="100" kern="0" dirty="0">
                <a:solidFill>
                  <a:schemeClr val="accent1"/>
                </a:solidFill>
              </a:rPr>
              <a:t>DO</a:t>
            </a:r>
            <a:endParaRPr lang="en-US" sz="1600" dirty="0"/>
          </a:p>
          <a:p>
            <a:pPr indent="0" marL="0">
              <a:buNone/>
            </a:pPr>
            <a:r>
              <a:rPr lang="en-US" sz="1600" dirty="0">
                <a:solidFill>
                  <a:schemeClr val="tx1"/>
                </a:solidFill>
              </a:rPr>
              <a:t>Shadow technical discovery and demos</a:t>
            </a:r>
            <a:endParaRPr lang="en-US" sz="1600" dirty="0"/>
          </a:p>
        </p:txBody>
      </p:sp>
      <p:sp>
        <p:nvSpPr>
          <p:cNvPr id="9" name="Solutions Engineer Days 0–30 gate"/>
          <p:cNvSpPr/>
          <p:nvPr/>
        </p:nvSpPr>
        <p:spPr>
          <a:xfrm>
            <a:off x="685800" y="4663440"/>
            <a:ext cx="3291840" cy="1325880"/>
          </a:xfrm>
          <a:prstGeom prst="roundRect">
            <a:avLst>
              <a:gd name="adj" fmla="val 5517"/>
            </a:avLst>
          </a:prstGeom>
          <a:solidFill>
            <a:schemeClr val="bg1"/>
          </a:solidFill>
          <a:ln w="12700">
            <a:solidFill>
              <a:schemeClr val="bg1"/>
            </a:solidFill>
            <a:prstDash val="solid"/>
          </a:ln>
        </p:spPr>
      </p:sp>
      <p:sp>
        <p:nvSpPr>
          <p:cNvPr id="10" name="Text 6"/>
          <p:cNvSpPr txBox="1"/>
          <p:nvPr/>
        </p:nvSpPr>
        <p:spPr>
          <a:xfrm>
            <a:off x="822960" y="4773168"/>
            <a:ext cx="301752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400" dirty="0"/>
          </a:p>
          <a:p>
            <a:pPr indent="0" marL="0">
              <a:buNone/>
            </a:pPr>
            <a:r>
              <a:rPr lang="en-US" sz="1400" b="1" dirty="0">
                <a:solidFill>
                  <a:schemeClr val="tx1"/>
                </a:solidFill>
              </a:rPr>
              <a:t>Core demo certification</a:t>
            </a:r>
            <a:endParaRPr lang="en-US" sz="1400" dirty="0"/>
          </a:p>
        </p:txBody>
      </p:sp>
      <p:sp>
        <p:nvSpPr>
          <p:cNvPr id="11" name="Solutions Engineer Days 31–60 card"/>
          <p:cNvSpPr/>
          <p:nvPr/>
        </p:nvSpPr>
        <p:spPr>
          <a:xfrm>
            <a:off x="4297680" y="1417320"/>
            <a:ext cx="3566160" cy="4709160"/>
          </a:xfrm>
          <a:prstGeom prst="roundRect">
            <a:avLst>
              <a:gd name="adj" fmla="val 2051"/>
            </a:avLst>
          </a:prstGeom>
          <a:solidFill>
            <a:schemeClr val="bg2"/>
          </a:solidFill>
          <a:ln w="12700">
            <a:solidFill>
              <a:schemeClr val="bg2"/>
            </a:solidFill>
            <a:prstDash val="solid"/>
          </a:ln>
        </p:spPr>
      </p:sp>
      <p:sp>
        <p:nvSpPr>
          <p:cNvPr id="12" name="Solutions Engineer Days 31–60 header"/>
          <p:cNvSpPr txBox="1"/>
          <p:nvPr/>
        </p:nvSpPr>
        <p:spPr>
          <a:xfrm>
            <a:off x="4297680" y="1417320"/>
            <a:ext cx="356616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31–60</a:t>
            </a:r>
            <a:endParaRPr lang="en-US" sz="1600" dirty="0"/>
          </a:p>
        </p:txBody>
      </p:sp>
      <p:sp>
        <p:nvSpPr>
          <p:cNvPr id="13" name="Text 9"/>
          <p:cNvSpPr txBox="1"/>
          <p:nvPr/>
        </p:nvSpPr>
        <p:spPr>
          <a:xfrm>
            <a:off x="4526280" y="2103120"/>
            <a:ext cx="310896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600" dirty="0"/>
          </a:p>
          <a:p>
            <a:pPr indent="0" marL="0">
              <a:buNone/>
            </a:pPr>
            <a:r>
              <a:rPr lang="en-US" sz="1600" dirty="0">
                <a:solidFill>
                  <a:schemeClr val="tx1"/>
                </a:solidFill>
              </a:rPr>
              <a:t>Vertical solutions, RFP responses, competitive technical differentiation</a:t>
            </a:r>
            <a:endParaRPr lang="en-US" sz="1600" dirty="0"/>
          </a:p>
          <a:p>
            <a:pPr indent="0" marL="0">
              <a:buNone/>
            </a:pPr>
            <a:r>
              <a:rPr lang="en-US" sz="600" dirty="0">
                <a:solidFill>
                  <a:srgbClr val="000000"/>
                </a:solidFill>
              </a:rPr>
              <a:t> </a:t>
            </a:r>
            <a:endParaRPr lang="en-US" sz="1600" dirty="0"/>
          </a:p>
          <a:p>
            <a:pPr indent="0" marL="0">
              <a:buNone/>
            </a:pPr>
            <a:r>
              <a:rPr lang="en-US" sz="1100" b="1" spc="100" kern="0" dirty="0">
                <a:solidFill>
                  <a:schemeClr val="accent1"/>
                </a:solidFill>
              </a:rPr>
              <a:t>DO</a:t>
            </a:r>
            <a:endParaRPr lang="en-US" sz="1600" dirty="0"/>
          </a:p>
          <a:p>
            <a:pPr indent="0" marL="0">
              <a:buNone/>
            </a:pPr>
            <a:r>
              <a:rPr lang="en-US" sz="1600" dirty="0">
                <a:solidFill>
                  <a:schemeClr val="tx1"/>
                </a:solidFill>
              </a:rPr>
              <a:t>Co-lead technical calls, own RFP sections</a:t>
            </a:r>
            <a:endParaRPr lang="en-US" sz="1600" dirty="0"/>
          </a:p>
        </p:txBody>
      </p:sp>
      <p:sp>
        <p:nvSpPr>
          <p:cNvPr id="14" name="Solutions Engineer Days 31–60 gate"/>
          <p:cNvSpPr/>
          <p:nvPr/>
        </p:nvSpPr>
        <p:spPr>
          <a:xfrm>
            <a:off x="4434840" y="4663440"/>
            <a:ext cx="3291840" cy="1325880"/>
          </a:xfrm>
          <a:prstGeom prst="roundRect">
            <a:avLst>
              <a:gd name="adj" fmla="val 5517"/>
            </a:avLst>
          </a:prstGeom>
          <a:solidFill>
            <a:schemeClr val="bg1"/>
          </a:solidFill>
          <a:ln w="12700">
            <a:solidFill>
              <a:schemeClr val="bg1"/>
            </a:solidFill>
            <a:prstDash val="solid"/>
          </a:ln>
        </p:spPr>
      </p:sp>
      <p:sp>
        <p:nvSpPr>
          <p:cNvPr id="15" name="Text 11"/>
          <p:cNvSpPr txBox="1"/>
          <p:nvPr/>
        </p:nvSpPr>
        <p:spPr>
          <a:xfrm>
            <a:off x="4572000" y="4773168"/>
            <a:ext cx="301752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400" dirty="0"/>
          </a:p>
          <a:p>
            <a:pPr indent="0" marL="0">
              <a:buNone/>
            </a:pPr>
            <a:r>
              <a:rPr lang="en-US" sz="1400" b="1" dirty="0">
                <a:solidFill>
                  <a:schemeClr val="tx1"/>
                </a:solidFill>
              </a:rPr>
              <a:t>Lead first technical discovery. Advanced demo certification</a:t>
            </a:r>
            <a:endParaRPr lang="en-US" sz="1400" dirty="0"/>
          </a:p>
        </p:txBody>
      </p:sp>
      <p:sp>
        <p:nvSpPr>
          <p:cNvPr id="16" name="Solutions Engineer Days 61–90 card"/>
          <p:cNvSpPr/>
          <p:nvPr/>
        </p:nvSpPr>
        <p:spPr>
          <a:xfrm>
            <a:off x="8046720" y="1417320"/>
            <a:ext cx="3566160" cy="4709160"/>
          </a:xfrm>
          <a:prstGeom prst="roundRect">
            <a:avLst>
              <a:gd name="adj" fmla="val 2051"/>
            </a:avLst>
          </a:prstGeom>
          <a:solidFill>
            <a:schemeClr val="bg2"/>
          </a:solidFill>
          <a:ln w="12700">
            <a:solidFill>
              <a:schemeClr val="bg2"/>
            </a:solidFill>
            <a:prstDash val="solid"/>
          </a:ln>
        </p:spPr>
      </p:sp>
      <p:sp>
        <p:nvSpPr>
          <p:cNvPr id="17" name="Solutions Engineer Days 61–90 header"/>
          <p:cNvSpPr txBox="1"/>
          <p:nvPr/>
        </p:nvSpPr>
        <p:spPr>
          <a:xfrm>
            <a:off x="8046720" y="1417320"/>
            <a:ext cx="3566160" cy="502920"/>
          </a:xfrm>
          <a:prstGeom prst="roundRect">
            <a:avLst>
              <a:gd name="adj" fmla="val 14545"/>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Days 61–90</a:t>
            </a:r>
            <a:endParaRPr lang="en-US" sz="1600" dirty="0"/>
          </a:p>
        </p:txBody>
      </p:sp>
      <p:sp>
        <p:nvSpPr>
          <p:cNvPr id="18" name="Text 14"/>
          <p:cNvSpPr txBox="1"/>
          <p:nvPr/>
        </p:nvSpPr>
        <p:spPr>
          <a:xfrm>
            <a:off x="8275320" y="2103120"/>
            <a:ext cx="3108960" cy="2468880"/>
          </a:xfrm>
          <a:prstGeom prst="rect">
            <a:avLst/>
          </a:prstGeom>
          <a:noFill/>
          <a:ln/>
        </p:spPr>
        <p:txBody>
          <a:bodyPr wrap="square" lIns="0" tIns="0" rIns="0" bIns="0" rtlCol="0" anchor="t"/>
          <a:lstStyle/>
          <a:p>
            <a:pPr indent="0" marL="0">
              <a:buNone/>
            </a:pPr>
            <a:r>
              <a:rPr lang="en-US" sz="1100" b="1" spc="100" kern="0" dirty="0">
                <a:solidFill>
                  <a:schemeClr val="accent1"/>
                </a:solidFill>
              </a:rPr>
              <a:t>LEARN</a:t>
            </a:r>
            <a:endParaRPr lang="en-US" sz="1600" dirty="0"/>
          </a:p>
          <a:p>
            <a:pPr indent="0" marL="0">
              <a:buNone/>
            </a:pPr>
            <a:r>
              <a:rPr lang="en-US" sz="1600" dirty="0">
                <a:solidFill>
                  <a:schemeClr val="tx1"/>
                </a:solidFill>
              </a:rPr>
              <a:t>Complex solutioning (orchestration, multi-entity), POCs</a:t>
            </a:r>
            <a:endParaRPr lang="en-US" sz="1600" dirty="0"/>
          </a:p>
          <a:p>
            <a:pPr indent="0" marL="0">
              <a:buNone/>
            </a:pPr>
            <a:r>
              <a:rPr lang="en-US" sz="600" dirty="0">
                <a:solidFill>
                  <a:srgbClr val="000000"/>
                </a:solidFill>
              </a:rPr>
              <a:t> </a:t>
            </a:r>
            <a:endParaRPr lang="en-US" sz="1600" dirty="0"/>
          </a:p>
          <a:p>
            <a:pPr indent="0" marL="0">
              <a:buNone/>
            </a:pPr>
            <a:r>
              <a:rPr lang="en-US" sz="1100" b="1" spc="100" kern="0" dirty="0">
                <a:solidFill>
                  <a:schemeClr val="accent1"/>
                </a:solidFill>
              </a:rPr>
              <a:t>DO</a:t>
            </a:r>
            <a:endParaRPr lang="en-US" sz="1600" dirty="0"/>
          </a:p>
          <a:p>
            <a:pPr indent="0" marL="0">
              <a:buNone/>
            </a:pPr>
            <a:r>
              <a:rPr lang="en-US" sz="1600" dirty="0">
                <a:solidFill>
                  <a:schemeClr val="tx1"/>
                </a:solidFill>
              </a:rPr>
              <a:t>Run deals end-to-end with AEs</a:t>
            </a:r>
            <a:endParaRPr lang="en-US" sz="1600" dirty="0"/>
          </a:p>
        </p:txBody>
      </p:sp>
      <p:sp>
        <p:nvSpPr>
          <p:cNvPr id="19" name="Solutions Engineer Days 61–90 gate"/>
          <p:cNvSpPr/>
          <p:nvPr/>
        </p:nvSpPr>
        <p:spPr>
          <a:xfrm>
            <a:off x="8183880" y="4663440"/>
            <a:ext cx="3291840" cy="1325880"/>
          </a:xfrm>
          <a:prstGeom prst="roundRect">
            <a:avLst>
              <a:gd name="adj" fmla="val 5517"/>
            </a:avLst>
          </a:prstGeom>
          <a:solidFill>
            <a:schemeClr val="bg1"/>
          </a:solidFill>
          <a:ln w="12700">
            <a:solidFill>
              <a:schemeClr val="bg1"/>
            </a:solidFill>
            <a:prstDash val="solid"/>
          </a:ln>
        </p:spPr>
      </p:sp>
      <p:sp>
        <p:nvSpPr>
          <p:cNvPr id="20" name="Text 16"/>
          <p:cNvSpPr txBox="1"/>
          <p:nvPr/>
        </p:nvSpPr>
        <p:spPr>
          <a:xfrm>
            <a:off x="8321040" y="4773168"/>
            <a:ext cx="3017520" cy="1143000"/>
          </a:xfrm>
          <a:prstGeom prst="rect">
            <a:avLst/>
          </a:prstGeom>
          <a:noFill/>
          <a:ln/>
        </p:spPr>
        <p:txBody>
          <a:bodyPr wrap="square" lIns="0" tIns="0" rIns="0" bIns="0" rtlCol="0" anchor="t"/>
          <a:lstStyle/>
          <a:p>
            <a:pPr indent="0" marL="0">
              <a:buNone/>
            </a:pPr>
            <a:r>
              <a:rPr lang="en-US" sz="1100" b="1" spc="100" kern="0" dirty="0">
                <a:solidFill>
                  <a:schemeClr val="accent2"/>
                </a:solidFill>
              </a:rPr>
              <a:t>GATE</a:t>
            </a:r>
            <a:endParaRPr lang="en-US" sz="1400" dirty="0"/>
          </a:p>
          <a:p>
            <a:pPr indent="0" marL="0">
              <a:buNone/>
            </a:pPr>
            <a:r>
              <a:rPr lang="en-US" sz="1400" b="1" dirty="0">
                <a:solidFill>
                  <a:schemeClr val="tx1"/>
                </a:solidFill>
              </a:rPr>
              <a:t>AE feedback score. Opp support capacity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Who owns what during ramp</a:t>
            </a:r>
            <a:endParaRPr lang="en-US" sz="3200" dirty="0"/>
          </a:p>
        </p:txBody>
      </p:sp>
      <p:sp>
        <p:nvSpPr>
          <p:cNvPr id="4" name="New hire card"/>
          <p:cNvSpPr/>
          <p:nvPr/>
        </p:nvSpPr>
        <p:spPr>
          <a:xfrm>
            <a:off x="548640" y="1463040"/>
            <a:ext cx="2103120" cy="4480560"/>
          </a:xfrm>
          <a:prstGeom prst="roundRect">
            <a:avLst>
              <a:gd name="adj" fmla="val 3478"/>
            </a:avLst>
          </a:prstGeom>
          <a:solidFill>
            <a:schemeClr val="bg2"/>
          </a:solidFill>
          <a:ln w="12700">
            <a:solidFill>
              <a:schemeClr val="bg2"/>
            </a:solidFill>
            <a:prstDash val="solid"/>
          </a:ln>
        </p:spPr>
      </p:sp>
      <p:sp>
        <p:nvSpPr>
          <p:cNvPr id="5" name="New hire icon circle"/>
          <p:cNvSpPr/>
          <p:nvPr/>
        </p:nvSpPr>
        <p:spPr>
          <a:xfrm>
            <a:off x="822960" y="1783080"/>
            <a:ext cx="731520" cy="731520"/>
          </a:xfrm>
          <a:prstGeom prst="ellipse">
            <a:avLst/>
          </a:prstGeom>
          <a:solidFill>
            <a:schemeClr val="accent1"/>
          </a:solidFill>
          <a:ln w="12700">
            <a:solidFill>
              <a:schemeClr val="accent1"/>
            </a:solidFill>
            <a:prstDash val="solid"/>
          </a:ln>
        </p:spPr>
      </p:sp>
      <p:pic>
        <p:nvPicPr>
          <p:cNvPr id="6" name="New hire icon" descr="New hire icon">    </p:cNvPr>
          <p:cNvPicPr>
            <a:picLocks noChangeAspect="1"/>
          </p:cNvPicPr>
          <p:nvPr/>
        </p:nvPicPr>
        <p:blipFill>
          <a:blip r:embed="rId1"/>
          <a:stretch>
            <a:fillRect/>
          </a:stretch>
        </p:blipFill>
        <p:spPr>
          <a:xfrm>
            <a:off x="1005840" y="1965960"/>
            <a:ext cx="365760" cy="365760"/>
          </a:xfrm>
          <a:prstGeom prst="rect">
            <a:avLst/>
          </a:prstGeom>
        </p:spPr>
      </p:pic>
      <p:sp>
        <p:nvSpPr>
          <p:cNvPr id="7" name="Text 3"/>
          <p:cNvSpPr txBox="1"/>
          <p:nvPr/>
        </p:nvSpPr>
        <p:spPr>
          <a:xfrm>
            <a:off x="822960" y="2697480"/>
            <a:ext cx="1645920" cy="731520"/>
          </a:xfrm>
          <a:prstGeom prst="rect">
            <a:avLst/>
          </a:prstGeom>
          <a:noFill/>
          <a:ln/>
        </p:spPr>
        <p:txBody>
          <a:bodyPr wrap="square" lIns="0" tIns="0" rIns="0" bIns="0" rtlCol="0" anchor="t"/>
          <a:lstStyle/>
          <a:p>
            <a:pPr indent="0" marL="0">
              <a:buNone/>
            </a:pPr>
            <a:r>
              <a:rPr lang="en-US" sz="1800" b="1" dirty="0">
                <a:solidFill>
                  <a:schemeClr val="tx1"/>
                </a:solidFill>
              </a:rPr>
              <a:t>New hire</a:t>
            </a:r>
            <a:endParaRPr lang="en-US" sz="1800" dirty="0"/>
          </a:p>
        </p:txBody>
      </p:sp>
      <p:sp>
        <p:nvSpPr>
          <p:cNvPr id="8" name="Text 4"/>
          <p:cNvSpPr txBox="1"/>
          <p:nvPr/>
        </p:nvSpPr>
        <p:spPr>
          <a:xfrm>
            <a:off x="822960" y="3474720"/>
            <a:ext cx="1645920" cy="2377440"/>
          </a:xfrm>
          <a:prstGeom prst="rect">
            <a:avLst/>
          </a:prstGeom>
          <a:noFill/>
          <a:ln/>
        </p:spPr>
        <p:txBody>
          <a:bodyPr wrap="square" lIns="0" tIns="0" rIns="0" bIns="0" rtlCol="0" anchor="t"/>
          <a:lstStyle/>
          <a:p>
            <a:pPr indent="0" marL="0">
              <a:buNone/>
            </a:pPr>
            <a:r>
              <a:rPr lang="en-US" sz="1600" dirty="0">
                <a:solidFill>
                  <a:schemeClr val="accent3"/>
                </a:solidFill>
              </a:rPr>
              <a:t>Owns their progress, completes certifications, logs reflections</a:t>
            </a:r>
            <a:endParaRPr lang="en-US" sz="1600" dirty="0"/>
          </a:p>
        </p:txBody>
      </p:sp>
      <p:sp>
        <p:nvSpPr>
          <p:cNvPr id="9" name="Manager card"/>
          <p:cNvSpPr/>
          <p:nvPr/>
        </p:nvSpPr>
        <p:spPr>
          <a:xfrm>
            <a:off x="2798064" y="1463040"/>
            <a:ext cx="2103120" cy="4480560"/>
          </a:xfrm>
          <a:prstGeom prst="roundRect">
            <a:avLst>
              <a:gd name="adj" fmla="val 3478"/>
            </a:avLst>
          </a:prstGeom>
          <a:solidFill>
            <a:schemeClr val="tx2"/>
          </a:solidFill>
          <a:ln w="12700">
            <a:solidFill>
              <a:schemeClr val="tx2"/>
            </a:solidFill>
            <a:prstDash val="solid"/>
          </a:ln>
        </p:spPr>
      </p:sp>
      <p:sp>
        <p:nvSpPr>
          <p:cNvPr id="10" name="Manager icon circle"/>
          <p:cNvSpPr/>
          <p:nvPr/>
        </p:nvSpPr>
        <p:spPr>
          <a:xfrm>
            <a:off x="3072384" y="1783080"/>
            <a:ext cx="731520" cy="731520"/>
          </a:xfrm>
          <a:prstGeom prst="ellipse">
            <a:avLst/>
          </a:prstGeom>
          <a:solidFill>
            <a:schemeClr val="accent2"/>
          </a:solidFill>
          <a:ln w="12700">
            <a:solidFill>
              <a:schemeClr val="accent2"/>
            </a:solidFill>
            <a:prstDash val="solid"/>
          </a:ln>
        </p:spPr>
      </p:sp>
      <p:pic>
        <p:nvPicPr>
          <p:cNvPr id="11" name="Manager icon" descr="Manager icon">    </p:cNvPr>
          <p:cNvPicPr>
            <a:picLocks noChangeAspect="1"/>
          </p:cNvPicPr>
          <p:nvPr/>
        </p:nvPicPr>
        <p:blipFill>
          <a:blip r:embed="rId2"/>
          <a:stretch>
            <a:fillRect/>
          </a:stretch>
        </p:blipFill>
        <p:spPr>
          <a:xfrm>
            <a:off x="3255264" y="1965960"/>
            <a:ext cx="365760" cy="365760"/>
          </a:xfrm>
          <a:prstGeom prst="rect">
            <a:avLst/>
          </a:prstGeom>
        </p:spPr>
      </p:pic>
      <p:sp>
        <p:nvSpPr>
          <p:cNvPr id="12" name="Text 7"/>
          <p:cNvSpPr txBox="1"/>
          <p:nvPr/>
        </p:nvSpPr>
        <p:spPr>
          <a:xfrm>
            <a:off x="3072384" y="2697480"/>
            <a:ext cx="1645920" cy="731520"/>
          </a:xfrm>
          <a:prstGeom prst="rect">
            <a:avLst/>
          </a:prstGeom>
          <a:noFill/>
          <a:ln/>
        </p:spPr>
        <p:txBody>
          <a:bodyPr wrap="square" lIns="0" tIns="0" rIns="0" bIns="0" rtlCol="0" anchor="t"/>
          <a:lstStyle/>
          <a:p>
            <a:pPr indent="0" marL="0">
              <a:buNone/>
            </a:pPr>
            <a:r>
              <a:rPr lang="en-US" sz="1800" b="1" dirty="0">
                <a:solidFill>
                  <a:schemeClr val="bg1"/>
                </a:solidFill>
              </a:rPr>
              <a:t>Manager</a:t>
            </a:r>
            <a:endParaRPr lang="en-US" sz="1800" dirty="0"/>
          </a:p>
        </p:txBody>
      </p:sp>
      <p:sp>
        <p:nvSpPr>
          <p:cNvPr id="13" name="Text 8"/>
          <p:cNvSpPr txBox="1"/>
          <p:nvPr/>
        </p:nvSpPr>
        <p:spPr>
          <a:xfrm>
            <a:off x="3072384" y="3474720"/>
            <a:ext cx="1645920" cy="2377440"/>
          </a:xfrm>
          <a:prstGeom prst="rect">
            <a:avLst/>
          </a:prstGeom>
          <a:noFill/>
          <a:ln/>
        </p:spPr>
        <p:txBody>
          <a:bodyPr wrap="square" lIns="0" tIns="0" rIns="0" bIns="0" rtlCol="0" anchor="t"/>
          <a:lstStyle/>
          <a:p>
            <a:pPr indent="0" marL="0">
              <a:buNone/>
            </a:pPr>
            <a:r>
              <a:rPr lang="en-US" sz="1600" dirty="0">
                <a:solidFill>
                  <a:schemeClr val="accent6"/>
                </a:solidFill>
              </a:rPr>
              <a:t>Owns the 30/60/90 plan, runs a weekly ramp 1:1, scores calls, signs off gates</a:t>
            </a:r>
            <a:endParaRPr lang="en-US" sz="1600" dirty="0"/>
          </a:p>
        </p:txBody>
      </p:sp>
      <p:sp>
        <p:nvSpPr>
          <p:cNvPr id="14" name="Buddy card"/>
          <p:cNvSpPr/>
          <p:nvPr/>
        </p:nvSpPr>
        <p:spPr>
          <a:xfrm>
            <a:off x="5047488" y="1463040"/>
            <a:ext cx="2103120" cy="4480560"/>
          </a:xfrm>
          <a:prstGeom prst="roundRect">
            <a:avLst>
              <a:gd name="adj" fmla="val 3478"/>
            </a:avLst>
          </a:prstGeom>
          <a:solidFill>
            <a:schemeClr val="bg2"/>
          </a:solidFill>
          <a:ln w="12700">
            <a:solidFill>
              <a:schemeClr val="bg2"/>
            </a:solidFill>
            <a:prstDash val="solid"/>
          </a:ln>
        </p:spPr>
      </p:sp>
      <p:sp>
        <p:nvSpPr>
          <p:cNvPr id="15" name="Buddy icon circle"/>
          <p:cNvSpPr/>
          <p:nvPr/>
        </p:nvSpPr>
        <p:spPr>
          <a:xfrm>
            <a:off x="5321808" y="1783080"/>
            <a:ext cx="731520" cy="731520"/>
          </a:xfrm>
          <a:prstGeom prst="ellipse">
            <a:avLst/>
          </a:prstGeom>
          <a:solidFill>
            <a:schemeClr val="accent1"/>
          </a:solidFill>
          <a:ln w="12700">
            <a:solidFill>
              <a:schemeClr val="accent1"/>
            </a:solidFill>
            <a:prstDash val="solid"/>
          </a:ln>
        </p:spPr>
      </p:sp>
      <p:pic>
        <p:nvPicPr>
          <p:cNvPr id="16" name="Buddy icon" descr="Buddy icon">    </p:cNvPr>
          <p:cNvPicPr>
            <a:picLocks noChangeAspect="1"/>
          </p:cNvPicPr>
          <p:nvPr/>
        </p:nvPicPr>
        <p:blipFill>
          <a:blip r:embed="rId3"/>
          <a:stretch>
            <a:fillRect/>
          </a:stretch>
        </p:blipFill>
        <p:spPr>
          <a:xfrm>
            <a:off x="5504688" y="1965960"/>
            <a:ext cx="365760" cy="365760"/>
          </a:xfrm>
          <a:prstGeom prst="rect">
            <a:avLst/>
          </a:prstGeom>
        </p:spPr>
      </p:pic>
      <p:sp>
        <p:nvSpPr>
          <p:cNvPr id="17" name="Text 11"/>
          <p:cNvSpPr txBox="1"/>
          <p:nvPr/>
        </p:nvSpPr>
        <p:spPr>
          <a:xfrm>
            <a:off x="5321808" y="2697480"/>
            <a:ext cx="1645920" cy="731520"/>
          </a:xfrm>
          <a:prstGeom prst="rect">
            <a:avLst/>
          </a:prstGeom>
          <a:noFill/>
          <a:ln/>
        </p:spPr>
        <p:txBody>
          <a:bodyPr wrap="square" lIns="0" tIns="0" rIns="0" bIns="0" rtlCol="0" anchor="t"/>
          <a:lstStyle/>
          <a:p>
            <a:pPr indent="0" marL="0">
              <a:buNone/>
            </a:pPr>
            <a:r>
              <a:rPr lang="en-US" sz="1800" b="1" dirty="0">
                <a:solidFill>
                  <a:schemeClr val="tx1"/>
                </a:solidFill>
              </a:rPr>
              <a:t>Buddy</a:t>
            </a:r>
            <a:endParaRPr lang="en-US" sz="1800" dirty="0"/>
          </a:p>
        </p:txBody>
      </p:sp>
      <p:sp>
        <p:nvSpPr>
          <p:cNvPr id="18" name="Text 12"/>
          <p:cNvSpPr txBox="1"/>
          <p:nvPr/>
        </p:nvSpPr>
        <p:spPr>
          <a:xfrm>
            <a:off x="5321808" y="3474720"/>
            <a:ext cx="1645920" cy="2377440"/>
          </a:xfrm>
          <a:prstGeom prst="rect">
            <a:avLst/>
          </a:prstGeom>
          <a:noFill/>
          <a:ln/>
        </p:spPr>
        <p:txBody>
          <a:bodyPr wrap="square" lIns="0" tIns="0" rIns="0" bIns="0" rtlCol="0" anchor="t"/>
          <a:lstStyle/>
          <a:p>
            <a:pPr indent="0" marL="0">
              <a:buNone/>
            </a:pPr>
            <a:r>
              <a:rPr lang="en-US" sz="1600" dirty="0">
                <a:solidFill>
                  <a:schemeClr val="accent3"/>
                </a:solidFill>
              </a:rPr>
              <a:t>Answers "how things actually work", lets them shadow, gives informal feedback</a:t>
            </a:r>
            <a:endParaRPr lang="en-US" sz="1600" dirty="0"/>
          </a:p>
        </p:txBody>
      </p:sp>
      <p:sp>
        <p:nvSpPr>
          <p:cNvPr id="19" name="Enablement card"/>
          <p:cNvSpPr/>
          <p:nvPr/>
        </p:nvSpPr>
        <p:spPr>
          <a:xfrm>
            <a:off x="7296912" y="1463040"/>
            <a:ext cx="2103120" cy="4480560"/>
          </a:xfrm>
          <a:prstGeom prst="roundRect">
            <a:avLst>
              <a:gd name="adj" fmla="val 3478"/>
            </a:avLst>
          </a:prstGeom>
          <a:solidFill>
            <a:schemeClr val="bg2"/>
          </a:solidFill>
          <a:ln w="12700">
            <a:solidFill>
              <a:schemeClr val="bg2"/>
            </a:solidFill>
            <a:prstDash val="solid"/>
          </a:ln>
        </p:spPr>
      </p:sp>
      <p:sp>
        <p:nvSpPr>
          <p:cNvPr id="20" name="Enablement icon circle"/>
          <p:cNvSpPr/>
          <p:nvPr/>
        </p:nvSpPr>
        <p:spPr>
          <a:xfrm>
            <a:off x="7571232" y="1783080"/>
            <a:ext cx="731520" cy="731520"/>
          </a:xfrm>
          <a:prstGeom prst="ellipse">
            <a:avLst/>
          </a:prstGeom>
          <a:solidFill>
            <a:schemeClr val="accent1"/>
          </a:solidFill>
          <a:ln w="12700">
            <a:solidFill>
              <a:schemeClr val="accent1"/>
            </a:solidFill>
            <a:prstDash val="solid"/>
          </a:ln>
        </p:spPr>
      </p:sp>
      <p:pic>
        <p:nvPicPr>
          <p:cNvPr id="21" name="Enablement icon" descr="Enablement icon">    </p:cNvPr>
          <p:cNvPicPr>
            <a:picLocks noChangeAspect="1"/>
          </p:cNvPicPr>
          <p:nvPr/>
        </p:nvPicPr>
        <p:blipFill>
          <a:blip r:embed="rId4"/>
          <a:stretch>
            <a:fillRect/>
          </a:stretch>
        </p:blipFill>
        <p:spPr>
          <a:xfrm>
            <a:off x="7754112" y="1965960"/>
            <a:ext cx="365760" cy="365760"/>
          </a:xfrm>
          <a:prstGeom prst="rect">
            <a:avLst/>
          </a:prstGeom>
        </p:spPr>
      </p:pic>
      <p:sp>
        <p:nvSpPr>
          <p:cNvPr id="22" name="Text 15"/>
          <p:cNvSpPr txBox="1"/>
          <p:nvPr/>
        </p:nvSpPr>
        <p:spPr>
          <a:xfrm>
            <a:off x="7571232" y="2697480"/>
            <a:ext cx="1645920" cy="731520"/>
          </a:xfrm>
          <a:prstGeom prst="rect">
            <a:avLst/>
          </a:prstGeom>
          <a:noFill/>
          <a:ln/>
        </p:spPr>
        <p:txBody>
          <a:bodyPr wrap="square" lIns="0" tIns="0" rIns="0" bIns="0" rtlCol="0" anchor="t"/>
          <a:lstStyle/>
          <a:p>
            <a:pPr indent="0" marL="0">
              <a:buNone/>
            </a:pPr>
            <a:r>
              <a:rPr lang="en-US" sz="1800" b="1" dirty="0">
                <a:solidFill>
                  <a:schemeClr val="tx1"/>
                </a:solidFill>
              </a:rPr>
              <a:t>Enablement</a:t>
            </a:r>
            <a:endParaRPr lang="en-US" sz="1800" dirty="0"/>
          </a:p>
        </p:txBody>
      </p:sp>
      <p:sp>
        <p:nvSpPr>
          <p:cNvPr id="23" name="Text 16"/>
          <p:cNvSpPr txBox="1"/>
          <p:nvPr/>
        </p:nvSpPr>
        <p:spPr>
          <a:xfrm>
            <a:off x="7571232" y="3474720"/>
            <a:ext cx="1645920" cy="2377440"/>
          </a:xfrm>
          <a:prstGeom prst="rect">
            <a:avLst/>
          </a:prstGeom>
          <a:noFill/>
          <a:ln/>
        </p:spPr>
        <p:txBody>
          <a:bodyPr wrap="square" lIns="0" tIns="0" rIns="0" bIns="0" rtlCol="0" anchor="t"/>
          <a:lstStyle/>
          <a:p>
            <a:pPr indent="0" marL="0">
              <a:buNone/>
            </a:pPr>
            <a:r>
              <a:rPr lang="en-US" sz="1600" dirty="0">
                <a:solidFill>
                  <a:schemeClr val="accent3"/>
                </a:solidFill>
              </a:rPr>
              <a:t>Designs pathways, runs certifications, equips managers, tracks ramp data</a:t>
            </a:r>
            <a:endParaRPr lang="en-US" sz="1600" dirty="0"/>
          </a:p>
        </p:txBody>
      </p:sp>
      <p:sp>
        <p:nvSpPr>
          <p:cNvPr id="24" name="SE, Product, Deal Mgmt card"/>
          <p:cNvSpPr/>
          <p:nvPr/>
        </p:nvSpPr>
        <p:spPr>
          <a:xfrm>
            <a:off x="9546336" y="1463040"/>
            <a:ext cx="2103120" cy="4480560"/>
          </a:xfrm>
          <a:prstGeom prst="roundRect">
            <a:avLst>
              <a:gd name="adj" fmla="val 3478"/>
            </a:avLst>
          </a:prstGeom>
          <a:solidFill>
            <a:schemeClr val="bg2"/>
          </a:solidFill>
          <a:ln w="12700">
            <a:solidFill>
              <a:schemeClr val="bg2"/>
            </a:solidFill>
            <a:prstDash val="solid"/>
          </a:ln>
        </p:spPr>
      </p:sp>
      <p:sp>
        <p:nvSpPr>
          <p:cNvPr id="25" name="SE, Product, Deal Mgmt icon circle"/>
          <p:cNvSpPr/>
          <p:nvPr/>
        </p:nvSpPr>
        <p:spPr>
          <a:xfrm>
            <a:off x="9820656" y="1783080"/>
            <a:ext cx="731520" cy="731520"/>
          </a:xfrm>
          <a:prstGeom prst="ellipse">
            <a:avLst/>
          </a:prstGeom>
          <a:solidFill>
            <a:schemeClr val="accent1"/>
          </a:solidFill>
          <a:ln w="12700">
            <a:solidFill>
              <a:schemeClr val="accent1"/>
            </a:solidFill>
            <a:prstDash val="solid"/>
          </a:ln>
        </p:spPr>
      </p:sp>
      <p:pic>
        <p:nvPicPr>
          <p:cNvPr id="26" name="SE, Product, Deal Mgmt icon" descr="SE, Product, Deal Mgmt icon">    </p:cNvPr>
          <p:cNvPicPr>
            <a:picLocks noChangeAspect="1"/>
          </p:cNvPicPr>
          <p:nvPr/>
        </p:nvPicPr>
        <p:blipFill>
          <a:blip r:embed="rId5"/>
          <a:stretch>
            <a:fillRect/>
          </a:stretch>
        </p:blipFill>
        <p:spPr>
          <a:xfrm>
            <a:off x="10003536" y="1965960"/>
            <a:ext cx="365760" cy="365760"/>
          </a:xfrm>
          <a:prstGeom prst="rect">
            <a:avLst/>
          </a:prstGeom>
        </p:spPr>
      </p:pic>
      <p:sp>
        <p:nvSpPr>
          <p:cNvPr id="27" name="Text 19"/>
          <p:cNvSpPr txBox="1"/>
          <p:nvPr/>
        </p:nvSpPr>
        <p:spPr>
          <a:xfrm>
            <a:off x="9820656" y="2697480"/>
            <a:ext cx="1645920" cy="731520"/>
          </a:xfrm>
          <a:prstGeom prst="rect">
            <a:avLst/>
          </a:prstGeom>
          <a:noFill/>
          <a:ln/>
        </p:spPr>
        <p:txBody>
          <a:bodyPr wrap="square" lIns="0" tIns="0" rIns="0" bIns="0" rtlCol="0" anchor="t"/>
          <a:lstStyle/>
          <a:p>
            <a:pPr indent="0" marL="0">
              <a:buNone/>
            </a:pPr>
            <a:r>
              <a:rPr lang="en-US" sz="1800" b="1" dirty="0">
                <a:solidFill>
                  <a:schemeClr val="tx1"/>
                </a:solidFill>
              </a:rPr>
              <a:t>SE, Product, Deal Mgmt</a:t>
            </a:r>
            <a:endParaRPr lang="en-US" sz="1800" dirty="0"/>
          </a:p>
        </p:txBody>
      </p:sp>
      <p:sp>
        <p:nvSpPr>
          <p:cNvPr id="28" name="Text 20"/>
          <p:cNvSpPr txBox="1"/>
          <p:nvPr/>
        </p:nvSpPr>
        <p:spPr>
          <a:xfrm>
            <a:off x="9820656" y="3474720"/>
            <a:ext cx="1645920" cy="2377440"/>
          </a:xfrm>
          <a:prstGeom prst="rect">
            <a:avLst/>
          </a:prstGeom>
          <a:noFill/>
          <a:ln/>
        </p:spPr>
        <p:txBody>
          <a:bodyPr wrap="square" lIns="0" tIns="0" rIns="0" bIns="0" rtlCol="0" anchor="t"/>
          <a:lstStyle/>
          <a:p>
            <a:pPr indent="0" marL="0">
              <a:buNone/>
            </a:pPr>
            <a:r>
              <a:rPr lang="en-US" sz="1600" dirty="0">
                <a:solidFill>
                  <a:schemeClr val="accent3"/>
                </a:solidFill>
              </a:rPr>
              <a:t>Run subject-matter sessions and join early deals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Ramp metrics for the impact dashboard</a:t>
            </a:r>
            <a:endParaRPr lang="en-US" sz="3200" dirty="0"/>
          </a:p>
        </p:txBody>
      </p:sp>
      <p:sp>
        <p:nvSpPr>
          <p:cNvPr id="4" name="Leading metrics card"/>
          <p:cNvSpPr/>
          <p:nvPr/>
        </p:nvSpPr>
        <p:spPr>
          <a:xfrm>
            <a:off x="548640" y="1463040"/>
            <a:ext cx="3566160" cy="3657600"/>
          </a:xfrm>
          <a:prstGeom prst="roundRect">
            <a:avLst>
              <a:gd name="adj" fmla="val 2051"/>
            </a:avLst>
          </a:prstGeom>
          <a:solidFill>
            <a:schemeClr val="bg2"/>
          </a:solidFill>
          <a:ln w="12700">
            <a:solidFill>
              <a:schemeClr val="bg2"/>
            </a:solidFill>
            <a:prstDash val="solid"/>
          </a:ln>
        </p:spPr>
      </p:sp>
      <p:sp>
        <p:nvSpPr>
          <p:cNvPr id="5" name="Leading icon circle"/>
          <p:cNvSpPr/>
          <p:nvPr/>
        </p:nvSpPr>
        <p:spPr>
          <a:xfrm>
            <a:off x="822960" y="1737360"/>
            <a:ext cx="640080" cy="640080"/>
          </a:xfrm>
          <a:prstGeom prst="ellipse">
            <a:avLst/>
          </a:prstGeom>
          <a:solidFill>
            <a:schemeClr val="accent1"/>
          </a:solidFill>
          <a:ln w="12700">
            <a:solidFill>
              <a:schemeClr val="accent1"/>
            </a:solidFill>
            <a:prstDash val="solid"/>
          </a:ln>
        </p:spPr>
      </p:sp>
      <p:pic>
        <p:nvPicPr>
          <p:cNvPr id="6" name="Leading icon" descr="Leading icon">    </p:cNvPr>
          <p:cNvPicPr>
            <a:picLocks noChangeAspect="1"/>
          </p:cNvPicPr>
          <p:nvPr/>
        </p:nvPicPr>
        <p:blipFill>
          <a:blip r:embed="rId1"/>
          <a:stretch>
            <a:fillRect/>
          </a:stretch>
        </p:blipFill>
        <p:spPr>
          <a:xfrm>
            <a:off x="982980" y="1897380"/>
            <a:ext cx="320040" cy="320040"/>
          </a:xfrm>
          <a:prstGeom prst="rect">
            <a:avLst/>
          </a:prstGeom>
        </p:spPr>
      </p:pic>
      <p:sp>
        <p:nvSpPr>
          <p:cNvPr id="7" name="Text 3"/>
          <p:cNvSpPr txBox="1"/>
          <p:nvPr/>
        </p:nvSpPr>
        <p:spPr>
          <a:xfrm>
            <a:off x="1645920" y="1737360"/>
            <a:ext cx="2286000" cy="640080"/>
          </a:xfrm>
          <a:prstGeom prst="rect">
            <a:avLst/>
          </a:prstGeom>
          <a:noFill/>
          <a:ln/>
        </p:spPr>
        <p:txBody>
          <a:bodyPr wrap="square" lIns="0" tIns="0" rIns="0" bIns="0" rtlCol="0" anchor="ctr"/>
          <a:lstStyle/>
          <a:p>
            <a:pPr indent="0" marL="0">
              <a:buNone/>
            </a:pPr>
            <a:r>
              <a:rPr lang="en-US" sz="2200" b="1" dirty="0">
                <a:solidFill>
                  <a:schemeClr val="tx1"/>
                </a:solidFill>
              </a:rPr>
              <a:t>Leading</a:t>
            </a:r>
            <a:endParaRPr lang="en-US" sz="2200" dirty="0"/>
          </a:p>
        </p:txBody>
      </p:sp>
      <p:sp>
        <p:nvSpPr>
          <p:cNvPr id="8" name="Text 4"/>
          <p:cNvSpPr txBox="1"/>
          <p:nvPr/>
        </p:nvSpPr>
        <p:spPr>
          <a:xfrm>
            <a:off x="822960" y="2606040"/>
            <a:ext cx="30632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Time to first meeting</a:t>
            </a:r>
            <a:endParaRPr lang="en-US" sz="1600" dirty="0"/>
          </a:p>
          <a:p>
            <a:pPr marL="342900" indent="-342900">
              <a:spcAft>
                <a:spcPts val="600"/>
              </a:spcAft>
              <a:buSzPct val="100000"/>
              <a:buChar char="•"/>
            </a:pPr>
            <a:r>
              <a:rPr lang="en-US" sz="1600" dirty="0">
                <a:solidFill>
                  <a:schemeClr val="tx1"/>
                </a:solidFill>
              </a:rPr>
              <a:t>Activity vs. target</a:t>
            </a:r>
            <a:endParaRPr lang="en-US" sz="1600" dirty="0"/>
          </a:p>
          <a:p>
            <a:pPr marL="342900" indent="-342900">
              <a:spcAft>
                <a:spcPts val="600"/>
              </a:spcAft>
              <a:buSzPct val="100000"/>
              <a:buChar char="•"/>
            </a:pPr>
            <a:r>
              <a:rPr lang="en-US" sz="1600" dirty="0">
                <a:solidFill>
                  <a:schemeClr val="tx1"/>
                </a:solidFill>
              </a:rPr>
              <a:t>Certification pass rate and attempts</a:t>
            </a:r>
            <a:endParaRPr lang="en-US" sz="1600" dirty="0"/>
          </a:p>
          <a:p>
            <a:pPr marL="342900" indent="-342900">
              <a:spcAft>
                <a:spcPts val="600"/>
              </a:spcAft>
              <a:buSzPct val="100000"/>
              <a:buChar char="•"/>
            </a:pPr>
            <a:r>
              <a:rPr lang="en-US" sz="1600" dirty="0">
                <a:solidFill>
                  <a:schemeClr val="tx1"/>
                </a:solidFill>
              </a:rPr>
              <a:t>DEPTH fields in Salesforce</a:t>
            </a:r>
            <a:endParaRPr lang="en-US" sz="1600" dirty="0"/>
          </a:p>
          <a:p>
            <a:pPr marL="342900" indent="-342900">
              <a:spcAft>
                <a:spcPts val="600"/>
              </a:spcAft>
              <a:buSzPct val="100000"/>
              <a:buChar char="•"/>
            </a:pPr>
            <a:r>
              <a:rPr lang="en-US" sz="1600" dirty="0">
                <a:solidFill>
                  <a:schemeClr val="tx1"/>
                </a:solidFill>
              </a:rPr>
              <a:t>Gong talk ratio, discovery questions</a:t>
            </a:r>
            <a:endParaRPr lang="en-US" sz="1600" dirty="0"/>
          </a:p>
        </p:txBody>
      </p:sp>
      <p:sp>
        <p:nvSpPr>
          <p:cNvPr id="9" name="Lagging metrics card"/>
          <p:cNvSpPr/>
          <p:nvPr/>
        </p:nvSpPr>
        <p:spPr>
          <a:xfrm>
            <a:off x="4297680" y="1463040"/>
            <a:ext cx="3566160" cy="3657600"/>
          </a:xfrm>
          <a:prstGeom prst="roundRect">
            <a:avLst>
              <a:gd name="adj" fmla="val 2051"/>
            </a:avLst>
          </a:prstGeom>
          <a:solidFill>
            <a:schemeClr val="bg2"/>
          </a:solidFill>
          <a:ln w="12700">
            <a:solidFill>
              <a:schemeClr val="bg2"/>
            </a:solidFill>
            <a:prstDash val="solid"/>
          </a:ln>
        </p:spPr>
      </p:sp>
      <p:sp>
        <p:nvSpPr>
          <p:cNvPr id="10" name="Lagging icon circle"/>
          <p:cNvSpPr/>
          <p:nvPr/>
        </p:nvSpPr>
        <p:spPr>
          <a:xfrm>
            <a:off x="4572000" y="1737360"/>
            <a:ext cx="640080" cy="640080"/>
          </a:xfrm>
          <a:prstGeom prst="ellipse">
            <a:avLst/>
          </a:prstGeom>
          <a:solidFill>
            <a:schemeClr val="accent1"/>
          </a:solidFill>
          <a:ln w="12700">
            <a:solidFill>
              <a:schemeClr val="accent1"/>
            </a:solidFill>
            <a:prstDash val="solid"/>
          </a:ln>
        </p:spPr>
      </p:sp>
      <p:pic>
        <p:nvPicPr>
          <p:cNvPr id="11" name="Lagging icon" descr="Lagging icon">    </p:cNvPr>
          <p:cNvPicPr>
            <a:picLocks noChangeAspect="1"/>
          </p:cNvPicPr>
          <p:nvPr/>
        </p:nvPicPr>
        <p:blipFill>
          <a:blip r:embed="rId2"/>
          <a:stretch>
            <a:fillRect/>
          </a:stretch>
        </p:blipFill>
        <p:spPr>
          <a:xfrm>
            <a:off x="4732020" y="1897380"/>
            <a:ext cx="320040" cy="320040"/>
          </a:xfrm>
          <a:prstGeom prst="rect">
            <a:avLst/>
          </a:prstGeom>
        </p:spPr>
      </p:pic>
      <p:sp>
        <p:nvSpPr>
          <p:cNvPr id="12" name="Text 7"/>
          <p:cNvSpPr txBox="1"/>
          <p:nvPr/>
        </p:nvSpPr>
        <p:spPr>
          <a:xfrm>
            <a:off x="5394960" y="1737360"/>
            <a:ext cx="2286000" cy="640080"/>
          </a:xfrm>
          <a:prstGeom prst="rect">
            <a:avLst/>
          </a:prstGeom>
          <a:noFill/>
          <a:ln/>
        </p:spPr>
        <p:txBody>
          <a:bodyPr wrap="square" lIns="0" tIns="0" rIns="0" bIns="0" rtlCol="0" anchor="ctr"/>
          <a:lstStyle/>
          <a:p>
            <a:pPr indent="0" marL="0">
              <a:buNone/>
            </a:pPr>
            <a:r>
              <a:rPr lang="en-US" sz="2200" b="1" dirty="0">
                <a:solidFill>
                  <a:schemeClr val="tx1"/>
                </a:solidFill>
              </a:rPr>
              <a:t>Lagging</a:t>
            </a:r>
            <a:endParaRPr lang="en-US" sz="2200" dirty="0"/>
          </a:p>
        </p:txBody>
      </p:sp>
      <p:sp>
        <p:nvSpPr>
          <p:cNvPr id="13" name="Text 8"/>
          <p:cNvSpPr txBox="1"/>
          <p:nvPr/>
        </p:nvSpPr>
        <p:spPr>
          <a:xfrm>
            <a:off x="4572000" y="2606040"/>
            <a:ext cx="30632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Time to first qualified opp</a:t>
            </a:r>
            <a:endParaRPr lang="en-US" sz="1600" dirty="0"/>
          </a:p>
          <a:p>
            <a:pPr marL="342900" indent="-342900">
              <a:spcAft>
                <a:spcPts val="600"/>
              </a:spcAft>
              <a:buSzPct val="100000"/>
              <a:buChar char="•"/>
            </a:pPr>
            <a:r>
              <a:rPr lang="en-US" sz="1600" dirty="0">
                <a:solidFill>
                  <a:schemeClr val="tx1"/>
                </a:solidFill>
              </a:rPr>
              <a:t>Time to first closed deal</a:t>
            </a:r>
            <a:endParaRPr lang="en-US" sz="1600" dirty="0"/>
          </a:p>
          <a:p>
            <a:pPr marL="342900" indent="-342900">
              <a:spcAft>
                <a:spcPts val="600"/>
              </a:spcAft>
              <a:buSzPct val="100000"/>
              <a:buChar char="•"/>
            </a:pPr>
            <a:r>
              <a:rPr lang="en-US" sz="1600" dirty="0">
                <a:solidFill>
                  <a:schemeClr val="tx1"/>
                </a:solidFill>
              </a:rPr>
              <a:t>% of ramped quota at 3/6/9 months</a:t>
            </a:r>
            <a:endParaRPr lang="en-US" sz="1600" dirty="0"/>
          </a:p>
          <a:p>
            <a:pPr marL="342900" indent="-342900">
              <a:spcAft>
                <a:spcPts val="600"/>
              </a:spcAft>
              <a:buSzPct val="100000"/>
              <a:buChar char="•"/>
            </a:pPr>
            <a:r>
              <a:rPr lang="en-US" sz="1600" dirty="0">
                <a:solidFill>
                  <a:schemeClr val="tx1"/>
                </a:solidFill>
              </a:rPr>
              <a:t>Pipeline generated in first 90 days</a:t>
            </a:r>
            <a:endParaRPr lang="en-US" sz="1600" dirty="0"/>
          </a:p>
        </p:txBody>
      </p:sp>
      <p:sp>
        <p:nvSpPr>
          <p:cNvPr id="14" name="Health metrics card"/>
          <p:cNvSpPr/>
          <p:nvPr/>
        </p:nvSpPr>
        <p:spPr>
          <a:xfrm>
            <a:off x="8046720" y="1463040"/>
            <a:ext cx="3566160" cy="3657600"/>
          </a:xfrm>
          <a:prstGeom prst="roundRect">
            <a:avLst>
              <a:gd name="adj" fmla="val 2051"/>
            </a:avLst>
          </a:prstGeom>
          <a:solidFill>
            <a:schemeClr val="bg2"/>
          </a:solidFill>
          <a:ln w="12700">
            <a:solidFill>
              <a:schemeClr val="bg2"/>
            </a:solidFill>
            <a:prstDash val="solid"/>
          </a:ln>
        </p:spPr>
      </p:sp>
      <p:sp>
        <p:nvSpPr>
          <p:cNvPr id="15" name="Health icon circle"/>
          <p:cNvSpPr/>
          <p:nvPr/>
        </p:nvSpPr>
        <p:spPr>
          <a:xfrm>
            <a:off x="8321040" y="1737360"/>
            <a:ext cx="640080" cy="640080"/>
          </a:xfrm>
          <a:prstGeom prst="ellipse">
            <a:avLst/>
          </a:prstGeom>
          <a:solidFill>
            <a:schemeClr val="accent1"/>
          </a:solidFill>
          <a:ln w="12700">
            <a:solidFill>
              <a:schemeClr val="accent1"/>
            </a:solidFill>
            <a:prstDash val="solid"/>
          </a:ln>
        </p:spPr>
      </p:sp>
      <p:pic>
        <p:nvPicPr>
          <p:cNvPr id="16" name="Health icon" descr="Health icon">    </p:cNvPr>
          <p:cNvPicPr>
            <a:picLocks noChangeAspect="1"/>
          </p:cNvPicPr>
          <p:nvPr/>
        </p:nvPicPr>
        <p:blipFill>
          <a:blip r:embed="rId3"/>
          <a:stretch>
            <a:fillRect/>
          </a:stretch>
        </p:blipFill>
        <p:spPr>
          <a:xfrm>
            <a:off x="8481060" y="1897380"/>
            <a:ext cx="320040" cy="320040"/>
          </a:xfrm>
          <a:prstGeom prst="rect">
            <a:avLst/>
          </a:prstGeom>
        </p:spPr>
      </p:pic>
      <p:sp>
        <p:nvSpPr>
          <p:cNvPr id="17" name="Text 11"/>
          <p:cNvSpPr txBox="1"/>
          <p:nvPr/>
        </p:nvSpPr>
        <p:spPr>
          <a:xfrm>
            <a:off x="9144000" y="1737360"/>
            <a:ext cx="2286000" cy="640080"/>
          </a:xfrm>
          <a:prstGeom prst="rect">
            <a:avLst/>
          </a:prstGeom>
          <a:noFill/>
          <a:ln/>
        </p:spPr>
        <p:txBody>
          <a:bodyPr wrap="square" lIns="0" tIns="0" rIns="0" bIns="0" rtlCol="0" anchor="ctr"/>
          <a:lstStyle/>
          <a:p>
            <a:pPr indent="0" marL="0">
              <a:buNone/>
            </a:pPr>
            <a:r>
              <a:rPr lang="en-US" sz="2200" b="1" dirty="0">
                <a:solidFill>
                  <a:schemeClr val="tx1"/>
                </a:solidFill>
              </a:rPr>
              <a:t>Health</a:t>
            </a:r>
            <a:endParaRPr lang="en-US" sz="2200" dirty="0"/>
          </a:p>
        </p:txBody>
      </p:sp>
      <p:sp>
        <p:nvSpPr>
          <p:cNvPr id="18" name="Text 12"/>
          <p:cNvSpPr txBox="1"/>
          <p:nvPr/>
        </p:nvSpPr>
        <p:spPr>
          <a:xfrm>
            <a:off x="8321040" y="2606040"/>
            <a:ext cx="306324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New-hire NPS at 30 and 90 days</a:t>
            </a:r>
            <a:endParaRPr lang="en-US" sz="1600" dirty="0"/>
          </a:p>
          <a:p>
            <a:pPr marL="342900" indent="-342900">
              <a:spcAft>
                <a:spcPts val="600"/>
              </a:spcAft>
              <a:buSzPct val="100000"/>
              <a:buChar char="•"/>
            </a:pPr>
            <a:r>
              <a:rPr lang="en-US" sz="1600" dirty="0">
                <a:solidFill>
                  <a:schemeClr val="tx1"/>
                </a:solidFill>
              </a:rPr>
              <a:t>12-month retention</a:t>
            </a:r>
            <a:endParaRPr lang="en-US" sz="1600" dirty="0"/>
          </a:p>
          <a:p>
            <a:pPr marL="342900" indent="-342900">
              <a:spcAft>
                <a:spcPts val="600"/>
              </a:spcAft>
              <a:buSzPct val="100000"/>
              <a:buChar char="•"/>
            </a:pPr>
            <a:r>
              <a:rPr lang="en-US" sz="1600" dirty="0">
                <a:solidFill>
                  <a:schemeClr val="tx1"/>
                </a:solidFill>
              </a:rPr>
              <a:t>Manager confidence rating</a:t>
            </a:r>
            <a:endParaRPr lang="en-US" sz="1600" dirty="0"/>
          </a:p>
          <a:p>
            <a:pPr marL="342900" indent="-342900">
              <a:spcAft>
                <a:spcPts val="600"/>
              </a:spcAft>
              <a:buSzPct val="100000"/>
              <a:buChar char="•"/>
            </a:pPr>
            <a:r>
              <a:rPr lang="en-US" sz="1600" dirty="0">
                <a:solidFill>
                  <a:schemeClr val="tx1"/>
                </a:solidFill>
              </a:rPr>
              <a:t>% of milestones hit on time</a:t>
            </a:r>
            <a:endParaRPr lang="en-US" sz="1600" dirty="0"/>
          </a:p>
        </p:txBody>
      </p:sp>
      <p:sp>
        <p:nvSpPr>
          <p:cNvPr id="19" name="baseline callout"/>
          <p:cNvSpPr/>
          <p:nvPr/>
        </p:nvSpPr>
        <p:spPr>
          <a:xfrm>
            <a:off x="548640" y="5303520"/>
            <a:ext cx="11064240" cy="777240"/>
          </a:xfrm>
          <a:prstGeom prst="roundRect">
            <a:avLst>
              <a:gd name="adj" fmla="val 9412"/>
            </a:avLst>
          </a:prstGeom>
          <a:solidFill>
            <a:schemeClr val="tx2"/>
          </a:solidFill>
          <a:ln w="12700">
            <a:solidFill>
              <a:schemeClr val="tx2"/>
            </a:solidFill>
            <a:prstDash val="solid"/>
          </a:ln>
        </p:spPr>
      </p:sp>
      <p:sp>
        <p:nvSpPr>
          <p:cNvPr id="20" name="Text 14"/>
          <p:cNvSpPr txBox="1"/>
          <p:nvPr/>
        </p:nvSpPr>
        <p:spPr>
          <a:xfrm>
            <a:off x="822960" y="5303520"/>
            <a:ext cx="10515600" cy="777240"/>
          </a:xfrm>
          <a:prstGeom prst="rect">
            <a:avLst/>
          </a:prstGeom>
          <a:noFill/>
          <a:ln/>
        </p:spPr>
        <p:txBody>
          <a:bodyPr wrap="square" lIns="0" tIns="0" rIns="0" bIns="0" rtlCol="0" anchor="ctr"/>
          <a:lstStyle/>
          <a:p>
            <a:pPr indent="0" marL="0">
              <a:buNone/>
            </a:pPr>
            <a:r>
              <a:rPr lang="en-US" sz="1500" b="1" dirty="0">
                <a:solidFill>
                  <a:schemeClr val="accent2"/>
                </a:solidFill>
              </a:rPr>
              <a:t>Baseline first: </a:t>
            </a:r>
            <a:pPr indent="0" marL="0">
              <a:buNone/>
            </a:pPr>
            <a:r>
              <a:rPr lang="en-US" sz="1500" dirty="0">
                <a:solidFill>
                  <a:schemeClr val="bg1"/>
                </a:solidFill>
              </a:rPr>
              <a:t>compare every cohort to current ramp time by role. Without a baseline, there's no way to show improvement.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Common pitfalls and what to do instead</a:t>
            </a:r>
            <a:endParaRPr lang="en-US" sz="3200" dirty="0"/>
          </a:p>
        </p:txBody>
      </p:sp>
      <p:sp>
        <p:nvSpPr>
          <p:cNvPr id="4" name="Text 1"/>
          <p:cNvSpPr txBox="1"/>
          <p:nvPr/>
        </p:nvSpPr>
        <p:spPr>
          <a:xfrm>
            <a:off x="1188720" y="1280160"/>
            <a:ext cx="4572000" cy="320040"/>
          </a:xfrm>
          <a:prstGeom prst="rect">
            <a:avLst/>
          </a:prstGeom>
          <a:noFill/>
          <a:ln/>
        </p:spPr>
        <p:txBody>
          <a:bodyPr wrap="square" lIns="0" tIns="0" rIns="0" bIns="0" rtlCol="0" anchor="t"/>
          <a:lstStyle/>
          <a:p>
            <a:pPr indent="0" marL="0">
              <a:buNone/>
            </a:pPr>
            <a:r>
              <a:rPr lang="en-US" sz="1300" b="1" dirty="0">
                <a:solidFill>
                  <a:schemeClr val="accent5"/>
                </a:solidFill>
              </a:rPr>
              <a:t>Pitfall</a:t>
            </a:r>
            <a:endParaRPr lang="en-US" sz="1300" dirty="0"/>
          </a:p>
        </p:txBody>
      </p:sp>
      <p:sp>
        <p:nvSpPr>
          <p:cNvPr id="5" name="Text 2"/>
          <p:cNvSpPr txBox="1"/>
          <p:nvPr/>
        </p:nvSpPr>
        <p:spPr>
          <a:xfrm>
            <a:off x="6812280" y="1280160"/>
            <a:ext cx="4572000" cy="320040"/>
          </a:xfrm>
          <a:prstGeom prst="rect">
            <a:avLst/>
          </a:prstGeom>
          <a:noFill/>
          <a:ln/>
        </p:spPr>
        <p:txBody>
          <a:bodyPr wrap="square" lIns="0" tIns="0" rIns="0" bIns="0" rtlCol="0" anchor="t"/>
          <a:lstStyle/>
          <a:p>
            <a:pPr indent="0" marL="0">
              <a:buNone/>
            </a:pPr>
            <a:r>
              <a:rPr lang="en-US" sz="1300" b="1" dirty="0">
                <a:solidFill>
                  <a:schemeClr val="accent1"/>
                </a:solidFill>
              </a:rPr>
              <a:t>Instead</a:t>
            </a:r>
            <a:endParaRPr lang="en-US" sz="1300" dirty="0"/>
          </a:p>
        </p:txBody>
      </p:sp>
      <p:sp>
        <p:nvSpPr>
          <p:cNvPr id="6" name="pitfall row 1"/>
          <p:cNvSpPr/>
          <p:nvPr/>
        </p:nvSpPr>
        <p:spPr>
          <a:xfrm>
            <a:off x="548640" y="1645920"/>
            <a:ext cx="11064240" cy="548640"/>
          </a:xfrm>
          <a:prstGeom prst="roundRect">
            <a:avLst>
              <a:gd name="adj" fmla="val 13333"/>
            </a:avLst>
          </a:prstGeom>
          <a:solidFill>
            <a:schemeClr val="bg2"/>
          </a:solidFill>
          <a:ln w="12700">
            <a:solidFill>
              <a:schemeClr val="bg2"/>
            </a:solidFill>
            <a:prstDash val="solid"/>
          </a:ln>
        </p:spPr>
      </p:sp>
      <p:pic>
        <p:nvPicPr>
          <p:cNvPr id="7" name="pitfall icon 1" descr="pitfall">    </p:cNvPr>
          <p:cNvPicPr>
            <a:picLocks noChangeAspect="1"/>
          </p:cNvPicPr>
          <p:nvPr/>
        </p:nvPicPr>
        <p:blipFill>
          <a:blip r:embed="rId1"/>
          <a:stretch>
            <a:fillRect/>
          </a:stretch>
        </p:blipFill>
        <p:spPr>
          <a:xfrm>
            <a:off x="731520" y="1764792"/>
            <a:ext cx="310896" cy="310896"/>
          </a:xfrm>
          <a:prstGeom prst="rect">
            <a:avLst/>
          </a:prstGeom>
        </p:spPr>
      </p:pic>
      <p:sp>
        <p:nvSpPr>
          <p:cNvPr id="8" name="Text 4"/>
          <p:cNvSpPr txBox="1"/>
          <p:nvPr/>
        </p:nvSpPr>
        <p:spPr>
          <a:xfrm>
            <a:off x="1188720" y="1645920"/>
            <a:ext cx="5029200" cy="548640"/>
          </a:xfrm>
          <a:prstGeom prst="rect">
            <a:avLst/>
          </a:prstGeom>
          <a:noFill/>
          <a:ln/>
        </p:spPr>
        <p:txBody>
          <a:bodyPr wrap="square" lIns="0" tIns="0" rIns="0" bIns="0" rtlCol="0" anchor="ctr"/>
          <a:lstStyle/>
          <a:p>
            <a:pPr indent="0" marL="0">
              <a:buNone/>
            </a:pPr>
            <a:r>
              <a:rPr lang="en-US" sz="1400" dirty="0">
                <a:solidFill>
                  <a:schemeClr val="tx1"/>
                </a:solidFill>
              </a:rPr>
              <a:t>Firehose week 1: five days of slides</a:t>
            </a:r>
            <a:endParaRPr lang="en-US" sz="1400" dirty="0"/>
          </a:p>
        </p:txBody>
      </p:sp>
      <p:pic>
        <p:nvPicPr>
          <p:cNvPr id="9" name="instead icon 1" descr="instead">    </p:cNvPr>
          <p:cNvPicPr>
            <a:picLocks noChangeAspect="1"/>
          </p:cNvPicPr>
          <p:nvPr/>
        </p:nvPicPr>
        <p:blipFill>
          <a:blip r:embed="rId2"/>
          <a:stretch>
            <a:fillRect/>
          </a:stretch>
        </p:blipFill>
        <p:spPr>
          <a:xfrm>
            <a:off x="6355080" y="1764792"/>
            <a:ext cx="310896" cy="310896"/>
          </a:xfrm>
          <a:prstGeom prst="rect">
            <a:avLst/>
          </a:prstGeom>
        </p:spPr>
      </p:pic>
      <p:sp>
        <p:nvSpPr>
          <p:cNvPr id="10" name="Text 5"/>
          <p:cNvSpPr txBox="1"/>
          <p:nvPr/>
        </p:nvSpPr>
        <p:spPr>
          <a:xfrm>
            <a:off x="6812280" y="1645920"/>
            <a:ext cx="4663440" cy="548640"/>
          </a:xfrm>
          <a:prstGeom prst="rect">
            <a:avLst/>
          </a:prstGeom>
          <a:noFill/>
          <a:ln/>
        </p:spPr>
        <p:txBody>
          <a:bodyPr wrap="square" lIns="0" tIns="0" rIns="0" bIns="0" rtlCol="0" anchor="ctr"/>
          <a:lstStyle/>
          <a:p>
            <a:pPr indent="0" marL="0">
              <a:buNone/>
            </a:pPr>
            <a:r>
              <a:rPr lang="en-US" sz="1400" b="1" dirty="0">
                <a:solidFill>
                  <a:schemeClr val="tx1"/>
                </a:solidFill>
              </a:rPr>
              <a:t>Minimum viable week 1, spaced over 6–8 weeks</a:t>
            </a:r>
            <a:endParaRPr lang="en-US" sz="1400" dirty="0"/>
          </a:p>
        </p:txBody>
      </p:sp>
      <p:sp>
        <p:nvSpPr>
          <p:cNvPr id="11" name="pitfall row 2"/>
          <p:cNvSpPr/>
          <p:nvPr/>
        </p:nvSpPr>
        <p:spPr>
          <a:xfrm>
            <a:off x="548640" y="2286000"/>
            <a:ext cx="11064240" cy="548640"/>
          </a:xfrm>
          <a:prstGeom prst="roundRect">
            <a:avLst>
              <a:gd name="adj" fmla="val 13333"/>
            </a:avLst>
          </a:prstGeom>
          <a:solidFill>
            <a:schemeClr val="bg1"/>
          </a:solidFill>
          <a:ln w="12700">
            <a:solidFill>
              <a:schemeClr val="bg1"/>
            </a:solidFill>
            <a:prstDash val="solid"/>
          </a:ln>
        </p:spPr>
      </p:sp>
      <p:pic>
        <p:nvPicPr>
          <p:cNvPr id="12" name="pitfall icon 2" descr="pitfall">    </p:cNvPr>
          <p:cNvPicPr>
            <a:picLocks noChangeAspect="1"/>
          </p:cNvPicPr>
          <p:nvPr/>
        </p:nvPicPr>
        <p:blipFill>
          <a:blip r:embed="rId3"/>
          <a:stretch>
            <a:fillRect/>
          </a:stretch>
        </p:blipFill>
        <p:spPr>
          <a:xfrm>
            <a:off x="731520" y="2404872"/>
            <a:ext cx="310896" cy="310896"/>
          </a:xfrm>
          <a:prstGeom prst="rect">
            <a:avLst/>
          </a:prstGeom>
        </p:spPr>
      </p:pic>
      <p:sp>
        <p:nvSpPr>
          <p:cNvPr id="13" name="Text 7"/>
          <p:cNvSpPr txBox="1"/>
          <p:nvPr/>
        </p:nvSpPr>
        <p:spPr>
          <a:xfrm>
            <a:off x="1188720" y="2286000"/>
            <a:ext cx="5029200" cy="548640"/>
          </a:xfrm>
          <a:prstGeom prst="rect">
            <a:avLst/>
          </a:prstGeom>
          <a:noFill/>
          <a:ln/>
        </p:spPr>
        <p:txBody>
          <a:bodyPr wrap="square" lIns="0" tIns="0" rIns="0" bIns="0" rtlCol="0" anchor="ctr"/>
          <a:lstStyle/>
          <a:p>
            <a:pPr indent="0" marL="0">
              <a:buNone/>
            </a:pPr>
            <a:r>
              <a:rPr lang="en-US" sz="1400" dirty="0">
                <a:solidFill>
                  <a:schemeClr val="tx1"/>
                </a:solidFill>
              </a:rPr>
              <a:t>One path for a veteran and a new grad</a:t>
            </a:r>
            <a:endParaRPr lang="en-US" sz="1400" dirty="0"/>
          </a:p>
        </p:txBody>
      </p:sp>
      <p:pic>
        <p:nvPicPr>
          <p:cNvPr id="14" name="instead icon 2" descr="instead">    </p:cNvPr>
          <p:cNvPicPr>
            <a:picLocks noChangeAspect="1"/>
          </p:cNvPicPr>
          <p:nvPr/>
        </p:nvPicPr>
        <p:blipFill>
          <a:blip r:embed="rId4"/>
          <a:stretch>
            <a:fillRect/>
          </a:stretch>
        </p:blipFill>
        <p:spPr>
          <a:xfrm>
            <a:off x="6355080" y="2404872"/>
            <a:ext cx="310896" cy="310896"/>
          </a:xfrm>
          <a:prstGeom prst="rect">
            <a:avLst/>
          </a:prstGeom>
        </p:spPr>
      </p:pic>
      <p:sp>
        <p:nvSpPr>
          <p:cNvPr id="15" name="Text 8"/>
          <p:cNvSpPr txBox="1"/>
          <p:nvPr/>
        </p:nvSpPr>
        <p:spPr>
          <a:xfrm>
            <a:off x="6812280" y="2286000"/>
            <a:ext cx="4663440" cy="548640"/>
          </a:xfrm>
          <a:prstGeom prst="rect">
            <a:avLst/>
          </a:prstGeom>
          <a:noFill/>
          <a:ln/>
        </p:spPr>
        <p:txBody>
          <a:bodyPr wrap="square" lIns="0" tIns="0" rIns="0" bIns="0" rtlCol="0" anchor="ctr"/>
          <a:lstStyle/>
          <a:p>
            <a:pPr indent="0" marL="0">
              <a:buNone/>
            </a:pPr>
            <a:r>
              <a:rPr lang="en-US" sz="1400" b="1" dirty="0">
                <a:solidFill>
                  <a:schemeClr val="tx1"/>
                </a:solidFill>
              </a:rPr>
              <a:t>Day-1 diagnostics and test-out options</a:t>
            </a:r>
            <a:endParaRPr lang="en-US" sz="1400" dirty="0"/>
          </a:p>
        </p:txBody>
      </p:sp>
      <p:sp>
        <p:nvSpPr>
          <p:cNvPr id="16" name="pitfall row 3"/>
          <p:cNvSpPr/>
          <p:nvPr/>
        </p:nvSpPr>
        <p:spPr>
          <a:xfrm>
            <a:off x="548640" y="2926080"/>
            <a:ext cx="11064240" cy="548640"/>
          </a:xfrm>
          <a:prstGeom prst="roundRect">
            <a:avLst>
              <a:gd name="adj" fmla="val 13333"/>
            </a:avLst>
          </a:prstGeom>
          <a:solidFill>
            <a:schemeClr val="bg2"/>
          </a:solidFill>
          <a:ln w="12700">
            <a:solidFill>
              <a:schemeClr val="bg2"/>
            </a:solidFill>
            <a:prstDash val="solid"/>
          </a:ln>
        </p:spPr>
      </p:sp>
      <p:pic>
        <p:nvPicPr>
          <p:cNvPr id="17" name="pitfall icon 3" descr="pitfall">    </p:cNvPr>
          <p:cNvPicPr>
            <a:picLocks noChangeAspect="1"/>
          </p:cNvPicPr>
          <p:nvPr/>
        </p:nvPicPr>
        <p:blipFill>
          <a:blip r:embed="rId5"/>
          <a:stretch>
            <a:fillRect/>
          </a:stretch>
        </p:blipFill>
        <p:spPr>
          <a:xfrm>
            <a:off x="731520" y="3044952"/>
            <a:ext cx="310896" cy="310896"/>
          </a:xfrm>
          <a:prstGeom prst="rect">
            <a:avLst/>
          </a:prstGeom>
        </p:spPr>
      </p:pic>
      <p:sp>
        <p:nvSpPr>
          <p:cNvPr id="18" name="Text 10"/>
          <p:cNvSpPr txBox="1"/>
          <p:nvPr/>
        </p:nvSpPr>
        <p:spPr>
          <a:xfrm>
            <a:off x="1188720" y="2926080"/>
            <a:ext cx="5029200" cy="548640"/>
          </a:xfrm>
          <a:prstGeom prst="rect">
            <a:avLst/>
          </a:prstGeom>
          <a:noFill/>
          <a:ln/>
        </p:spPr>
        <p:txBody>
          <a:bodyPr wrap="square" lIns="0" tIns="0" rIns="0" bIns="0" rtlCol="0" anchor="ctr"/>
          <a:lstStyle/>
          <a:p>
            <a:pPr indent="0" marL="0">
              <a:buNone/>
            </a:pPr>
            <a:r>
              <a:rPr lang="en-US" sz="1400" dirty="0">
                <a:solidFill>
                  <a:schemeClr val="tx1"/>
                </a:solidFill>
              </a:rPr>
              <a:t>Measuring completion, not capability</a:t>
            </a:r>
            <a:endParaRPr lang="en-US" sz="1400" dirty="0"/>
          </a:p>
        </p:txBody>
      </p:sp>
      <p:pic>
        <p:nvPicPr>
          <p:cNvPr id="19" name="instead icon 3" descr="instead">    </p:cNvPr>
          <p:cNvPicPr>
            <a:picLocks noChangeAspect="1"/>
          </p:cNvPicPr>
          <p:nvPr/>
        </p:nvPicPr>
        <p:blipFill>
          <a:blip r:embed="rId6"/>
          <a:stretch>
            <a:fillRect/>
          </a:stretch>
        </p:blipFill>
        <p:spPr>
          <a:xfrm>
            <a:off x="6355080" y="3044952"/>
            <a:ext cx="310896" cy="310896"/>
          </a:xfrm>
          <a:prstGeom prst="rect">
            <a:avLst/>
          </a:prstGeom>
        </p:spPr>
      </p:pic>
      <p:sp>
        <p:nvSpPr>
          <p:cNvPr id="20" name="Text 11"/>
          <p:cNvSpPr txBox="1"/>
          <p:nvPr/>
        </p:nvSpPr>
        <p:spPr>
          <a:xfrm>
            <a:off x="6812280" y="2926080"/>
            <a:ext cx="4663440" cy="548640"/>
          </a:xfrm>
          <a:prstGeom prst="rect">
            <a:avLst/>
          </a:prstGeom>
          <a:noFill/>
          <a:ln/>
        </p:spPr>
        <p:txBody>
          <a:bodyPr wrap="square" lIns="0" tIns="0" rIns="0" bIns="0" rtlCol="0" anchor="ctr"/>
          <a:lstStyle/>
          <a:p>
            <a:pPr indent="0" marL="0">
              <a:buNone/>
            </a:pPr>
            <a:r>
              <a:rPr lang="en-US" sz="1400" b="1" dirty="0">
                <a:solidFill>
                  <a:schemeClr val="tx1"/>
                </a:solidFill>
              </a:rPr>
              <a:t>Certify skills; track behaviour in Salesforce and Gong</a:t>
            </a:r>
            <a:endParaRPr lang="en-US" sz="1400" dirty="0"/>
          </a:p>
        </p:txBody>
      </p:sp>
      <p:sp>
        <p:nvSpPr>
          <p:cNvPr id="21" name="pitfall row 4"/>
          <p:cNvSpPr/>
          <p:nvPr/>
        </p:nvSpPr>
        <p:spPr>
          <a:xfrm>
            <a:off x="548640" y="3566160"/>
            <a:ext cx="11064240" cy="548640"/>
          </a:xfrm>
          <a:prstGeom prst="roundRect">
            <a:avLst>
              <a:gd name="adj" fmla="val 13333"/>
            </a:avLst>
          </a:prstGeom>
          <a:solidFill>
            <a:schemeClr val="bg1"/>
          </a:solidFill>
          <a:ln w="12700">
            <a:solidFill>
              <a:schemeClr val="bg1"/>
            </a:solidFill>
            <a:prstDash val="solid"/>
          </a:ln>
        </p:spPr>
      </p:sp>
      <p:pic>
        <p:nvPicPr>
          <p:cNvPr id="22" name="pitfall icon 4" descr="pitfall">    </p:cNvPr>
          <p:cNvPicPr>
            <a:picLocks noChangeAspect="1"/>
          </p:cNvPicPr>
          <p:nvPr/>
        </p:nvPicPr>
        <p:blipFill>
          <a:blip r:embed="rId7"/>
          <a:stretch>
            <a:fillRect/>
          </a:stretch>
        </p:blipFill>
        <p:spPr>
          <a:xfrm>
            <a:off x="731520" y="3685032"/>
            <a:ext cx="310896" cy="310896"/>
          </a:xfrm>
          <a:prstGeom prst="rect">
            <a:avLst/>
          </a:prstGeom>
        </p:spPr>
      </p:pic>
      <p:sp>
        <p:nvSpPr>
          <p:cNvPr id="23" name="Text 13"/>
          <p:cNvSpPr txBox="1"/>
          <p:nvPr/>
        </p:nvSpPr>
        <p:spPr>
          <a:xfrm>
            <a:off x="1188720" y="3566160"/>
            <a:ext cx="5029200" cy="548640"/>
          </a:xfrm>
          <a:prstGeom prst="rect">
            <a:avLst/>
          </a:prstGeom>
          <a:noFill/>
          <a:ln/>
        </p:spPr>
        <p:txBody>
          <a:bodyPr wrap="square" lIns="0" tIns="0" rIns="0" bIns="0" rtlCol="0" anchor="ctr"/>
          <a:lstStyle/>
          <a:p>
            <a:pPr indent="0" marL="0">
              <a:buNone/>
            </a:pPr>
            <a:r>
              <a:rPr lang="en-US" sz="1400" dirty="0">
                <a:solidFill>
                  <a:schemeClr val="tx1"/>
                </a:solidFill>
              </a:rPr>
              <a:t>Manager steps in at day 90</a:t>
            </a:r>
            <a:endParaRPr lang="en-US" sz="1400" dirty="0"/>
          </a:p>
        </p:txBody>
      </p:sp>
      <p:pic>
        <p:nvPicPr>
          <p:cNvPr id="24" name="instead icon 4" descr="instead">    </p:cNvPr>
          <p:cNvPicPr>
            <a:picLocks noChangeAspect="1"/>
          </p:cNvPicPr>
          <p:nvPr/>
        </p:nvPicPr>
        <p:blipFill>
          <a:blip r:embed="rId8"/>
          <a:stretch>
            <a:fillRect/>
          </a:stretch>
        </p:blipFill>
        <p:spPr>
          <a:xfrm>
            <a:off x="6355080" y="3685032"/>
            <a:ext cx="310896" cy="310896"/>
          </a:xfrm>
          <a:prstGeom prst="rect">
            <a:avLst/>
          </a:prstGeom>
        </p:spPr>
      </p:pic>
      <p:sp>
        <p:nvSpPr>
          <p:cNvPr id="25" name="Text 14"/>
          <p:cNvSpPr txBox="1"/>
          <p:nvPr/>
        </p:nvSpPr>
        <p:spPr>
          <a:xfrm>
            <a:off x="6812280" y="3566160"/>
            <a:ext cx="4663440" cy="548640"/>
          </a:xfrm>
          <a:prstGeom prst="rect">
            <a:avLst/>
          </a:prstGeom>
          <a:noFill/>
          <a:ln/>
        </p:spPr>
        <p:txBody>
          <a:bodyPr wrap="square" lIns="0" tIns="0" rIns="0" bIns="0" rtlCol="0" anchor="ctr"/>
          <a:lstStyle/>
          <a:p>
            <a:pPr indent="0" marL="0">
              <a:buNone/>
            </a:pPr>
            <a:r>
              <a:rPr lang="en-US" sz="1400" b="1" dirty="0">
                <a:solidFill>
                  <a:schemeClr val="tx1"/>
                </a:solidFill>
              </a:rPr>
              <a:t>Manager owns the plan and a weekly ramp 1:1</a:t>
            </a:r>
            <a:endParaRPr lang="en-US" sz="1400" dirty="0"/>
          </a:p>
        </p:txBody>
      </p:sp>
      <p:sp>
        <p:nvSpPr>
          <p:cNvPr id="26" name="pitfall row 5"/>
          <p:cNvSpPr/>
          <p:nvPr/>
        </p:nvSpPr>
        <p:spPr>
          <a:xfrm>
            <a:off x="548640" y="4206240"/>
            <a:ext cx="11064240" cy="548640"/>
          </a:xfrm>
          <a:prstGeom prst="roundRect">
            <a:avLst>
              <a:gd name="adj" fmla="val 13333"/>
            </a:avLst>
          </a:prstGeom>
          <a:solidFill>
            <a:schemeClr val="bg2"/>
          </a:solidFill>
          <a:ln w="12700">
            <a:solidFill>
              <a:schemeClr val="bg2"/>
            </a:solidFill>
            <a:prstDash val="solid"/>
          </a:ln>
        </p:spPr>
      </p:sp>
      <p:pic>
        <p:nvPicPr>
          <p:cNvPr id="27" name="pitfall icon 5" descr="pitfall">    </p:cNvPr>
          <p:cNvPicPr>
            <a:picLocks noChangeAspect="1"/>
          </p:cNvPicPr>
          <p:nvPr/>
        </p:nvPicPr>
        <p:blipFill>
          <a:blip r:embed="rId9"/>
          <a:stretch>
            <a:fillRect/>
          </a:stretch>
        </p:blipFill>
        <p:spPr>
          <a:xfrm>
            <a:off x="731520" y="4325112"/>
            <a:ext cx="310896" cy="310896"/>
          </a:xfrm>
          <a:prstGeom prst="rect">
            <a:avLst/>
          </a:prstGeom>
        </p:spPr>
      </p:pic>
      <p:sp>
        <p:nvSpPr>
          <p:cNvPr id="28" name="Text 16"/>
          <p:cNvSpPr txBox="1"/>
          <p:nvPr/>
        </p:nvSpPr>
        <p:spPr>
          <a:xfrm>
            <a:off x="1188720" y="4206240"/>
            <a:ext cx="5029200" cy="548640"/>
          </a:xfrm>
          <a:prstGeom prst="rect">
            <a:avLst/>
          </a:prstGeom>
          <a:noFill/>
          <a:ln/>
        </p:spPr>
        <p:txBody>
          <a:bodyPr wrap="square" lIns="0" tIns="0" rIns="0" bIns="0" rtlCol="0" anchor="ctr"/>
          <a:lstStyle/>
          <a:p>
            <a:pPr indent="0" marL="0">
              <a:buNone/>
            </a:pPr>
            <a:r>
              <a:rPr lang="en-US" sz="1400" dirty="0">
                <a:solidFill>
                  <a:schemeClr val="tx1"/>
                </a:solidFill>
              </a:rPr>
              <a:t>Ramp ends at day 90</a:t>
            </a:r>
            <a:endParaRPr lang="en-US" sz="1400" dirty="0"/>
          </a:p>
        </p:txBody>
      </p:sp>
      <p:pic>
        <p:nvPicPr>
          <p:cNvPr id="29" name="instead icon 5" descr="instead">    </p:cNvPr>
          <p:cNvPicPr>
            <a:picLocks noChangeAspect="1"/>
          </p:cNvPicPr>
          <p:nvPr/>
        </p:nvPicPr>
        <p:blipFill>
          <a:blip r:embed="rId10"/>
          <a:stretch>
            <a:fillRect/>
          </a:stretch>
        </p:blipFill>
        <p:spPr>
          <a:xfrm>
            <a:off x="6355080" y="4325112"/>
            <a:ext cx="310896" cy="310896"/>
          </a:xfrm>
          <a:prstGeom prst="rect">
            <a:avLst/>
          </a:prstGeom>
        </p:spPr>
      </p:pic>
      <p:sp>
        <p:nvSpPr>
          <p:cNvPr id="30" name="Text 17"/>
          <p:cNvSpPr txBox="1"/>
          <p:nvPr/>
        </p:nvSpPr>
        <p:spPr>
          <a:xfrm>
            <a:off x="6812280" y="4206240"/>
            <a:ext cx="4663440" cy="548640"/>
          </a:xfrm>
          <a:prstGeom prst="rect">
            <a:avLst/>
          </a:prstGeom>
          <a:noFill/>
          <a:ln/>
        </p:spPr>
        <p:txBody>
          <a:bodyPr wrap="square" lIns="0" tIns="0" rIns="0" bIns="0" rtlCol="0" anchor="ctr"/>
          <a:lstStyle/>
          <a:p>
            <a:pPr indent="0" marL="0">
              <a:buNone/>
            </a:pPr>
            <a:r>
              <a:rPr lang="en-US" sz="1400" b="1" dirty="0">
                <a:solidFill>
                  <a:schemeClr val="tx1"/>
                </a:solidFill>
              </a:rPr>
              <a:t>Straight into everboarding and recertification</a:t>
            </a:r>
            <a:endParaRPr lang="en-US" sz="1400" dirty="0"/>
          </a:p>
        </p:txBody>
      </p:sp>
      <p:sp>
        <p:nvSpPr>
          <p:cNvPr id="31" name="pitfall row 6"/>
          <p:cNvSpPr/>
          <p:nvPr/>
        </p:nvSpPr>
        <p:spPr>
          <a:xfrm>
            <a:off x="548640" y="4846320"/>
            <a:ext cx="11064240" cy="548640"/>
          </a:xfrm>
          <a:prstGeom prst="roundRect">
            <a:avLst>
              <a:gd name="adj" fmla="val 13333"/>
            </a:avLst>
          </a:prstGeom>
          <a:solidFill>
            <a:schemeClr val="bg1"/>
          </a:solidFill>
          <a:ln w="12700">
            <a:solidFill>
              <a:schemeClr val="bg1"/>
            </a:solidFill>
            <a:prstDash val="solid"/>
          </a:ln>
        </p:spPr>
      </p:sp>
      <p:pic>
        <p:nvPicPr>
          <p:cNvPr id="32" name="pitfall icon 6" descr="pitfall">    </p:cNvPr>
          <p:cNvPicPr>
            <a:picLocks noChangeAspect="1"/>
          </p:cNvPicPr>
          <p:nvPr/>
        </p:nvPicPr>
        <p:blipFill>
          <a:blip r:embed="rId11"/>
          <a:stretch>
            <a:fillRect/>
          </a:stretch>
        </p:blipFill>
        <p:spPr>
          <a:xfrm>
            <a:off x="731520" y="4965192"/>
            <a:ext cx="310896" cy="310896"/>
          </a:xfrm>
          <a:prstGeom prst="rect">
            <a:avLst/>
          </a:prstGeom>
        </p:spPr>
      </p:pic>
      <p:sp>
        <p:nvSpPr>
          <p:cNvPr id="33" name="Text 19"/>
          <p:cNvSpPr txBox="1"/>
          <p:nvPr/>
        </p:nvSpPr>
        <p:spPr>
          <a:xfrm>
            <a:off x="1188720" y="4846320"/>
            <a:ext cx="5029200" cy="548640"/>
          </a:xfrm>
          <a:prstGeom prst="rect">
            <a:avLst/>
          </a:prstGeom>
          <a:noFill/>
          <a:ln/>
        </p:spPr>
        <p:txBody>
          <a:bodyPr wrap="square" lIns="0" tIns="0" rIns="0" bIns="0" rtlCol="0" anchor="ctr"/>
          <a:lstStyle/>
          <a:p>
            <a:pPr indent="0" marL="0">
              <a:buNone/>
            </a:pPr>
            <a:r>
              <a:rPr lang="en-US" sz="1400" dirty="0">
                <a:solidFill>
                  <a:schemeClr val="tx1"/>
                </a:solidFill>
              </a:rPr>
              <a:t>Reps kept off live calls until "ready"</a:t>
            </a:r>
            <a:endParaRPr lang="en-US" sz="1400" dirty="0"/>
          </a:p>
        </p:txBody>
      </p:sp>
      <p:pic>
        <p:nvPicPr>
          <p:cNvPr id="34" name="instead icon 6" descr="instead">    </p:cNvPr>
          <p:cNvPicPr>
            <a:picLocks noChangeAspect="1"/>
          </p:cNvPicPr>
          <p:nvPr/>
        </p:nvPicPr>
        <p:blipFill>
          <a:blip r:embed="rId12"/>
          <a:stretch>
            <a:fillRect/>
          </a:stretch>
        </p:blipFill>
        <p:spPr>
          <a:xfrm>
            <a:off x="6355080" y="4965192"/>
            <a:ext cx="310896" cy="310896"/>
          </a:xfrm>
          <a:prstGeom prst="rect">
            <a:avLst/>
          </a:prstGeom>
        </p:spPr>
      </p:pic>
      <p:sp>
        <p:nvSpPr>
          <p:cNvPr id="35" name="Text 20"/>
          <p:cNvSpPr txBox="1"/>
          <p:nvPr/>
        </p:nvSpPr>
        <p:spPr>
          <a:xfrm>
            <a:off x="6812280" y="4846320"/>
            <a:ext cx="4663440" cy="548640"/>
          </a:xfrm>
          <a:prstGeom prst="rect">
            <a:avLst/>
          </a:prstGeom>
          <a:noFill/>
          <a:ln/>
        </p:spPr>
        <p:txBody>
          <a:bodyPr wrap="square" lIns="0" tIns="0" rIns="0" bIns="0" rtlCol="0" anchor="ctr"/>
          <a:lstStyle/>
          <a:p>
            <a:pPr indent="0" marL="0">
              <a:buNone/>
            </a:pPr>
            <a:r>
              <a:rPr lang="en-US" sz="1400" b="1" dirty="0">
                <a:solidFill>
                  <a:schemeClr val="tx1"/>
                </a:solidFill>
              </a:rPr>
              <a:t>Shadow → co-lead → lead from week 2</a:t>
            </a:r>
            <a:endParaRPr lang="en-US" sz="1400" dirty="0"/>
          </a:p>
        </p:txBody>
      </p:sp>
      <p:sp>
        <p:nvSpPr>
          <p:cNvPr id="36" name="pitfall row 7"/>
          <p:cNvSpPr/>
          <p:nvPr/>
        </p:nvSpPr>
        <p:spPr>
          <a:xfrm>
            <a:off x="548640" y="5486400"/>
            <a:ext cx="11064240" cy="548640"/>
          </a:xfrm>
          <a:prstGeom prst="roundRect">
            <a:avLst>
              <a:gd name="adj" fmla="val 13333"/>
            </a:avLst>
          </a:prstGeom>
          <a:solidFill>
            <a:schemeClr val="bg2"/>
          </a:solidFill>
          <a:ln w="12700">
            <a:solidFill>
              <a:schemeClr val="bg2"/>
            </a:solidFill>
            <a:prstDash val="solid"/>
          </a:ln>
        </p:spPr>
      </p:sp>
      <p:pic>
        <p:nvPicPr>
          <p:cNvPr id="37" name="pitfall icon 7" descr="pitfall">    </p:cNvPr>
          <p:cNvPicPr>
            <a:picLocks noChangeAspect="1"/>
          </p:cNvPicPr>
          <p:nvPr/>
        </p:nvPicPr>
        <p:blipFill>
          <a:blip r:embed="rId13"/>
          <a:stretch>
            <a:fillRect/>
          </a:stretch>
        </p:blipFill>
        <p:spPr>
          <a:xfrm>
            <a:off x="731520" y="5605272"/>
            <a:ext cx="310896" cy="310896"/>
          </a:xfrm>
          <a:prstGeom prst="rect">
            <a:avLst/>
          </a:prstGeom>
        </p:spPr>
      </p:pic>
      <p:sp>
        <p:nvSpPr>
          <p:cNvPr id="38" name="Text 22"/>
          <p:cNvSpPr txBox="1"/>
          <p:nvPr/>
        </p:nvSpPr>
        <p:spPr>
          <a:xfrm>
            <a:off x="1188720" y="5486400"/>
            <a:ext cx="5029200" cy="548640"/>
          </a:xfrm>
          <a:prstGeom prst="rect">
            <a:avLst/>
          </a:prstGeom>
          <a:noFill/>
          <a:ln/>
        </p:spPr>
        <p:txBody>
          <a:bodyPr wrap="square" lIns="0" tIns="0" rIns="0" bIns="0" rtlCol="0" anchor="ctr"/>
          <a:lstStyle/>
          <a:p>
            <a:pPr indent="0" marL="0">
              <a:buNone/>
            </a:pPr>
            <a:r>
              <a:rPr lang="en-US" sz="1400" dirty="0">
                <a:solidFill>
                  <a:schemeClr val="tx1"/>
                </a:solidFill>
              </a:rPr>
              <a:t>No baseline</a:t>
            </a:r>
            <a:endParaRPr lang="en-US" sz="1400" dirty="0"/>
          </a:p>
        </p:txBody>
      </p:sp>
      <p:pic>
        <p:nvPicPr>
          <p:cNvPr id="39" name="instead icon 7" descr="instead">    </p:cNvPr>
          <p:cNvPicPr>
            <a:picLocks noChangeAspect="1"/>
          </p:cNvPicPr>
          <p:nvPr/>
        </p:nvPicPr>
        <p:blipFill>
          <a:blip r:embed="rId14"/>
          <a:stretch>
            <a:fillRect/>
          </a:stretch>
        </p:blipFill>
        <p:spPr>
          <a:xfrm>
            <a:off x="6355080" y="5605272"/>
            <a:ext cx="310896" cy="310896"/>
          </a:xfrm>
          <a:prstGeom prst="rect">
            <a:avLst/>
          </a:prstGeom>
        </p:spPr>
      </p:pic>
      <p:sp>
        <p:nvSpPr>
          <p:cNvPr id="40" name="Text 23"/>
          <p:cNvSpPr txBox="1"/>
          <p:nvPr/>
        </p:nvSpPr>
        <p:spPr>
          <a:xfrm>
            <a:off x="6812280" y="5486400"/>
            <a:ext cx="4663440" cy="548640"/>
          </a:xfrm>
          <a:prstGeom prst="rect">
            <a:avLst/>
          </a:prstGeom>
          <a:noFill/>
          <a:ln/>
        </p:spPr>
        <p:txBody>
          <a:bodyPr wrap="square" lIns="0" tIns="0" rIns="0" bIns="0" rtlCol="0" anchor="ctr"/>
          <a:lstStyle/>
          <a:p>
            <a:pPr indent="0" marL="0">
              <a:buNone/>
            </a:pPr>
            <a:r>
              <a:rPr lang="en-US" sz="1400" b="1" dirty="0">
                <a:solidFill>
                  <a:schemeClr val="tx1"/>
                </a:solidFill>
              </a:rPr>
              <a:t>Pull current ramp times before the next cohort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lIns="0" tIns="0" rIns="0" bIns="0" rtlCol="0" anchor="ctr"/>
          <a:lstStyle/>
          <a:p>
            <a:pPr algn="l" indent="0" marL="0">
              <a:buNone/>
            </a:pPr>
            <a:r>
              <a:rPr lang="en-US" sz="4000" b="1" dirty="0">
                <a:solidFill>
                  <a:schemeClr val="bg1"/>
                </a:solidFill>
              </a:rPr>
              <a:t>Next steps for NORAM</a:t>
            </a:r>
            <a:endParaRPr lang="en-US" sz="4000" dirty="0"/>
          </a:p>
        </p:txBody>
      </p:sp>
      <p:sp>
        <p:nvSpPr>
          <p:cNvPr id="3" name="Text 0"/>
          <p:cNvSpPr/>
          <p:nvPr>
            <p:ph idx="101" type="body" hasCustomPrompt="1"/>
          </p:nvPr>
        </p:nvSpPr>
        <p:spPr>
          <a:xfrm>
            <a:off x="731520" y="3840480"/>
            <a:ext cx="9601200" cy="1097280"/>
          </a:xfrm>
          <a:prstGeom prst="rect">
            <a:avLst/>
          </a:prstGeom>
          <a:noFill/>
          <a:ln/>
        </p:spPr>
        <p:txBody>
          <a:bodyPr wrap="square" lIns="0" tIns="0" rIns="0" bIns="0" rtlCol="0" anchor="t"/>
          <a:lstStyle/>
          <a:p>
            <a:pPr algn="l" indent="0" marL="0">
              <a:buNone/>
            </a:pPr>
            <a:r>
              <a:rPr lang="en-US" sz="1800" dirty="0">
                <a:solidFill>
                  <a:schemeClr val="accent6"/>
                </a:solidFill>
              </a:rPr>
              <a:t>From framework to the next cohort</a:t>
            </a:r>
            <a:endParaRPr lang="en-US" sz="1800" dirty="0"/>
          </a:p>
        </p:txBody>
      </p:sp>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Six steps to the next cohort</a:t>
            </a:r>
            <a:endParaRPr lang="en-US" sz="3200" dirty="0"/>
          </a:p>
        </p:txBody>
      </p:sp>
      <p:sp>
        <p:nvSpPr>
          <p:cNvPr id="4" name="step 1"/>
          <p:cNvSpPr/>
          <p:nvPr/>
        </p:nvSpPr>
        <p:spPr>
          <a:xfrm>
            <a:off x="548640" y="1463040"/>
            <a:ext cx="3566160" cy="2148840"/>
          </a:xfrm>
          <a:prstGeom prst="roundRect">
            <a:avLst>
              <a:gd name="adj" fmla="val 3404"/>
            </a:avLst>
          </a:prstGeom>
          <a:solidFill>
            <a:schemeClr val="bg2"/>
          </a:solidFill>
          <a:ln w="12700">
            <a:solidFill>
              <a:schemeClr val="bg2"/>
            </a:solidFill>
            <a:prstDash val="solid"/>
          </a:ln>
        </p:spPr>
      </p:sp>
      <p:sp>
        <p:nvSpPr>
          <p:cNvPr id="5" name="number 1"/>
          <p:cNvSpPr txBox="1"/>
          <p:nvPr/>
        </p:nvSpPr>
        <p:spPr>
          <a:xfrm>
            <a:off x="822960" y="173736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6" name="Text 3"/>
          <p:cNvSpPr txBox="1"/>
          <p:nvPr/>
        </p:nvSpPr>
        <p:spPr>
          <a:xfrm>
            <a:off x="1508760" y="173736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Baseline</a:t>
            </a:r>
            <a:endParaRPr lang="en-US" sz="1800" dirty="0"/>
          </a:p>
        </p:txBody>
      </p:sp>
      <p:sp>
        <p:nvSpPr>
          <p:cNvPr id="7" name="Text 4"/>
          <p:cNvSpPr txBox="1"/>
          <p:nvPr/>
        </p:nvSpPr>
        <p:spPr>
          <a:xfrm>
            <a:off x="822960" y="2423160"/>
            <a:ext cx="3017520" cy="1051560"/>
          </a:xfrm>
          <a:prstGeom prst="rect">
            <a:avLst/>
          </a:prstGeom>
          <a:noFill/>
          <a:ln/>
        </p:spPr>
        <p:txBody>
          <a:bodyPr wrap="square" lIns="0" tIns="0" rIns="0" bIns="0" rtlCol="0" anchor="t"/>
          <a:lstStyle/>
          <a:p>
            <a:pPr indent="0" marL="0">
              <a:buNone/>
            </a:pPr>
            <a:r>
              <a:rPr lang="en-US" sz="1600" dirty="0">
                <a:solidFill>
                  <a:schemeClr val="accent3"/>
                </a:solidFill>
              </a:rPr>
              <a:t>Pull time to first meeting, opp and deal by role from Salesforce (last 4–6 cohorts)</a:t>
            </a:r>
            <a:endParaRPr lang="en-US" sz="1600" dirty="0"/>
          </a:p>
        </p:txBody>
      </p:sp>
      <p:sp>
        <p:nvSpPr>
          <p:cNvPr id="8" name="step 2"/>
          <p:cNvSpPr/>
          <p:nvPr/>
        </p:nvSpPr>
        <p:spPr>
          <a:xfrm>
            <a:off x="4297680" y="1463040"/>
            <a:ext cx="3566160" cy="2148840"/>
          </a:xfrm>
          <a:prstGeom prst="roundRect">
            <a:avLst>
              <a:gd name="adj" fmla="val 3404"/>
            </a:avLst>
          </a:prstGeom>
          <a:solidFill>
            <a:schemeClr val="bg2"/>
          </a:solidFill>
          <a:ln w="12700">
            <a:solidFill>
              <a:schemeClr val="bg2"/>
            </a:solidFill>
            <a:prstDash val="solid"/>
          </a:ln>
        </p:spPr>
      </p:sp>
      <p:sp>
        <p:nvSpPr>
          <p:cNvPr id="9" name="number 2"/>
          <p:cNvSpPr txBox="1"/>
          <p:nvPr/>
        </p:nvSpPr>
        <p:spPr>
          <a:xfrm>
            <a:off x="4572000" y="17373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5257800" y="173736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Validate 30/60/90</a:t>
            </a:r>
            <a:endParaRPr lang="en-US" sz="1800" dirty="0"/>
          </a:p>
        </p:txBody>
      </p:sp>
      <p:sp>
        <p:nvSpPr>
          <p:cNvPr id="11" name="Text 8"/>
          <p:cNvSpPr txBox="1"/>
          <p:nvPr/>
        </p:nvSpPr>
        <p:spPr>
          <a:xfrm>
            <a:off x="4572000" y="2423160"/>
            <a:ext cx="3017520" cy="1051560"/>
          </a:xfrm>
          <a:prstGeom prst="rect">
            <a:avLst/>
          </a:prstGeom>
          <a:noFill/>
          <a:ln/>
        </p:spPr>
        <p:txBody>
          <a:bodyPr wrap="square" lIns="0" tIns="0" rIns="0" bIns="0" rtlCol="0" anchor="t"/>
          <a:lstStyle/>
          <a:p>
            <a:pPr indent="0" marL="0">
              <a:buNone/>
            </a:pPr>
            <a:r>
              <a:rPr lang="en-US" sz="1600" dirty="0">
                <a:solidFill>
                  <a:schemeClr val="accent3"/>
                </a:solidFill>
              </a:rPr>
              <a:t>Agree gates and targets with each NORAM commercial leader</a:t>
            </a:r>
            <a:endParaRPr lang="en-US" sz="1600" dirty="0"/>
          </a:p>
        </p:txBody>
      </p:sp>
      <p:sp>
        <p:nvSpPr>
          <p:cNvPr id="12" name="step 3"/>
          <p:cNvSpPr/>
          <p:nvPr/>
        </p:nvSpPr>
        <p:spPr>
          <a:xfrm>
            <a:off x="8046720" y="1463040"/>
            <a:ext cx="3566160" cy="2148840"/>
          </a:xfrm>
          <a:prstGeom prst="roundRect">
            <a:avLst>
              <a:gd name="adj" fmla="val 3404"/>
            </a:avLst>
          </a:prstGeom>
          <a:solidFill>
            <a:schemeClr val="bg2"/>
          </a:solidFill>
          <a:ln w="12700">
            <a:solidFill>
              <a:schemeClr val="bg2"/>
            </a:solidFill>
            <a:prstDash val="solid"/>
          </a:ln>
        </p:spPr>
      </p:sp>
      <p:sp>
        <p:nvSpPr>
          <p:cNvPr id="13" name="number 3"/>
          <p:cNvSpPr txBox="1"/>
          <p:nvPr/>
        </p:nvSpPr>
        <p:spPr>
          <a:xfrm>
            <a:off x="8321040" y="17373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9006840" y="173736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Manager ramp kits</a:t>
            </a:r>
            <a:endParaRPr lang="en-US" sz="1800" dirty="0"/>
          </a:p>
        </p:txBody>
      </p:sp>
      <p:sp>
        <p:nvSpPr>
          <p:cNvPr id="15" name="Text 12"/>
          <p:cNvSpPr txBox="1"/>
          <p:nvPr/>
        </p:nvSpPr>
        <p:spPr>
          <a:xfrm>
            <a:off x="8321040" y="2423160"/>
            <a:ext cx="3017520" cy="1051560"/>
          </a:xfrm>
          <a:prstGeom prst="rect">
            <a:avLst/>
          </a:prstGeom>
          <a:noFill/>
          <a:ln/>
        </p:spPr>
        <p:txBody>
          <a:bodyPr wrap="square" lIns="0" tIns="0" rIns="0" bIns="0" rtlCol="0" anchor="t"/>
          <a:lstStyle/>
          <a:p>
            <a:pPr indent="0" marL="0">
              <a:buNone/>
            </a:pPr>
            <a:r>
              <a:rPr lang="en-US" sz="1600" dirty="0">
                <a:solidFill>
                  <a:schemeClr val="accent3"/>
                </a:solidFill>
              </a:rPr>
              <a:t>Weekly 1:1 agenda, call-observation scorecards, gate sign-off forms</a:t>
            </a:r>
            <a:endParaRPr lang="en-US" sz="1600" dirty="0"/>
          </a:p>
        </p:txBody>
      </p:sp>
      <p:sp>
        <p:nvSpPr>
          <p:cNvPr id="16" name="step 4"/>
          <p:cNvSpPr/>
          <p:nvPr/>
        </p:nvSpPr>
        <p:spPr>
          <a:xfrm>
            <a:off x="548640" y="3794760"/>
            <a:ext cx="3566160" cy="2148840"/>
          </a:xfrm>
          <a:prstGeom prst="roundRect">
            <a:avLst>
              <a:gd name="adj" fmla="val 3404"/>
            </a:avLst>
          </a:prstGeom>
          <a:solidFill>
            <a:schemeClr val="bg2"/>
          </a:solidFill>
          <a:ln w="12700">
            <a:solidFill>
              <a:schemeClr val="bg2"/>
            </a:solidFill>
            <a:prstDash val="solid"/>
          </a:ln>
        </p:spPr>
      </p:sp>
      <p:sp>
        <p:nvSpPr>
          <p:cNvPr id="17" name="number 4"/>
          <p:cNvSpPr txBox="1"/>
          <p:nvPr/>
        </p:nvSpPr>
        <p:spPr>
          <a:xfrm>
            <a:off x="822960" y="4069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5"/>
          <p:cNvSpPr txBox="1"/>
          <p:nvPr/>
        </p:nvSpPr>
        <p:spPr>
          <a:xfrm>
            <a:off x="1508760" y="406908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Certifications</a:t>
            </a:r>
            <a:endParaRPr lang="en-US" sz="1800" dirty="0"/>
          </a:p>
        </p:txBody>
      </p:sp>
      <p:sp>
        <p:nvSpPr>
          <p:cNvPr id="19" name="Text 16"/>
          <p:cNvSpPr txBox="1"/>
          <p:nvPr/>
        </p:nvSpPr>
        <p:spPr>
          <a:xfrm>
            <a:off x="822960" y="4754880"/>
            <a:ext cx="3017520" cy="1051560"/>
          </a:xfrm>
          <a:prstGeom prst="rect">
            <a:avLst/>
          </a:prstGeom>
          <a:noFill/>
          <a:ln/>
        </p:spPr>
        <p:txBody>
          <a:bodyPr wrap="square" lIns="0" tIns="0" rIns="0" bIns="0" rtlCol="0" anchor="t"/>
          <a:lstStyle/>
          <a:p>
            <a:pPr indent="0" marL="0">
              <a:buNone/>
            </a:pPr>
            <a:r>
              <a:rPr lang="en-US" sz="1600" dirty="0">
                <a:solidFill>
                  <a:schemeClr val="accent3"/>
                </a:solidFill>
              </a:rPr>
              <a:t>Pitch, DEPTH discovery and Payments Academy quiz, with rubrics aligned to Global</a:t>
            </a:r>
            <a:endParaRPr lang="en-US" sz="1600" dirty="0"/>
          </a:p>
        </p:txBody>
      </p:sp>
      <p:sp>
        <p:nvSpPr>
          <p:cNvPr id="20" name="step 5"/>
          <p:cNvSpPr/>
          <p:nvPr/>
        </p:nvSpPr>
        <p:spPr>
          <a:xfrm>
            <a:off x="4297680" y="3794760"/>
            <a:ext cx="3566160" cy="2148840"/>
          </a:xfrm>
          <a:prstGeom prst="roundRect">
            <a:avLst>
              <a:gd name="adj" fmla="val 3404"/>
            </a:avLst>
          </a:prstGeom>
          <a:solidFill>
            <a:schemeClr val="bg2"/>
          </a:solidFill>
          <a:ln w="12700">
            <a:solidFill>
              <a:schemeClr val="bg2"/>
            </a:solidFill>
            <a:prstDash val="solid"/>
          </a:ln>
        </p:spPr>
      </p:sp>
      <p:sp>
        <p:nvSpPr>
          <p:cNvPr id="21" name="number 5"/>
          <p:cNvSpPr txBox="1"/>
          <p:nvPr/>
        </p:nvSpPr>
        <p:spPr>
          <a:xfrm>
            <a:off x="4572000" y="4069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19"/>
          <p:cNvSpPr txBox="1"/>
          <p:nvPr/>
        </p:nvSpPr>
        <p:spPr>
          <a:xfrm>
            <a:off x="5257800" y="406908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Reinforcement</a:t>
            </a:r>
            <a:endParaRPr lang="en-US" sz="1800" dirty="0"/>
          </a:p>
        </p:txBody>
      </p:sp>
      <p:sp>
        <p:nvSpPr>
          <p:cNvPr id="23" name="Text 20"/>
          <p:cNvSpPr txBox="1"/>
          <p:nvPr/>
        </p:nvSpPr>
        <p:spPr>
          <a:xfrm>
            <a:off x="4572000" y="4754880"/>
            <a:ext cx="3017520" cy="1051560"/>
          </a:xfrm>
          <a:prstGeom prst="rect">
            <a:avLst/>
          </a:prstGeom>
          <a:noFill/>
          <a:ln/>
        </p:spPr>
        <p:txBody>
          <a:bodyPr wrap="square" lIns="0" tIns="0" rIns="0" bIns="0" rtlCol="0" anchor="t"/>
          <a:lstStyle/>
          <a:p>
            <a:pPr indent="0" marL="0">
              <a:buNone/>
            </a:pPr>
            <a:r>
              <a:rPr lang="en-US" sz="1600" dirty="0">
                <a:solidFill>
                  <a:schemeClr val="accent3"/>
                </a:solidFill>
              </a:rPr>
              <a:t>Automated spaced quizzes and nudges in Slack and the LMS at day 2, 7, 21 and 45</a:t>
            </a:r>
            <a:endParaRPr lang="en-US" sz="1600" dirty="0"/>
          </a:p>
        </p:txBody>
      </p:sp>
      <p:sp>
        <p:nvSpPr>
          <p:cNvPr id="24" name="step 6"/>
          <p:cNvSpPr/>
          <p:nvPr/>
        </p:nvSpPr>
        <p:spPr>
          <a:xfrm>
            <a:off x="8046720" y="3794760"/>
            <a:ext cx="3566160" cy="2148840"/>
          </a:xfrm>
          <a:prstGeom prst="roundRect">
            <a:avLst>
              <a:gd name="adj" fmla="val 3404"/>
            </a:avLst>
          </a:prstGeom>
          <a:solidFill>
            <a:schemeClr val="bg2"/>
          </a:solidFill>
          <a:ln w="12700">
            <a:solidFill>
              <a:schemeClr val="bg2"/>
            </a:solidFill>
            <a:prstDash val="solid"/>
          </a:ln>
        </p:spPr>
      </p:sp>
      <p:sp>
        <p:nvSpPr>
          <p:cNvPr id="25" name="number 6"/>
          <p:cNvSpPr txBox="1"/>
          <p:nvPr/>
        </p:nvSpPr>
        <p:spPr>
          <a:xfrm>
            <a:off x="8321040" y="4069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Text 23"/>
          <p:cNvSpPr txBox="1"/>
          <p:nvPr/>
        </p:nvSpPr>
        <p:spPr>
          <a:xfrm>
            <a:off x="9006840" y="406908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Pilot and iterate</a:t>
            </a:r>
            <a:endParaRPr lang="en-US" sz="1800" dirty="0"/>
          </a:p>
        </p:txBody>
      </p:sp>
      <p:sp>
        <p:nvSpPr>
          <p:cNvPr id="27" name="Text 24"/>
          <p:cNvSpPr txBox="1"/>
          <p:nvPr/>
        </p:nvSpPr>
        <p:spPr>
          <a:xfrm>
            <a:off x="8321040" y="4754880"/>
            <a:ext cx="3017520" cy="1051560"/>
          </a:xfrm>
          <a:prstGeom prst="rect">
            <a:avLst/>
          </a:prstGeom>
          <a:noFill/>
          <a:ln/>
        </p:spPr>
        <p:txBody>
          <a:bodyPr wrap="square" lIns="0" tIns="0" rIns="0" bIns="0" rtlCol="0" anchor="t"/>
          <a:lstStyle/>
          <a:p>
            <a:pPr indent="0" marL="0">
              <a:buNone/>
            </a:pPr>
            <a:r>
              <a:rPr lang="en-US" sz="1600" dirty="0">
                <a:solidFill>
                  <a:schemeClr val="accent3"/>
                </a:solidFill>
              </a:rPr>
              <a:t>Run with the next cohort, then a 90-day retro</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Further reading</a:t>
            </a:r>
            <a:endParaRPr lang="en-US" sz="3200" dirty="0"/>
          </a:p>
        </p:txBody>
      </p:sp>
      <p:pic>
        <p:nvPicPr>
          <p:cNvPr id="4" name="book icon 1" descr="book">    </p:cNvPr>
          <p:cNvPicPr>
            <a:picLocks noChangeAspect="1"/>
          </p:cNvPicPr>
          <p:nvPr/>
        </p:nvPicPr>
        <p:blipFill>
          <a:blip r:embed="rId1"/>
          <a:stretch>
            <a:fillRect/>
          </a:stretch>
        </p:blipFill>
        <p:spPr>
          <a:xfrm>
            <a:off x="548640" y="1572768"/>
            <a:ext cx="411480" cy="411480"/>
          </a:xfrm>
          <a:prstGeom prst="rect">
            <a:avLst/>
          </a:prstGeom>
        </p:spPr>
      </p:pic>
      <p:sp>
        <p:nvSpPr>
          <p:cNvPr id="5" name="Text 1"/>
          <p:cNvSpPr txBox="1"/>
          <p:nvPr/>
        </p:nvSpPr>
        <p:spPr>
          <a:xfrm>
            <a:off x="1188720" y="1463040"/>
            <a:ext cx="4754880" cy="822960"/>
          </a:xfrm>
          <a:prstGeom prst="rect">
            <a:avLst/>
          </a:prstGeom>
          <a:noFill/>
          <a:ln/>
        </p:spPr>
        <p:txBody>
          <a:bodyPr wrap="square" lIns="0" tIns="0" rIns="0" bIns="0" rtlCol="0" anchor="t"/>
          <a:lstStyle/>
          <a:p>
            <a:pPr indent="0" marL="0">
              <a:buNone/>
            </a:pPr>
            <a:r>
              <a:rPr lang="en-US" sz="1600" b="1" dirty="0">
                <a:solidFill>
                  <a:schemeClr val="tx1"/>
                </a:solidFill>
              </a:rPr>
              <a:t>Knowles, M.</a:t>
            </a:r>
            <a:endParaRPr lang="en-US" sz="1600" dirty="0"/>
          </a:p>
          <a:p>
            <a:pPr indent="0" marL="0">
              <a:buNone/>
            </a:pPr>
            <a:r>
              <a:rPr lang="en-US" sz="1600" i="1" dirty="0">
                <a:solidFill>
                  <a:schemeClr val="accent3"/>
                </a:solidFill>
              </a:rPr>
              <a:t>The Adult Learner (andragogy)</a:t>
            </a:r>
            <a:endParaRPr lang="en-US" sz="1600" dirty="0"/>
          </a:p>
        </p:txBody>
      </p:sp>
      <p:pic>
        <p:nvPicPr>
          <p:cNvPr id="6" name="book icon 2" descr="book">    </p:cNvPr>
          <p:cNvPicPr>
            <a:picLocks noChangeAspect="1"/>
          </p:cNvPicPr>
          <p:nvPr/>
        </p:nvPicPr>
        <p:blipFill>
          <a:blip r:embed="rId2"/>
          <a:stretch>
            <a:fillRect/>
          </a:stretch>
        </p:blipFill>
        <p:spPr>
          <a:xfrm>
            <a:off x="548640" y="2670048"/>
            <a:ext cx="411480" cy="411480"/>
          </a:xfrm>
          <a:prstGeom prst="rect">
            <a:avLst/>
          </a:prstGeom>
        </p:spPr>
      </p:pic>
      <p:sp>
        <p:nvSpPr>
          <p:cNvPr id="7" name="Text 2"/>
          <p:cNvSpPr txBox="1"/>
          <p:nvPr/>
        </p:nvSpPr>
        <p:spPr>
          <a:xfrm>
            <a:off x="1188720" y="2560320"/>
            <a:ext cx="4754880" cy="822960"/>
          </a:xfrm>
          <a:prstGeom prst="rect">
            <a:avLst/>
          </a:prstGeom>
          <a:noFill/>
          <a:ln/>
        </p:spPr>
        <p:txBody>
          <a:bodyPr wrap="square" lIns="0" tIns="0" rIns="0" bIns="0" rtlCol="0" anchor="t"/>
          <a:lstStyle/>
          <a:p>
            <a:pPr indent="0" marL="0">
              <a:buNone/>
            </a:pPr>
            <a:r>
              <a:rPr lang="en-US" sz="1600" b="1" dirty="0">
                <a:solidFill>
                  <a:schemeClr val="tx1"/>
                </a:solidFill>
              </a:rPr>
              <a:t>Brown, Roediger &amp; McDaniel</a:t>
            </a:r>
            <a:endParaRPr lang="en-US" sz="1600" dirty="0"/>
          </a:p>
          <a:p>
            <a:pPr indent="0" marL="0">
              <a:buNone/>
            </a:pPr>
            <a:r>
              <a:rPr lang="en-US" sz="1600" i="1" dirty="0">
                <a:solidFill>
                  <a:schemeClr val="accent3"/>
                </a:solidFill>
              </a:rPr>
              <a:t>Make It Stick (retrieval, spacing, interleaving)</a:t>
            </a:r>
            <a:endParaRPr lang="en-US" sz="1600" dirty="0"/>
          </a:p>
        </p:txBody>
      </p:sp>
      <p:pic>
        <p:nvPicPr>
          <p:cNvPr id="8" name="book icon 3" descr="book">    </p:cNvPr>
          <p:cNvPicPr>
            <a:picLocks noChangeAspect="1"/>
          </p:cNvPicPr>
          <p:nvPr/>
        </p:nvPicPr>
        <p:blipFill>
          <a:blip r:embed="rId3"/>
          <a:stretch>
            <a:fillRect/>
          </a:stretch>
        </p:blipFill>
        <p:spPr>
          <a:xfrm>
            <a:off x="548640" y="3767328"/>
            <a:ext cx="411480" cy="411480"/>
          </a:xfrm>
          <a:prstGeom prst="rect">
            <a:avLst/>
          </a:prstGeom>
        </p:spPr>
      </p:pic>
      <p:sp>
        <p:nvSpPr>
          <p:cNvPr id="9" name="Text 3"/>
          <p:cNvSpPr txBox="1"/>
          <p:nvPr/>
        </p:nvSpPr>
        <p:spPr>
          <a:xfrm>
            <a:off x="1188720" y="3657600"/>
            <a:ext cx="4754880" cy="822960"/>
          </a:xfrm>
          <a:prstGeom prst="rect">
            <a:avLst/>
          </a:prstGeom>
          <a:noFill/>
          <a:ln/>
        </p:spPr>
        <p:txBody>
          <a:bodyPr wrap="square" lIns="0" tIns="0" rIns="0" bIns="0" rtlCol="0" anchor="t"/>
          <a:lstStyle/>
          <a:p>
            <a:pPr indent="0" marL="0">
              <a:buNone/>
            </a:pPr>
            <a:r>
              <a:rPr lang="en-US" sz="1600" b="1" dirty="0">
                <a:solidFill>
                  <a:schemeClr val="tx1"/>
                </a:solidFill>
              </a:rPr>
              <a:t>Ericsson, K.A.</a:t>
            </a:r>
            <a:endParaRPr lang="en-US" sz="1600" dirty="0"/>
          </a:p>
          <a:p>
            <a:pPr indent="0" marL="0">
              <a:buNone/>
            </a:pPr>
            <a:r>
              <a:rPr lang="en-US" sz="1600" i="1" dirty="0">
                <a:solidFill>
                  <a:schemeClr val="accent3"/>
                </a:solidFill>
              </a:rPr>
              <a:t>Peak (deliberate practice)</a:t>
            </a:r>
            <a:endParaRPr lang="en-US" sz="1600" dirty="0"/>
          </a:p>
        </p:txBody>
      </p:sp>
      <p:pic>
        <p:nvPicPr>
          <p:cNvPr id="10" name="book icon 4" descr="book">    </p:cNvPr>
          <p:cNvPicPr>
            <a:picLocks noChangeAspect="1"/>
          </p:cNvPicPr>
          <p:nvPr/>
        </p:nvPicPr>
        <p:blipFill>
          <a:blip r:embed="rId4"/>
          <a:stretch>
            <a:fillRect/>
          </a:stretch>
        </p:blipFill>
        <p:spPr>
          <a:xfrm>
            <a:off x="548640" y="4864608"/>
            <a:ext cx="411480" cy="411480"/>
          </a:xfrm>
          <a:prstGeom prst="rect">
            <a:avLst/>
          </a:prstGeom>
        </p:spPr>
      </p:pic>
      <p:sp>
        <p:nvSpPr>
          <p:cNvPr id="11" name="Text 4"/>
          <p:cNvSpPr txBox="1"/>
          <p:nvPr/>
        </p:nvSpPr>
        <p:spPr>
          <a:xfrm>
            <a:off x="1188720" y="4754880"/>
            <a:ext cx="4754880" cy="822960"/>
          </a:xfrm>
          <a:prstGeom prst="rect">
            <a:avLst/>
          </a:prstGeom>
          <a:noFill/>
          <a:ln/>
        </p:spPr>
        <p:txBody>
          <a:bodyPr wrap="square" lIns="0" tIns="0" rIns="0" bIns="0" rtlCol="0" anchor="t"/>
          <a:lstStyle/>
          <a:p>
            <a:pPr indent="0" marL="0">
              <a:buNone/>
            </a:pPr>
            <a:r>
              <a:rPr lang="en-US" sz="1600" b="1" dirty="0">
                <a:solidFill>
                  <a:schemeClr val="tx1"/>
                </a:solidFill>
              </a:rPr>
              <a:t>Kirkpatrick, J. &amp; W.</a:t>
            </a:r>
            <a:endParaRPr lang="en-US" sz="1600" dirty="0"/>
          </a:p>
          <a:p>
            <a:pPr indent="0" marL="0">
              <a:buNone/>
            </a:pPr>
            <a:r>
              <a:rPr lang="en-US" sz="1600" i="1" dirty="0">
                <a:solidFill>
                  <a:schemeClr val="accent3"/>
                </a:solidFill>
              </a:rPr>
              <a:t>Kirkpatrick's Four Levels of Training Evaluation</a:t>
            </a:r>
            <a:endParaRPr lang="en-US" sz="1600" dirty="0"/>
          </a:p>
        </p:txBody>
      </p:sp>
      <p:pic>
        <p:nvPicPr>
          <p:cNvPr id="12" name="book icon 5" descr="book">    </p:cNvPr>
          <p:cNvPicPr>
            <a:picLocks noChangeAspect="1"/>
          </p:cNvPicPr>
          <p:nvPr/>
        </p:nvPicPr>
        <p:blipFill>
          <a:blip r:embed="rId5"/>
          <a:stretch>
            <a:fillRect/>
          </a:stretch>
        </p:blipFill>
        <p:spPr>
          <a:xfrm>
            <a:off x="6172200" y="1572768"/>
            <a:ext cx="411480" cy="411480"/>
          </a:xfrm>
          <a:prstGeom prst="rect">
            <a:avLst/>
          </a:prstGeom>
        </p:spPr>
      </p:pic>
      <p:sp>
        <p:nvSpPr>
          <p:cNvPr id="13" name="Text 5"/>
          <p:cNvSpPr txBox="1"/>
          <p:nvPr/>
        </p:nvSpPr>
        <p:spPr>
          <a:xfrm>
            <a:off x="6812280" y="1463040"/>
            <a:ext cx="4754880" cy="822960"/>
          </a:xfrm>
          <a:prstGeom prst="rect">
            <a:avLst/>
          </a:prstGeom>
          <a:noFill/>
          <a:ln/>
        </p:spPr>
        <p:txBody>
          <a:bodyPr wrap="square" lIns="0" tIns="0" rIns="0" bIns="0" rtlCol="0" anchor="t"/>
          <a:lstStyle/>
          <a:p>
            <a:pPr indent="0" marL="0">
              <a:buNone/>
            </a:pPr>
            <a:r>
              <a:rPr lang="en-US" sz="1600" b="1" dirty="0">
                <a:solidFill>
                  <a:schemeClr val="tx1"/>
                </a:solidFill>
              </a:rPr>
              <a:t>Kolb, D.</a:t>
            </a:r>
            <a:endParaRPr lang="en-US" sz="1600" dirty="0"/>
          </a:p>
          <a:p>
            <a:pPr indent="0" marL="0">
              <a:buNone/>
            </a:pPr>
            <a:r>
              <a:rPr lang="en-US" sz="1600" i="1" dirty="0">
                <a:solidFill>
                  <a:schemeClr val="accent3"/>
                </a:solidFill>
              </a:rPr>
              <a:t>Experiential Learning</a:t>
            </a:r>
            <a:endParaRPr lang="en-US" sz="1600" dirty="0"/>
          </a:p>
        </p:txBody>
      </p:sp>
      <p:pic>
        <p:nvPicPr>
          <p:cNvPr id="14" name="book icon 6" descr="book">    </p:cNvPr>
          <p:cNvPicPr>
            <a:picLocks noChangeAspect="1"/>
          </p:cNvPicPr>
          <p:nvPr/>
        </p:nvPicPr>
        <p:blipFill>
          <a:blip r:embed="rId6"/>
          <a:stretch>
            <a:fillRect/>
          </a:stretch>
        </p:blipFill>
        <p:spPr>
          <a:xfrm>
            <a:off x="6172200" y="2670048"/>
            <a:ext cx="411480" cy="411480"/>
          </a:xfrm>
          <a:prstGeom prst="rect">
            <a:avLst/>
          </a:prstGeom>
        </p:spPr>
      </p:pic>
      <p:sp>
        <p:nvSpPr>
          <p:cNvPr id="15" name="Text 6"/>
          <p:cNvSpPr txBox="1"/>
          <p:nvPr/>
        </p:nvSpPr>
        <p:spPr>
          <a:xfrm>
            <a:off x="6812280" y="2560320"/>
            <a:ext cx="4754880" cy="822960"/>
          </a:xfrm>
          <a:prstGeom prst="rect">
            <a:avLst/>
          </a:prstGeom>
          <a:noFill/>
          <a:ln/>
        </p:spPr>
        <p:txBody>
          <a:bodyPr wrap="square" lIns="0" tIns="0" rIns="0" bIns="0" rtlCol="0" anchor="t"/>
          <a:lstStyle/>
          <a:p>
            <a:pPr indent="0" marL="0">
              <a:buNone/>
            </a:pPr>
            <a:r>
              <a:rPr lang="en-US" sz="1600" b="1" dirty="0">
                <a:solidFill>
                  <a:schemeClr val="tx1"/>
                </a:solidFill>
              </a:rPr>
              <a:t>Sweller, J.</a:t>
            </a:r>
            <a:endParaRPr lang="en-US" sz="1600" dirty="0"/>
          </a:p>
          <a:p>
            <a:pPr indent="0" marL="0">
              <a:buNone/>
            </a:pPr>
            <a:r>
              <a:rPr lang="en-US" sz="1600" i="1" dirty="0">
                <a:solidFill>
                  <a:schemeClr val="accent3"/>
                </a:solidFill>
              </a:rPr>
              <a:t>Cognitive Load Theory</a:t>
            </a:r>
            <a:endParaRPr lang="en-US" sz="1600" dirty="0"/>
          </a:p>
        </p:txBody>
      </p:sp>
      <p:pic>
        <p:nvPicPr>
          <p:cNvPr id="16" name="book icon 7" descr="book">    </p:cNvPr>
          <p:cNvPicPr>
            <a:picLocks noChangeAspect="1"/>
          </p:cNvPicPr>
          <p:nvPr/>
        </p:nvPicPr>
        <p:blipFill>
          <a:blip r:embed="rId7"/>
          <a:stretch>
            <a:fillRect/>
          </a:stretch>
        </p:blipFill>
        <p:spPr>
          <a:xfrm>
            <a:off x="6172200" y="3767328"/>
            <a:ext cx="411480" cy="411480"/>
          </a:xfrm>
          <a:prstGeom prst="rect">
            <a:avLst/>
          </a:prstGeom>
        </p:spPr>
      </p:pic>
      <p:sp>
        <p:nvSpPr>
          <p:cNvPr id="17" name="Text 7"/>
          <p:cNvSpPr txBox="1"/>
          <p:nvPr/>
        </p:nvSpPr>
        <p:spPr>
          <a:xfrm>
            <a:off x="6812280" y="3657600"/>
            <a:ext cx="4754880" cy="822960"/>
          </a:xfrm>
          <a:prstGeom prst="rect">
            <a:avLst/>
          </a:prstGeom>
          <a:noFill/>
          <a:ln/>
        </p:spPr>
        <p:txBody>
          <a:bodyPr wrap="square" lIns="0" tIns="0" rIns="0" bIns="0" rtlCol="0" anchor="t"/>
          <a:lstStyle/>
          <a:p>
            <a:pPr indent="0" marL="0">
              <a:buNone/>
            </a:pPr>
            <a:r>
              <a:rPr lang="en-US" sz="1600" b="1" dirty="0">
                <a:solidFill>
                  <a:schemeClr val="tx1"/>
                </a:solidFill>
              </a:rPr>
              <a:t>Watkins, M.</a:t>
            </a:r>
            <a:endParaRPr lang="en-US" sz="1600" dirty="0"/>
          </a:p>
          <a:p>
            <a:pPr indent="0" marL="0">
              <a:buNone/>
            </a:pPr>
            <a:r>
              <a:rPr lang="en-US" sz="1600" i="1" dirty="0">
                <a:solidFill>
                  <a:schemeClr val="accent3"/>
                </a:solidFill>
              </a:rPr>
              <a:t>The First 90 Days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NORAM Enablement">
  <a:themeElements>
    <a:clrScheme name="NORAM Enablement">
      <a:dk1>
        <a:srgbClr val="0B1F33"/>
      </a:dk1>
      <a:lt1>
        <a:srgbClr val="FFFFFF"/>
      </a:lt1>
      <a:dk2>
        <a:srgbClr val="0A1A2F"/>
      </a:dk2>
      <a:lt2>
        <a:srgbClr val="EEF2F6"/>
      </a:lt2>
      <a:accent1>
        <a:srgbClr val="00857A"/>
      </a:accent1>
      <a:accent2>
        <a:srgbClr val="E89B2C"/>
      </a:accent2>
      <a:accent3>
        <a:srgbClr val="5B6B7F"/>
      </a:accent3>
      <a:accent4>
        <a:srgbClr val="1F3A5A"/>
      </a:accent4>
      <a:accent5>
        <a:srgbClr val="C0392B"/>
      </a:accent5>
      <a:accent6>
        <a:srgbClr val="5ED3C6"/>
      </a:accent6>
      <a:hlink>
        <a:srgbClr val="00857A"/>
      </a:hlink>
      <a:folHlink>
        <a:srgbClr val="1F3A5A"/>
      </a:folHlink>
    </a:clrScheme>
    <a:fontScheme name="NORAM Enablem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Learning Principles &amp; Ramping a Commercial Team</dc:title>
  <dc:subject>PptxGenJS Presentation</dc:subject>
  <dc:creator>NORAM Revenue Enablement</dc:creator>
  <cp:lastModifiedBy>NORAM Revenue Enablement</cp:lastModifiedBy>
  <cp:revision>1</cp:revision>
  <dcterms:created xsi:type="dcterms:W3CDTF">2026-10-02T15:03:15Z</dcterms:created>
  <dcterms:modified xsi:type="dcterms:W3CDTF">2026-10-02T15:03:15Z</dcterms:modified>
</cp:coreProperties>
</file>
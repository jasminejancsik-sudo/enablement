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b2a14ef-94ab-478e-bca2-ae7260970c36}">
          <p14:sldIdLst>
            <p14:sldId id="256"/>
            <p14:sldId id="257"/>
          </p14:sldIdLst>
        </p14:section>
        <p14:section name="The Principles" id="{3350cbfd-d474-c839-e5b6-ed84655e3a2c}">
          <p14:sldIdLst>
            <p14:sldId id="258"/>
            <p14:sldId id="259"/>
            <p14:sldId id="260"/>
            <p14:sldId id="261"/>
            <p14:sldId id="262"/>
            <p14:sldId id="263"/>
          </p14:sldIdLst>
        </p14:section>
        <p14:section name="Summary" id="{d37f5889-fcf2-9322-7282-cbe5024e16cc}">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Retention over time (illustrative)</a:t>
            </a:r>
          </a:p>
        </c:rich>
      </c:tx>
      <c:layout/>
      <c:overlay val="0"/>
    </c:title>
    <c:autoTitleDeleted val="0"/>
    <c:plotArea>
      <c:layout/>
      <c:lineChart>
        <c:varyColors val="0"/>
        <c:ser>
          <c:idx val="0"/>
          <c:order val="0"/>
          <c:tx>
            <c:strRef>
              <c:f>Sheet1!$B$1</c:f>
              <c:strCache>
                <c:ptCount val="1"/>
                <c:pt idx="0">
                  <c:v>No reinforcement</c:v>
                </c:pt>
              </c:strCache>
            </c:strRef>
          </c:tx>
          <c:spPr>
            <a:solidFill>
              <a:srgbClr val="C0392B"/>
            </a:solidFill>
            <a:ln w="3810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0392B"/>
              </a:solidFill>
              <a:ln w="9525" cap="flat">
                <a:solidFill>
                  <a:srgbClr val="C0392B"/>
                </a:solidFill>
                <a:prstDash val="solid"/>
                <a:round/>
              </a:ln>
              <a:effectLst/>
            </c:spPr>
          </c:marker>
          <c:cat>
            <c:multiLvlStrRef>
              <c:f>Sheet1!$A$2:$A$7</c:f>
              <c:multiLvlStrCache>
                <c:ptCount val="6"/>
                <c:lvl>
                  <c:pt idx="0">
                    <c:v>Day 0</c:v>
                  </c:pt>
                  <c:pt idx="1">
                    <c:v>Day 1</c:v>
                  </c:pt>
                  <c:pt idx="2">
                    <c:v>Day 2</c:v>
                  </c:pt>
                  <c:pt idx="3">
                    <c:v>Day 7</c:v>
                  </c:pt>
                  <c:pt idx="4">
                    <c:v>Day 14</c:v>
                  </c:pt>
                  <c:pt idx="5">
                    <c:v>Day 30</c:v>
                  </c:pt>
                </c:lvl>
              </c:multiLvlStrCache>
            </c:multiLvlStrRef>
          </c:cat>
          <c:val>
            <c:numRef>
              <c:f>Sheet1!$B$2:$B$7</c:f>
              <c:numCache>
                <c:formatCode>General</c:formatCode>
                <c:ptCount val="6"/>
                <c:pt idx="0">
                  <c:v>100</c:v>
                </c:pt>
                <c:pt idx="1">
                  <c:v>55</c:v>
                </c:pt>
                <c:pt idx="2">
                  <c:v>45</c:v>
                </c:pt>
                <c:pt idx="3">
                  <c:v>30</c:v>
                </c:pt>
                <c:pt idx="4">
                  <c:v>25</c:v>
                </c:pt>
                <c:pt idx="5">
                  <c:v>20</c:v>
                </c:pt>
              </c:numCache>
            </c:numRef>
          </c:val>
          <c:smooth val="0"/>
        </c:ser>
        <c:ser>
          <c:idx val="1"/>
          <c:order val="1"/>
          <c:tx>
            <c:strRef>
              <c:f>Sheet1!$C$1</c:f>
              <c:strCache>
                <c:ptCount val="1"/>
                <c:pt idx="0">
                  <c:v>Spaced reinforcement</c:v>
                </c:pt>
              </c:strCache>
            </c:strRef>
          </c:tx>
          <c:spPr>
            <a:solidFill>
              <a:srgbClr val="00857A"/>
            </a:solidFill>
            <a:ln w="38100" cap="flat">
              <a:solidFill>
                <a:srgbClr val="0085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857A"/>
              </a:solidFill>
              <a:ln w="9525" cap="flat">
                <a:solidFill>
                  <a:srgbClr val="00857A"/>
                </a:solidFill>
                <a:prstDash val="solid"/>
                <a:round/>
              </a:ln>
              <a:effectLst/>
            </c:spPr>
          </c:marker>
          <c:cat>
            <c:multiLvlStrRef>
              <c:f>Sheet1!$A$2:$A$7</c:f>
              <c:multiLvlStrCache>
                <c:ptCount val="6"/>
                <c:lvl>
                  <c:pt idx="0">
                    <c:v>Day 0</c:v>
                  </c:pt>
                  <c:pt idx="1">
                    <c:v>Day 1</c:v>
                  </c:pt>
                  <c:pt idx="2">
                    <c:v>Day 2</c:v>
                  </c:pt>
                  <c:pt idx="3">
                    <c:v>Day 7</c:v>
                  </c:pt>
                  <c:pt idx="4">
                    <c:v>Day 14</c:v>
                  </c:pt>
                  <c:pt idx="5">
                    <c:v>Day 30</c:v>
                  </c:pt>
                </c:lvl>
              </c:multiLvlStrCache>
            </c:multiLvlStrRef>
          </c:cat>
          <c:val>
            <c:numRef>
              <c:f>Sheet1!$C$2:$C$7</c:f>
              <c:numCache>
                <c:formatCode>General</c:formatCode>
                <c:ptCount val="6"/>
                <c:pt idx="0">
                  <c:v>100</c:v>
                </c:pt>
                <c:pt idx="1">
                  <c:v>90</c:v>
                </c:pt>
                <c:pt idx="2">
                  <c:v>92</c:v>
                </c:pt>
                <c:pt idx="3">
                  <c:v>88</c:v>
                </c:pt>
                <c:pt idx="4">
                  <c:v>87</c:v>
                </c:pt>
                <c:pt idx="5">
                  <c:v>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C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core, well-established adult learning theories and what each one means for how new hires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overview of the theories covered. Each comes with a short note on what it means for new hires.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Malcolm Knowles' andragogy sets out six assumptions about adult learners. They explain why lecture-style onboarding often doesn't land with experienced professionals.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Kolb's experiential learning cycle has four stages. Learning is strongest when a new hire goes all the way round the cycle, not just the 'listen to a presentation'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Hermann Ebbinghaus showed in the 1880s that memory of new information drops quickly after learning unless it's revisited. Spacing learning out and revisiting it at intervals slows that decline. The curve shown is illustrative of the shape, not exact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strong findings from learning science. Retrieval practice (the testing effect): pulling information from memory strengthens it more than re-reading it. Deliberate practice (Anders Ericsson): skills improve through focused practice on specific weaknesses with feedback, not just time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Sweller's cognitive load theory: working memory can only hold a small amount of new information at once. When too much arrives at the same time, learning drops. This is why information-heavy first weeks often don't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Albert Bandura's social learning theory: people learn a great deal by observing others and copying behaviour that's modelled well. It works through four steps. The 70-20-10 model, from the Center for Creative Leadership, is a related rule of thumb: most learning happens on the job and through other people. It's a heuristic, not a measured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summary. New hires learn best when learning is relevant, hands-on, spaced out, practised, manageable in size and social.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sources for the theories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977640"/>
            <a:ext cx="10698480" cy="91440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
        <p:nvSpPr>
          <p:cNvPr id="4" name="Text 0"/>
          <p:cNvSpPr/>
          <p:nvPr/>
        </p:nvSpPr>
        <p:spPr>
          <a:xfrm>
            <a:off x="731520" y="6126480"/>
            <a:ext cx="7315200" cy="320040"/>
          </a:xfrm>
          <a:prstGeom prst="rect">
            <a:avLst/>
          </a:prstGeom>
          <a:noFill/>
          <a:ln/>
        </p:spPr>
        <p:txBody>
          <a:bodyPr wrap="square" lIns="0" tIns="0" rIns="0" bIns="0" rtlCol="0" anchor="ctr"/>
          <a:lstStyle/>
          <a:p>
            <a:pPr indent="0" marL="0">
              <a:buNone/>
            </a:pPr>
            <a:r>
              <a:rPr lang="en-US" sz="1200" dirty="0">
                <a:solidFill>
                  <a:schemeClr val="bg2"/>
                </a:solidFill>
              </a:rPr>
              <a:t>Checkout.com · NORAM Revenue Enablement</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840480"/>
            <a:ext cx="960120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4" name="Text 0"/>
          <p:cNvSpPr/>
          <p:nvPr/>
        </p:nvSpPr>
        <p:spPr>
          <a:xfrm>
            <a:off x="731520" y="6126480"/>
            <a:ext cx="7315200" cy="320040"/>
          </a:xfrm>
          <a:prstGeom prst="rect">
            <a:avLst/>
          </a:prstGeom>
          <a:noFill/>
          <a:ln/>
        </p:spPr>
        <p:txBody>
          <a:bodyPr wrap="square" lIns="0" tIns="0" rIns="0" bIns="0" rtlCol="0" anchor="ctr"/>
          <a:lstStyle/>
          <a:p>
            <a:pPr indent="0" marL="0">
              <a:buNone/>
            </a:pPr>
            <a:r>
              <a:rPr lang="en-US" sz="1000" dirty="0">
                <a:solidFill>
                  <a:schemeClr val="bg2"/>
                </a:solidFill>
              </a:rPr>
              <a:t>Checkout.com · NORAM Revenue Enablement</a:t>
            </a:r>
            <a:endParaRPr lang="en-US" sz="1000" dirty="0"/>
          </a:p>
        </p:txBody>
      </p:sp>
      <p:sp>
        <p:nvSpPr>
          <p:cNvPr id="25" name="Slide Number Placeholder 0"/>
          <p:cNvSpPr>
            <a:spLocks noGrp="1"/>
          </p:cNvSpPr>
          <p:nvPr>
            <p:ph type="sldNum" sz="quarter" idx="4294967295"/>
          </p:nvPr>
        </p:nvSpPr>
        <p:spPr>
          <a:xfrm>
            <a:off x="10972800" y="61264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Checkout.com · NORAM Revenue Enablement</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1264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4.xml"/><Relationship Id="rId1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How new hires learn</a:t>
            </a:r>
            <a:endParaRPr lang="en-US" sz="4400" dirty="0"/>
          </a:p>
        </p:txBody>
      </p:sp>
      <p:sp>
        <p:nvSpPr>
          <p:cNvPr id="3" name="Text 0"/>
          <p:cNvSpPr/>
          <p:nvPr>
            <p:ph idx="101" type="body" hasCustomPrompt="1"/>
          </p:nvPr>
        </p:nvSpPr>
        <p:spPr>
          <a:xfrm>
            <a:off x="731520" y="3977640"/>
            <a:ext cx="10698480" cy="914400"/>
          </a:xfrm>
          <a:prstGeom prst="rect">
            <a:avLst/>
          </a:prstGeom>
          <a:noFill/>
          <a:ln/>
        </p:spPr>
        <p:txBody>
          <a:bodyPr wrap="square" lIns="0" tIns="0" rIns="0" bIns="0" rtlCol="0" anchor="t"/>
          <a:lstStyle/>
          <a:p>
            <a:pPr algn="l" indent="0" marL="0">
              <a:buNone/>
            </a:pPr>
            <a:r>
              <a:rPr lang="en-US" sz="2000" dirty="0">
                <a:solidFill>
                  <a:schemeClr val="accent6"/>
                </a:solidFill>
              </a:rPr>
              <a:t>The basic principles of adult learning theory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Six ideas that explain how adults learn</a:t>
            </a:r>
            <a:endParaRPr lang="en-US" sz="3200" dirty="0"/>
          </a:p>
        </p:txBody>
      </p:sp>
      <p:sp>
        <p:nvSpPr>
          <p:cNvPr id="4" name="Andragogy card"/>
          <p:cNvSpPr/>
          <p:nvPr/>
        </p:nvSpPr>
        <p:spPr>
          <a:xfrm>
            <a:off x="548640" y="1463040"/>
            <a:ext cx="3566160" cy="2103120"/>
          </a:xfrm>
          <a:prstGeom prst="roundRect">
            <a:avLst>
              <a:gd name="adj" fmla="val 3478"/>
            </a:avLst>
          </a:prstGeom>
          <a:solidFill>
            <a:schemeClr val="bg2"/>
          </a:solidFill>
          <a:ln w="12700">
            <a:solidFill>
              <a:schemeClr val="bg2"/>
            </a:solidFill>
            <a:prstDash val="solid"/>
          </a:ln>
        </p:spPr>
      </p:sp>
      <p:sp>
        <p:nvSpPr>
          <p:cNvPr id="5" name="Andragogy icon circle"/>
          <p:cNvSpPr/>
          <p:nvPr/>
        </p:nvSpPr>
        <p:spPr>
          <a:xfrm>
            <a:off x="868680" y="1783080"/>
            <a:ext cx="731520" cy="731520"/>
          </a:xfrm>
          <a:prstGeom prst="ellipse">
            <a:avLst/>
          </a:prstGeom>
          <a:solidFill>
            <a:schemeClr val="accent1"/>
          </a:solidFill>
          <a:ln w="12700">
            <a:solidFill>
              <a:schemeClr val="accent1"/>
            </a:solidFill>
            <a:prstDash val="solid"/>
          </a:ln>
        </p:spPr>
      </p:sp>
      <p:pic>
        <p:nvPicPr>
          <p:cNvPr id="6" name="Andragogy icon" descr="Andragogy icon">    </p:cNvPr>
          <p:cNvPicPr>
            <a:picLocks noChangeAspect="1"/>
          </p:cNvPicPr>
          <p:nvPr/>
        </p:nvPicPr>
        <p:blipFill>
          <a:blip r:embed="rId1"/>
          <a:stretch>
            <a:fillRect/>
          </a:stretch>
        </p:blipFill>
        <p:spPr>
          <a:xfrm>
            <a:off x="1051560" y="1965960"/>
            <a:ext cx="365760" cy="365760"/>
          </a:xfrm>
          <a:prstGeom prst="rect">
            <a:avLst/>
          </a:prstGeom>
        </p:spPr>
      </p:pic>
      <p:sp>
        <p:nvSpPr>
          <p:cNvPr id="7" name="Text 3"/>
          <p:cNvSpPr txBox="1"/>
          <p:nvPr/>
        </p:nvSpPr>
        <p:spPr>
          <a:xfrm>
            <a:off x="868680" y="26517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Andragogy</a:t>
            </a:r>
            <a:endParaRPr lang="en-US" sz="1800" dirty="0"/>
          </a:p>
        </p:txBody>
      </p:sp>
      <p:sp>
        <p:nvSpPr>
          <p:cNvPr id="8" name="Text 4"/>
          <p:cNvSpPr txBox="1"/>
          <p:nvPr/>
        </p:nvSpPr>
        <p:spPr>
          <a:xfrm>
            <a:off x="868680" y="3090672"/>
            <a:ext cx="3108960" cy="365760"/>
          </a:xfrm>
          <a:prstGeom prst="rect">
            <a:avLst/>
          </a:prstGeom>
          <a:noFill/>
          <a:ln/>
        </p:spPr>
        <p:txBody>
          <a:bodyPr wrap="square" lIns="0" tIns="0" rIns="0" bIns="0" rtlCol="0" anchor="t"/>
          <a:lstStyle/>
          <a:p>
            <a:pPr indent="0" marL="0">
              <a:buNone/>
            </a:pPr>
            <a:r>
              <a:rPr lang="en-US" sz="1400" dirty="0">
                <a:solidFill>
                  <a:schemeClr val="accent3"/>
                </a:solidFill>
              </a:rPr>
              <a:t>Knowles</a:t>
            </a:r>
            <a:endParaRPr lang="en-US" sz="1400" dirty="0"/>
          </a:p>
        </p:txBody>
      </p:sp>
      <p:sp>
        <p:nvSpPr>
          <p:cNvPr id="9" name="Experiential learning card"/>
          <p:cNvSpPr/>
          <p:nvPr/>
        </p:nvSpPr>
        <p:spPr>
          <a:xfrm>
            <a:off x="4297680" y="1463040"/>
            <a:ext cx="3566160" cy="2103120"/>
          </a:xfrm>
          <a:prstGeom prst="roundRect">
            <a:avLst>
              <a:gd name="adj" fmla="val 3478"/>
            </a:avLst>
          </a:prstGeom>
          <a:solidFill>
            <a:schemeClr val="bg2"/>
          </a:solidFill>
          <a:ln w="12700">
            <a:solidFill>
              <a:schemeClr val="bg2"/>
            </a:solidFill>
            <a:prstDash val="solid"/>
          </a:ln>
        </p:spPr>
      </p:sp>
      <p:sp>
        <p:nvSpPr>
          <p:cNvPr id="10" name="Experiential learning icon circle"/>
          <p:cNvSpPr/>
          <p:nvPr/>
        </p:nvSpPr>
        <p:spPr>
          <a:xfrm>
            <a:off x="4617720" y="1783080"/>
            <a:ext cx="731520" cy="731520"/>
          </a:xfrm>
          <a:prstGeom prst="ellipse">
            <a:avLst/>
          </a:prstGeom>
          <a:solidFill>
            <a:schemeClr val="accent1"/>
          </a:solidFill>
          <a:ln w="12700">
            <a:solidFill>
              <a:schemeClr val="accent1"/>
            </a:solidFill>
            <a:prstDash val="solid"/>
          </a:ln>
        </p:spPr>
      </p:sp>
      <p:pic>
        <p:nvPicPr>
          <p:cNvPr id="11" name="Experiential learning icon" descr="Experiential learning icon">    </p:cNvPr>
          <p:cNvPicPr>
            <a:picLocks noChangeAspect="1"/>
          </p:cNvPicPr>
          <p:nvPr/>
        </p:nvPicPr>
        <p:blipFill>
          <a:blip r:embed="rId2"/>
          <a:stretch>
            <a:fillRect/>
          </a:stretch>
        </p:blipFill>
        <p:spPr>
          <a:xfrm>
            <a:off x="4800600" y="1965960"/>
            <a:ext cx="365760" cy="365760"/>
          </a:xfrm>
          <a:prstGeom prst="rect">
            <a:avLst/>
          </a:prstGeom>
        </p:spPr>
      </p:pic>
      <p:sp>
        <p:nvSpPr>
          <p:cNvPr id="12" name="Text 7"/>
          <p:cNvSpPr txBox="1"/>
          <p:nvPr/>
        </p:nvSpPr>
        <p:spPr>
          <a:xfrm>
            <a:off x="4617720" y="26517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Experiential learning</a:t>
            </a:r>
            <a:endParaRPr lang="en-US" sz="1800" dirty="0"/>
          </a:p>
        </p:txBody>
      </p:sp>
      <p:sp>
        <p:nvSpPr>
          <p:cNvPr id="13" name="Text 8"/>
          <p:cNvSpPr txBox="1"/>
          <p:nvPr/>
        </p:nvSpPr>
        <p:spPr>
          <a:xfrm>
            <a:off x="4617720" y="3090672"/>
            <a:ext cx="3108960" cy="365760"/>
          </a:xfrm>
          <a:prstGeom prst="rect">
            <a:avLst/>
          </a:prstGeom>
          <a:noFill/>
          <a:ln/>
        </p:spPr>
        <p:txBody>
          <a:bodyPr wrap="square" lIns="0" tIns="0" rIns="0" bIns="0" rtlCol="0" anchor="t"/>
          <a:lstStyle/>
          <a:p>
            <a:pPr indent="0" marL="0">
              <a:buNone/>
            </a:pPr>
            <a:r>
              <a:rPr lang="en-US" sz="1400" dirty="0">
                <a:solidFill>
                  <a:schemeClr val="accent3"/>
                </a:solidFill>
              </a:rPr>
              <a:t>Kolb</a:t>
            </a:r>
            <a:endParaRPr lang="en-US" sz="1400" dirty="0"/>
          </a:p>
        </p:txBody>
      </p:sp>
      <p:sp>
        <p:nvSpPr>
          <p:cNvPr id="14" name="The forgetting curve card"/>
          <p:cNvSpPr/>
          <p:nvPr/>
        </p:nvSpPr>
        <p:spPr>
          <a:xfrm>
            <a:off x="8046720" y="1463040"/>
            <a:ext cx="3566160" cy="2103120"/>
          </a:xfrm>
          <a:prstGeom prst="roundRect">
            <a:avLst>
              <a:gd name="adj" fmla="val 3478"/>
            </a:avLst>
          </a:prstGeom>
          <a:solidFill>
            <a:schemeClr val="bg2"/>
          </a:solidFill>
          <a:ln w="12700">
            <a:solidFill>
              <a:schemeClr val="bg2"/>
            </a:solidFill>
            <a:prstDash val="solid"/>
          </a:ln>
        </p:spPr>
      </p:sp>
      <p:sp>
        <p:nvSpPr>
          <p:cNvPr id="15" name="The forgetting curve icon circle"/>
          <p:cNvSpPr/>
          <p:nvPr/>
        </p:nvSpPr>
        <p:spPr>
          <a:xfrm>
            <a:off x="8366760" y="1783080"/>
            <a:ext cx="731520" cy="731520"/>
          </a:xfrm>
          <a:prstGeom prst="ellipse">
            <a:avLst/>
          </a:prstGeom>
          <a:solidFill>
            <a:schemeClr val="accent1"/>
          </a:solidFill>
          <a:ln w="12700">
            <a:solidFill>
              <a:schemeClr val="accent1"/>
            </a:solidFill>
            <a:prstDash val="solid"/>
          </a:ln>
        </p:spPr>
      </p:sp>
      <p:pic>
        <p:nvPicPr>
          <p:cNvPr id="16" name="The forgetting curve icon" descr="The forgetting curve icon">    </p:cNvPr>
          <p:cNvPicPr>
            <a:picLocks noChangeAspect="1"/>
          </p:cNvPicPr>
          <p:nvPr/>
        </p:nvPicPr>
        <p:blipFill>
          <a:blip r:embed="rId3"/>
          <a:stretch>
            <a:fillRect/>
          </a:stretch>
        </p:blipFill>
        <p:spPr>
          <a:xfrm>
            <a:off x="8549640" y="1965960"/>
            <a:ext cx="365760" cy="365760"/>
          </a:xfrm>
          <a:prstGeom prst="rect">
            <a:avLst/>
          </a:prstGeom>
        </p:spPr>
      </p:pic>
      <p:sp>
        <p:nvSpPr>
          <p:cNvPr id="17" name="Text 11"/>
          <p:cNvSpPr txBox="1"/>
          <p:nvPr/>
        </p:nvSpPr>
        <p:spPr>
          <a:xfrm>
            <a:off x="8366760" y="26517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The forgetting curve</a:t>
            </a:r>
            <a:endParaRPr lang="en-US" sz="1800" dirty="0"/>
          </a:p>
        </p:txBody>
      </p:sp>
      <p:sp>
        <p:nvSpPr>
          <p:cNvPr id="18" name="Text 12"/>
          <p:cNvSpPr txBox="1"/>
          <p:nvPr/>
        </p:nvSpPr>
        <p:spPr>
          <a:xfrm>
            <a:off x="8366760" y="3090672"/>
            <a:ext cx="3108960" cy="365760"/>
          </a:xfrm>
          <a:prstGeom prst="rect">
            <a:avLst/>
          </a:prstGeom>
          <a:noFill/>
          <a:ln/>
        </p:spPr>
        <p:txBody>
          <a:bodyPr wrap="square" lIns="0" tIns="0" rIns="0" bIns="0" rtlCol="0" anchor="t"/>
          <a:lstStyle/>
          <a:p>
            <a:pPr indent="0" marL="0">
              <a:buNone/>
            </a:pPr>
            <a:r>
              <a:rPr lang="en-US" sz="1400" dirty="0">
                <a:solidFill>
                  <a:schemeClr val="accent3"/>
                </a:solidFill>
              </a:rPr>
              <a:t>Ebbinghaus</a:t>
            </a:r>
            <a:endParaRPr lang="en-US" sz="1400" dirty="0"/>
          </a:p>
        </p:txBody>
      </p:sp>
      <p:sp>
        <p:nvSpPr>
          <p:cNvPr id="19" name="Practice and recall card"/>
          <p:cNvSpPr/>
          <p:nvPr/>
        </p:nvSpPr>
        <p:spPr>
          <a:xfrm>
            <a:off x="548640" y="3749040"/>
            <a:ext cx="3566160" cy="2103120"/>
          </a:xfrm>
          <a:prstGeom prst="roundRect">
            <a:avLst>
              <a:gd name="adj" fmla="val 3478"/>
            </a:avLst>
          </a:prstGeom>
          <a:solidFill>
            <a:schemeClr val="bg2"/>
          </a:solidFill>
          <a:ln w="12700">
            <a:solidFill>
              <a:schemeClr val="bg2"/>
            </a:solidFill>
            <a:prstDash val="solid"/>
          </a:ln>
        </p:spPr>
      </p:sp>
      <p:sp>
        <p:nvSpPr>
          <p:cNvPr id="20" name="Practice and recall icon circle"/>
          <p:cNvSpPr/>
          <p:nvPr/>
        </p:nvSpPr>
        <p:spPr>
          <a:xfrm>
            <a:off x="868680" y="4069080"/>
            <a:ext cx="731520" cy="731520"/>
          </a:xfrm>
          <a:prstGeom prst="ellipse">
            <a:avLst/>
          </a:prstGeom>
          <a:solidFill>
            <a:schemeClr val="accent1"/>
          </a:solidFill>
          <a:ln w="12700">
            <a:solidFill>
              <a:schemeClr val="accent1"/>
            </a:solidFill>
            <a:prstDash val="solid"/>
          </a:ln>
        </p:spPr>
      </p:sp>
      <p:pic>
        <p:nvPicPr>
          <p:cNvPr id="21" name="Practice and recall icon" descr="Practice and recall icon">    </p:cNvPr>
          <p:cNvPicPr>
            <a:picLocks noChangeAspect="1"/>
          </p:cNvPicPr>
          <p:nvPr/>
        </p:nvPicPr>
        <p:blipFill>
          <a:blip r:embed="rId4"/>
          <a:stretch>
            <a:fillRect/>
          </a:stretch>
        </p:blipFill>
        <p:spPr>
          <a:xfrm>
            <a:off x="1051560" y="4251960"/>
            <a:ext cx="365760" cy="365760"/>
          </a:xfrm>
          <a:prstGeom prst="rect">
            <a:avLst/>
          </a:prstGeom>
        </p:spPr>
      </p:pic>
      <p:sp>
        <p:nvSpPr>
          <p:cNvPr id="22" name="Text 15"/>
          <p:cNvSpPr txBox="1"/>
          <p:nvPr/>
        </p:nvSpPr>
        <p:spPr>
          <a:xfrm>
            <a:off x="868680" y="49377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Practice and recall</a:t>
            </a:r>
            <a:endParaRPr lang="en-US" sz="1800" dirty="0"/>
          </a:p>
        </p:txBody>
      </p:sp>
      <p:sp>
        <p:nvSpPr>
          <p:cNvPr id="23" name="Text 16"/>
          <p:cNvSpPr txBox="1"/>
          <p:nvPr/>
        </p:nvSpPr>
        <p:spPr>
          <a:xfrm>
            <a:off x="868680" y="5376672"/>
            <a:ext cx="3108960" cy="365760"/>
          </a:xfrm>
          <a:prstGeom prst="rect">
            <a:avLst/>
          </a:prstGeom>
          <a:noFill/>
          <a:ln/>
        </p:spPr>
        <p:txBody>
          <a:bodyPr wrap="square" lIns="0" tIns="0" rIns="0" bIns="0" rtlCol="0" anchor="t"/>
          <a:lstStyle/>
          <a:p>
            <a:pPr indent="0" marL="0">
              <a:buNone/>
            </a:pPr>
            <a:r>
              <a:rPr lang="en-US" sz="1400" dirty="0">
                <a:solidFill>
                  <a:schemeClr val="accent3"/>
                </a:solidFill>
              </a:rPr>
              <a:t>Retrieval and deliberate practice</a:t>
            </a:r>
            <a:endParaRPr lang="en-US" sz="1400" dirty="0"/>
          </a:p>
        </p:txBody>
      </p:sp>
      <p:sp>
        <p:nvSpPr>
          <p:cNvPr id="24" name="Cognitive load card"/>
          <p:cNvSpPr/>
          <p:nvPr/>
        </p:nvSpPr>
        <p:spPr>
          <a:xfrm>
            <a:off x="4297680" y="3749040"/>
            <a:ext cx="3566160" cy="2103120"/>
          </a:xfrm>
          <a:prstGeom prst="roundRect">
            <a:avLst>
              <a:gd name="adj" fmla="val 3478"/>
            </a:avLst>
          </a:prstGeom>
          <a:solidFill>
            <a:schemeClr val="bg2"/>
          </a:solidFill>
          <a:ln w="12700">
            <a:solidFill>
              <a:schemeClr val="bg2"/>
            </a:solidFill>
            <a:prstDash val="solid"/>
          </a:ln>
        </p:spPr>
      </p:sp>
      <p:sp>
        <p:nvSpPr>
          <p:cNvPr id="25" name="Cognitive load icon circle"/>
          <p:cNvSpPr/>
          <p:nvPr/>
        </p:nvSpPr>
        <p:spPr>
          <a:xfrm>
            <a:off x="4617720" y="4069080"/>
            <a:ext cx="731520" cy="731520"/>
          </a:xfrm>
          <a:prstGeom prst="ellipse">
            <a:avLst/>
          </a:prstGeom>
          <a:solidFill>
            <a:schemeClr val="accent1"/>
          </a:solidFill>
          <a:ln w="12700">
            <a:solidFill>
              <a:schemeClr val="accent1"/>
            </a:solidFill>
            <a:prstDash val="solid"/>
          </a:ln>
        </p:spPr>
      </p:sp>
      <p:pic>
        <p:nvPicPr>
          <p:cNvPr id="26" name="Cognitive load icon" descr="Cognitive load icon">    </p:cNvPr>
          <p:cNvPicPr>
            <a:picLocks noChangeAspect="1"/>
          </p:cNvPicPr>
          <p:nvPr/>
        </p:nvPicPr>
        <p:blipFill>
          <a:blip r:embed="rId5"/>
          <a:stretch>
            <a:fillRect/>
          </a:stretch>
        </p:blipFill>
        <p:spPr>
          <a:xfrm>
            <a:off x="4800600" y="4251960"/>
            <a:ext cx="365760" cy="365760"/>
          </a:xfrm>
          <a:prstGeom prst="rect">
            <a:avLst/>
          </a:prstGeom>
        </p:spPr>
      </p:pic>
      <p:sp>
        <p:nvSpPr>
          <p:cNvPr id="27" name="Text 19"/>
          <p:cNvSpPr txBox="1"/>
          <p:nvPr/>
        </p:nvSpPr>
        <p:spPr>
          <a:xfrm>
            <a:off x="4617720" y="49377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Cognitive load</a:t>
            </a:r>
            <a:endParaRPr lang="en-US" sz="1800" dirty="0"/>
          </a:p>
        </p:txBody>
      </p:sp>
      <p:sp>
        <p:nvSpPr>
          <p:cNvPr id="28" name="Text 20"/>
          <p:cNvSpPr txBox="1"/>
          <p:nvPr/>
        </p:nvSpPr>
        <p:spPr>
          <a:xfrm>
            <a:off x="4617720" y="5376672"/>
            <a:ext cx="3108960" cy="365760"/>
          </a:xfrm>
          <a:prstGeom prst="rect">
            <a:avLst/>
          </a:prstGeom>
          <a:noFill/>
          <a:ln/>
        </p:spPr>
        <p:txBody>
          <a:bodyPr wrap="square" lIns="0" tIns="0" rIns="0" bIns="0" rtlCol="0" anchor="t"/>
          <a:lstStyle/>
          <a:p>
            <a:pPr indent="0" marL="0">
              <a:buNone/>
            </a:pPr>
            <a:r>
              <a:rPr lang="en-US" sz="1400" dirty="0">
                <a:solidFill>
                  <a:schemeClr val="accent3"/>
                </a:solidFill>
              </a:rPr>
              <a:t>Sweller</a:t>
            </a:r>
            <a:endParaRPr lang="en-US" sz="1400" dirty="0"/>
          </a:p>
        </p:txBody>
      </p:sp>
      <p:sp>
        <p:nvSpPr>
          <p:cNvPr id="29" name="Social learning card"/>
          <p:cNvSpPr/>
          <p:nvPr/>
        </p:nvSpPr>
        <p:spPr>
          <a:xfrm>
            <a:off x="8046720" y="3749040"/>
            <a:ext cx="3566160" cy="2103120"/>
          </a:xfrm>
          <a:prstGeom prst="roundRect">
            <a:avLst>
              <a:gd name="adj" fmla="val 3478"/>
            </a:avLst>
          </a:prstGeom>
          <a:solidFill>
            <a:schemeClr val="bg2"/>
          </a:solidFill>
          <a:ln w="12700">
            <a:solidFill>
              <a:schemeClr val="bg2"/>
            </a:solidFill>
            <a:prstDash val="solid"/>
          </a:ln>
        </p:spPr>
      </p:sp>
      <p:sp>
        <p:nvSpPr>
          <p:cNvPr id="30" name="Social learning icon circle"/>
          <p:cNvSpPr/>
          <p:nvPr/>
        </p:nvSpPr>
        <p:spPr>
          <a:xfrm>
            <a:off x="8366760" y="4069080"/>
            <a:ext cx="731520" cy="731520"/>
          </a:xfrm>
          <a:prstGeom prst="ellipse">
            <a:avLst/>
          </a:prstGeom>
          <a:solidFill>
            <a:schemeClr val="accent1"/>
          </a:solidFill>
          <a:ln w="12700">
            <a:solidFill>
              <a:schemeClr val="accent1"/>
            </a:solidFill>
            <a:prstDash val="solid"/>
          </a:ln>
        </p:spPr>
      </p:sp>
      <p:pic>
        <p:nvPicPr>
          <p:cNvPr id="31" name="Social learning icon" descr="Social learning icon">    </p:cNvPr>
          <p:cNvPicPr>
            <a:picLocks noChangeAspect="1"/>
          </p:cNvPicPr>
          <p:nvPr/>
        </p:nvPicPr>
        <p:blipFill>
          <a:blip r:embed="rId6"/>
          <a:stretch>
            <a:fillRect/>
          </a:stretch>
        </p:blipFill>
        <p:spPr>
          <a:xfrm>
            <a:off x="8549640" y="4251960"/>
            <a:ext cx="365760" cy="365760"/>
          </a:xfrm>
          <a:prstGeom prst="rect">
            <a:avLst/>
          </a:prstGeom>
        </p:spPr>
      </p:pic>
      <p:sp>
        <p:nvSpPr>
          <p:cNvPr id="32" name="Text 23"/>
          <p:cNvSpPr txBox="1"/>
          <p:nvPr/>
        </p:nvSpPr>
        <p:spPr>
          <a:xfrm>
            <a:off x="8366760" y="49377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Social learning</a:t>
            </a:r>
            <a:endParaRPr lang="en-US" sz="1800" dirty="0"/>
          </a:p>
        </p:txBody>
      </p:sp>
      <p:sp>
        <p:nvSpPr>
          <p:cNvPr id="33" name="Text 24"/>
          <p:cNvSpPr txBox="1"/>
          <p:nvPr/>
        </p:nvSpPr>
        <p:spPr>
          <a:xfrm>
            <a:off x="8366760" y="5376672"/>
            <a:ext cx="3108960" cy="365760"/>
          </a:xfrm>
          <a:prstGeom prst="rect">
            <a:avLst/>
          </a:prstGeom>
          <a:noFill/>
          <a:ln/>
        </p:spPr>
        <p:txBody>
          <a:bodyPr wrap="square" lIns="0" tIns="0" rIns="0" bIns="0" rtlCol="0" anchor="t"/>
          <a:lstStyle/>
          <a:p>
            <a:pPr indent="0" marL="0">
              <a:buNone/>
            </a:pPr>
            <a:r>
              <a:rPr lang="en-US" sz="1400" dirty="0">
                <a:solidFill>
                  <a:schemeClr val="accent3"/>
                </a:solidFill>
              </a:rPr>
              <a:t>Bandura</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Andragogy: adults learn differently from children</a:t>
            </a:r>
            <a:endParaRPr lang="en-US" sz="3200" dirty="0"/>
          </a:p>
        </p:txBody>
      </p:sp>
      <p:sp>
        <p:nvSpPr>
          <p:cNvPr id="4" name="Knowles 1"/>
          <p:cNvSpPr/>
          <p:nvPr/>
        </p:nvSpPr>
        <p:spPr>
          <a:xfrm>
            <a:off x="548640" y="1417320"/>
            <a:ext cx="3566160" cy="2194560"/>
          </a:xfrm>
          <a:prstGeom prst="roundRect">
            <a:avLst>
              <a:gd name="adj" fmla="val 3333"/>
            </a:avLst>
          </a:prstGeom>
          <a:solidFill>
            <a:schemeClr val="bg2"/>
          </a:solidFill>
          <a:ln w="12700">
            <a:solidFill>
              <a:schemeClr val="bg2"/>
            </a:solidFill>
            <a:prstDash val="solid"/>
          </a:ln>
        </p:spPr>
      </p:sp>
      <p:sp>
        <p:nvSpPr>
          <p:cNvPr id="5" name="number 1"/>
          <p:cNvSpPr txBox="1"/>
          <p:nvPr/>
        </p:nvSpPr>
        <p:spPr>
          <a:xfrm>
            <a:off x="822960" y="169164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1508760" y="1691640"/>
            <a:ext cx="2468880" cy="548640"/>
          </a:xfrm>
          <a:prstGeom prst="rect">
            <a:avLst/>
          </a:prstGeom>
          <a:noFill/>
          <a:ln/>
        </p:spPr>
        <p:txBody>
          <a:bodyPr wrap="square" lIns="0" tIns="0" rIns="0" bIns="0" rtlCol="0" anchor="ctr"/>
          <a:lstStyle/>
          <a:p>
            <a:pPr indent="0" marL="0">
              <a:buNone/>
            </a:pPr>
            <a:r>
              <a:rPr lang="en-US" sz="1900" b="1" dirty="0">
                <a:solidFill>
                  <a:schemeClr val="tx1"/>
                </a:solidFill>
              </a:rPr>
              <a:t>Need to know</a:t>
            </a:r>
            <a:endParaRPr lang="en-US" sz="1900" dirty="0"/>
          </a:p>
        </p:txBody>
      </p:sp>
      <p:sp>
        <p:nvSpPr>
          <p:cNvPr id="7" name="Text 4"/>
          <p:cNvSpPr txBox="1"/>
          <p:nvPr/>
        </p:nvSpPr>
        <p:spPr>
          <a:xfrm>
            <a:off x="822960" y="2423160"/>
            <a:ext cx="3017520" cy="1005840"/>
          </a:xfrm>
          <a:prstGeom prst="rect">
            <a:avLst/>
          </a:prstGeom>
          <a:noFill/>
          <a:ln/>
        </p:spPr>
        <p:txBody>
          <a:bodyPr wrap="square" lIns="0" tIns="0" rIns="0" bIns="0" rtlCol="0" anchor="t"/>
          <a:lstStyle/>
          <a:p>
            <a:pPr indent="0" marL="0">
              <a:buNone/>
            </a:pPr>
            <a:r>
              <a:rPr lang="en-US" sz="1500" dirty="0">
                <a:solidFill>
                  <a:schemeClr val="accent3"/>
                </a:solidFill>
              </a:rPr>
              <a:t>Adults want to know why they're learning something before they learn it.</a:t>
            </a:r>
            <a:endParaRPr lang="en-US" sz="1500" dirty="0"/>
          </a:p>
        </p:txBody>
      </p:sp>
      <p:sp>
        <p:nvSpPr>
          <p:cNvPr id="8" name="Knowles 2"/>
          <p:cNvSpPr/>
          <p:nvPr/>
        </p:nvSpPr>
        <p:spPr>
          <a:xfrm>
            <a:off x="4297680" y="1417320"/>
            <a:ext cx="3566160" cy="2194560"/>
          </a:xfrm>
          <a:prstGeom prst="roundRect">
            <a:avLst>
              <a:gd name="adj" fmla="val 3333"/>
            </a:avLst>
          </a:prstGeom>
          <a:solidFill>
            <a:schemeClr val="bg2"/>
          </a:solidFill>
          <a:ln w="12700">
            <a:solidFill>
              <a:schemeClr val="bg2"/>
            </a:solidFill>
            <a:prstDash val="solid"/>
          </a:ln>
        </p:spPr>
      </p:sp>
      <p:sp>
        <p:nvSpPr>
          <p:cNvPr id="9" name="number 2"/>
          <p:cNvSpPr txBox="1"/>
          <p:nvPr/>
        </p:nvSpPr>
        <p:spPr>
          <a:xfrm>
            <a:off x="4572000" y="169164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5257800" y="1691640"/>
            <a:ext cx="2468880" cy="548640"/>
          </a:xfrm>
          <a:prstGeom prst="rect">
            <a:avLst/>
          </a:prstGeom>
          <a:noFill/>
          <a:ln/>
        </p:spPr>
        <p:txBody>
          <a:bodyPr wrap="square" lIns="0" tIns="0" rIns="0" bIns="0" rtlCol="0" anchor="ctr"/>
          <a:lstStyle/>
          <a:p>
            <a:pPr indent="0" marL="0">
              <a:buNone/>
            </a:pPr>
            <a:r>
              <a:rPr lang="en-US" sz="1900" b="1" dirty="0">
                <a:solidFill>
                  <a:schemeClr val="tx1"/>
                </a:solidFill>
              </a:rPr>
              <a:t>Self-concept</a:t>
            </a:r>
            <a:endParaRPr lang="en-US" sz="1900" dirty="0"/>
          </a:p>
        </p:txBody>
      </p:sp>
      <p:sp>
        <p:nvSpPr>
          <p:cNvPr id="11" name="Text 8"/>
          <p:cNvSpPr txBox="1"/>
          <p:nvPr/>
        </p:nvSpPr>
        <p:spPr>
          <a:xfrm>
            <a:off x="4572000" y="2423160"/>
            <a:ext cx="3017520" cy="1005840"/>
          </a:xfrm>
          <a:prstGeom prst="rect">
            <a:avLst/>
          </a:prstGeom>
          <a:noFill/>
          <a:ln/>
        </p:spPr>
        <p:txBody>
          <a:bodyPr wrap="square" lIns="0" tIns="0" rIns="0" bIns="0" rtlCol="0" anchor="t"/>
          <a:lstStyle/>
          <a:p>
            <a:pPr indent="0" marL="0">
              <a:buNone/>
            </a:pPr>
            <a:r>
              <a:rPr lang="en-US" sz="1500" dirty="0">
                <a:solidFill>
                  <a:schemeClr val="accent3"/>
                </a:solidFill>
              </a:rPr>
              <a:t>Adults expect to direct their own learning and take responsibility for it.</a:t>
            </a:r>
            <a:endParaRPr lang="en-US" sz="1500" dirty="0"/>
          </a:p>
        </p:txBody>
      </p:sp>
      <p:sp>
        <p:nvSpPr>
          <p:cNvPr id="12" name="Knowles 3"/>
          <p:cNvSpPr/>
          <p:nvPr/>
        </p:nvSpPr>
        <p:spPr>
          <a:xfrm>
            <a:off x="8046720" y="1417320"/>
            <a:ext cx="3566160" cy="2194560"/>
          </a:xfrm>
          <a:prstGeom prst="roundRect">
            <a:avLst>
              <a:gd name="adj" fmla="val 3333"/>
            </a:avLst>
          </a:prstGeom>
          <a:solidFill>
            <a:schemeClr val="bg2"/>
          </a:solidFill>
          <a:ln w="12700">
            <a:solidFill>
              <a:schemeClr val="bg2"/>
            </a:solidFill>
            <a:prstDash val="solid"/>
          </a:ln>
        </p:spPr>
      </p:sp>
      <p:sp>
        <p:nvSpPr>
          <p:cNvPr id="13" name="number 3"/>
          <p:cNvSpPr txBox="1"/>
          <p:nvPr/>
        </p:nvSpPr>
        <p:spPr>
          <a:xfrm>
            <a:off x="8321040" y="169164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1"/>
          <p:cNvSpPr txBox="1"/>
          <p:nvPr/>
        </p:nvSpPr>
        <p:spPr>
          <a:xfrm>
            <a:off x="9006840" y="1691640"/>
            <a:ext cx="2468880" cy="548640"/>
          </a:xfrm>
          <a:prstGeom prst="rect">
            <a:avLst/>
          </a:prstGeom>
          <a:noFill/>
          <a:ln/>
        </p:spPr>
        <p:txBody>
          <a:bodyPr wrap="square" lIns="0" tIns="0" rIns="0" bIns="0" rtlCol="0" anchor="ctr"/>
          <a:lstStyle/>
          <a:p>
            <a:pPr indent="0" marL="0">
              <a:buNone/>
            </a:pPr>
            <a:r>
              <a:rPr lang="en-US" sz="1900" b="1" dirty="0">
                <a:solidFill>
                  <a:schemeClr val="tx1"/>
                </a:solidFill>
              </a:rPr>
              <a:t>Experience</a:t>
            </a:r>
            <a:endParaRPr lang="en-US" sz="1900" dirty="0"/>
          </a:p>
        </p:txBody>
      </p:sp>
      <p:sp>
        <p:nvSpPr>
          <p:cNvPr id="15" name="Text 12"/>
          <p:cNvSpPr txBox="1"/>
          <p:nvPr/>
        </p:nvSpPr>
        <p:spPr>
          <a:xfrm>
            <a:off x="8321040" y="2423160"/>
            <a:ext cx="3017520" cy="1005840"/>
          </a:xfrm>
          <a:prstGeom prst="rect">
            <a:avLst/>
          </a:prstGeom>
          <a:noFill/>
          <a:ln/>
        </p:spPr>
        <p:txBody>
          <a:bodyPr wrap="square" lIns="0" tIns="0" rIns="0" bIns="0" rtlCol="0" anchor="t"/>
          <a:lstStyle/>
          <a:p>
            <a:pPr indent="0" marL="0">
              <a:buNone/>
            </a:pPr>
            <a:r>
              <a:rPr lang="en-US" sz="1500" dirty="0">
                <a:solidFill>
                  <a:schemeClr val="accent3"/>
                </a:solidFill>
              </a:rPr>
              <a:t>Adults bring prior experience, which is a resource to build on.</a:t>
            </a:r>
            <a:endParaRPr lang="en-US" sz="1500" dirty="0"/>
          </a:p>
        </p:txBody>
      </p:sp>
      <p:sp>
        <p:nvSpPr>
          <p:cNvPr id="16" name="Knowles 4"/>
          <p:cNvSpPr/>
          <p:nvPr/>
        </p:nvSpPr>
        <p:spPr>
          <a:xfrm>
            <a:off x="548640" y="3794760"/>
            <a:ext cx="3566160" cy="2194560"/>
          </a:xfrm>
          <a:prstGeom prst="roundRect">
            <a:avLst>
              <a:gd name="adj" fmla="val 3333"/>
            </a:avLst>
          </a:prstGeom>
          <a:solidFill>
            <a:schemeClr val="bg2"/>
          </a:solidFill>
          <a:ln w="12700">
            <a:solidFill>
              <a:schemeClr val="bg2"/>
            </a:solidFill>
            <a:prstDash val="solid"/>
          </a:ln>
        </p:spPr>
      </p:sp>
      <p:sp>
        <p:nvSpPr>
          <p:cNvPr id="17" name="number 4"/>
          <p:cNvSpPr txBox="1"/>
          <p:nvPr/>
        </p:nvSpPr>
        <p:spPr>
          <a:xfrm>
            <a:off x="822960" y="40690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5"/>
          <p:cNvSpPr txBox="1"/>
          <p:nvPr/>
        </p:nvSpPr>
        <p:spPr>
          <a:xfrm>
            <a:off x="1508760" y="4069080"/>
            <a:ext cx="2468880" cy="548640"/>
          </a:xfrm>
          <a:prstGeom prst="rect">
            <a:avLst/>
          </a:prstGeom>
          <a:noFill/>
          <a:ln/>
        </p:spPr>
        <p:txBody>
          <a:bodyPr wrap="square" lIns="0" tIns="0" rIns="0" bIns="0" rtlCol="0" anchor="ctr"/>
          <a:lstStyle/>
          <a:p>
            <a:pPr indent="0" marL="0">
              <a:buNone/>
            </a:pPr>
            <a:r>
              <a:rPr lang="en-US" sz="1900" b="1" dirty="0">
                <a:solidFill>
                  <a:schemeClr val="tx1"/>
                </a:solidFill>
              </a:rPr>
              <a:t>Readiness</a:t>
            </a:r>
            <a:endParaRPr lang="en-US" sz="1900" dirty="0"/>
          </a:p>
        </p:txBody>
      </p:sp>
      <p:sp>
        <p:nvSpPr>
          <p:cNvPr id="19" name="Text 16"/>
          <p:cNvSpPr txBox="1"/>
          <p:nvPr/>
        </p:nvSpPr>
        <p:spPr>
          <a:xfrm>
            <a:off x="822960" y="4800600"/>
            <a:ext cx="3017520" cy="1005840"/>
          </a:xfrm>
          <a:prstGeom prst="rect">
            <a:avLst/>
          </a:prstGeom>
          <a:noFill/>
          <a:ln/>
        </p:spPr>
        <p:txBody>
          <a:bodyPr wrap="square" lIns="0" tIns="0" rIns="0" bIns="0" rtlCol="0" anchor="t"/>
          <a:lstStyle/>
          <a:p>
            <a:pPr indent="0" marL="0">
              <a:buNone/>
            </a:pPr>
            <a:r>
              <a:rPr lang="en-US" sz="1500" dirty="0">
                <a:solidFill>
                  <a:schemeClr val="accent3"/>
                </a:solidFill>
              </a:rPr>
              <a:t>Adults are most ready to learn what they need for their role right now.</a:t>
            </a:r>
            <a:endParaRPr lang="en-US" sz="1500" dirty="0"/>
          </a:p>
        </p:txBody>
      </p:sp>
      <p:sp>
        <p:nvSpPr>
          <p:cNvPr id="20" name="Knowles 5"/>
          <p:cNvSpPr/>
          <p:nvPr/>
        </p:nvSpPr>
        <p:spPr>
          <a:xfrm>
            <a:off x="4297680" y="3794760"/>
            <a:ext cx="3566160" cy="2194560"/>
          </a:xfrm>
          <a:prstGeom prst="roundRect">
            <a:avLst>
              <a:gd name="adj" fmla="val 3333"/>
            </a:avLst>
          </a:prstGeom>
          <a:solidFill>
            <a:schemeClr val="bg2"/>
          </a:solidFill>
          <a:ln w="12700">
            <a:solidFill>
              <a:schemeClr val="bg2"/>
            </a:solidFill>
            <a:prstDash val="solid"/>
          </a:ln>
        </p:spPr>
      </p:sp>
      <p:sp>
        <p:nvSpPr>
          <p:cNvPr id="21" name="number 5"/>
          <p:cNvSpPr txBox="1"/>
          <p:nvPr/>
        </p:nvSpPr>
        <p:spPr>
          <a:xfrm>
            <a:off x="4572000" y="40690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19"/>
          <p:cNvSpPr txBox="1"/>
          <p:nvPr/>
        </p:nvSpPr>
        <p:spPr>
          <a:xfrm>
            <a:off x="5257800" y="4069080"/>
            <a:ext cx="2468880" cy="548640"/>
          </a:xfrm>
          <a:prstGeom prst="rect">
            <a:avLst/>
          </a:prstGeom>
          <a:noFill/>
          <a:ln/>
        </p:spPr>
        <p:txBody>
          <a:bodyPr wrap="square" lIns="0" tIns="0" rIns="0" bIns="0" rtlCol="0" anchor="ctr"/>
          <a:lstStyle/>
          <a:p>
            <a:pPr indent="0" marL="0">
              <a:buNone/>
            </a:pPr>
            <a:r>
              <a:rPr lang="en-US" sz="1900" b="1" dirty="0">
                <a:solidFill>
                  <a:schemeClr val="tx1"/>
                </a:solidFill>
              </a:rPr>
              <a:t>Problem-centred</a:t>
            </a:r>
            <a:endParaRPr lang="en-US" sz="1900" dirty="0"/>
          </a:p>
        </p:txBody>
      </p:sp>
      <p:sp>
        <p:nvSpPr>
          <p:cNvPr id="23" name="Text 20"/>
          <p:cNvSpPr txBox="1"/>
          <p:nvPr/>
        </p:nvSpPr>
        <p:spPr>
          <a:xfrm>
            <a:off x="4572000" y="4800600"/>
            <a:ext cx="3017520" cy="1005840"/>
          </a:xfrm>
          <a:prstGeom prst="rect">
            <a:avLst/>
          </a:prstGeom>
          <a:noFill/>
          <a:ln/>
        </p:spPr>
        <p:txBody>
          <a:bodyPr wrap="square" lIns="0" tIns="0" rIns="0" bIns="0" rtlCol="0" anchor="t"/>
          <a:lstStyle/>
          <a:p>
            <a:pPr indent="0" marL="0">
              <a:buNone/>
            </a:pPr>
            <a:r>
              <a:rPr lang="en-US" sz="1500" dirty="0">
                <a:solidFill>
                  <a:schemeClr val="accent3"/>
                </a:solidFill>
              </a:rPr>
              <a:t>Adults learn best by solving real problems, not by covering topics.</a:t>
            </a:r>
            <a:endParaRPr lang="en-US" sz="1500" dirty="0"/>
          </a:p>
        </p:txBody>
      </p:sp>
      <p:sp>
        <p:nvSpPr>
          <p:cNvPr id="24" name="Knowles 6"/>
          <p:cNvSpPr/>
          <p:nvPr/>
        </p:nvSpPr>
        <p:spPr>
          <a:xfrm>
            <a:off x="8046720" y="3794760"/>
            <a:ext cx="3566160" cy="2194560"/>
          </a:xfrm>
          <a:prstGeom prst="roundRect">
            <a:avLst>
              <a:gd name="adj" fmla="val 3333"/>
            </a:avLst>
          </a:prstGeom>
          <a:solidFill>
            <a:schemeClr val="bg2"/>
          </a:solidFill>
          <a:ln w="12700">
            <a:solidFill>
              <a:schemeClr val="bg2"/>
            </a:solidFill>
            <a:prstDash val="solid"/>
          </a:ln>
        </p:spPr>
      </p:sp>
      <p:sp>
        <p:nvSpPr>
          <p:cNvPr id="25" name="number 6"/>
          <p:cNvSpPr txBox="1"/>
          <p:nvPr/>
        </p:nvSpPr>
        <p:spPr>
          <a:xfrm>
            <a:off x="8321040" y="40690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6" name="Text 23"/>
          <p:cNvSpPr txBox="1"/>
          <p:nvPr/>
        </p:nvSpPr>
        <p:spPr>
          <a:xfrm>
            <a:off x="9006840" y="4069080"/>
            <a:ext cx="2468880" cy="548640"/>
          </a:xfrm>
          <a:prstGeom prst="rect">
            <a:avLst/>
          </a:prstGeom>
          <a:noFill/>
          <a:ln/>
        </p:spPr>
        <p:txBody>
          <a:bodyPr wrap="square" lIns="0" tIns="0" rIns="0" bIns="0" rtlCol="0" anchor="ctr"/>
          <a:lstStyle/>
          <a:p>
            <a:pPr indent="0" marL="0">
              <a:buNone/>
            </a:pPr>
            <a:r>
              <a:rPr lang="en-US" sz="1900" b="1" dirty="0">
                <a:solidFill>
                  <a:schemeClr val="tx1"/>
                </a:solidFill>
              </a:rPr>
              <a:t>Internal motivation</a:t>
            </a:r>
            <a:endParaRPr lang="en-US" sz="1900" dirty="0"/>
          </a:p>
        </p:txBody>
      </p:sp>
      <p:sp>
        <p:nvSpPr>
          <p:cNvPr id="27" name="Text 24"/>
          <p:cNvSpPr txBox="1"/>
          <p:nvPr/>
        </p:nvSpPr>
        <p:spPr>
          <a:xfrm>
            <a:off x="8321040" y="4800600"/>
            <a:ext cx="3017520" cy="1005840"/>
          </a:xfrm>
          <a:prstGeom prst="rect">
            <a:avLst/>
          </a:prstGeom>
          <a:noFill/>
          <a:ln/>
        </p:spPr>
        <p:txBody>
          <a:bodyPr wrap="square" lIns="0" tIns="0" rIns="0" bIns="0" rtlCol="0" anchor="t"/>
          <a:lstStyle/>
          <a:p>
            <a:pPr indent="0" marL="0">
              <a:buNone/>
            </a:pPr>
            <a:r>
              <a:rPr lang="en-US" sz="1500" dirty="0">
                <a:solidFill>
                  <a:schemeClr val="accent3"/>
                </a:solidFill>
              </a:rPr>
              <a:t>Adults are driven more by growth, confidence and autonomy than by external pressure.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Experiential learning: learn by doing, then reflect</a:t>
            </a:r>
            <a:endParaRPr lang="en-US" sz="3200" dirty="0"/>
          </a:p>
        </p:txBody>
      </p:sp>
      <p:sp>
        <p:nvSpPr>
          <p:cNvPr id="4" name="cycle ring"/>
          <p:cNvSpPr/>
          <p:nvPr/>
        </p:nvSpPr>
        <p:spPr>
          <a:xfrm>
            <a:off x="3566160" y="1965960"/>
            <a:ext cx="4480560" cy="3108960"/>
          </a:xfrm>
          <a:prstGeom prst="ellipse">
            <a:avLst/>
          </a:prstGeom>
          <a:solidFill>
            <a:schemeClr val="bg1"/>
          </a:solidFill>
          <a:ln w="38100">
            <a:solidFill>
              <a:schemeClr val="accent6"/>
            </a:solidFill>
            <a:prstDash val="dash"/>
          </a:ln>
        </p:spPr>
      </p:sp>
      <p:sp>
        <p:nvSpPr>
          <p:cNvPr id="5" name="Text 2"/>
          <p:cNvSpPr txBox="1"/>
          <p:nvPr/>
        </p:nvSpPr>
        <p:spPr>
          <a:xfrm>
            <a:off x="4434840" y="3246120"/>
            <a:ext cx="2743200" cy="548640"/>
          </a:xfrm>
          <a:prstGeom prst="rect">
            <a:avLst/>
          </a:prstGeom>
          <a:noFill/>
          <a:ln/>
        </p:spPr>
        <p:txBody>
          <a:bodyPr wrap="square" lIns="0" tIns="0" rIns="0" bIns="0" rtlCol="0" anchor="ctr"/>
          <a:lstStyle/>
          <a:p>
            <a:pPr algn="ctr" indent="0" marL="0">
              <a:buNone/>
            </a:pPr>
            <a:r>
              <a:rPr lang="en-US" sz="2000" b="1" dirty="0">
                <a:solidFill>
                  <a:schemeClr val="accent1"/>
                </a:solidFill>
              </a:rPr>
              <a:t>Kolb's cycle</a:t>
            </a:r>
            <a:endParaRPr lang="en-US" sz="2000" dirty="0"/>
          </a:p>
        </p:txBody>
      </p:sp>
      <p:sp>
        <p:nvSpPr>
          <p:cNvPr id="6" name="Concrete experience card"/>
          <p:cNvSpPr/>
          <p:nvPr/>
        </p:nvSpPr>
        <p:spPr>
          <a:xfrm>
            <a:off x="4251960" y="1371600"/>
            <a:ext cx="3108960" cy="1005840"/>
          </a:xfrm>
          <a:prstGeom prst="roundRect">
            <a:avLst>
              <a:gd name="adj" fmla="val 7273"/>
            </a:avLst>
          </a:prstGeom>
          <a:solidFill>
            <a:schemeClr val="tx2"/>
          </a:solidFill>
          <a:ln w="12700">
            <a:solidFill>
              <a:schemeClr val="tx2"/>
            </a:solidFill>
            <a:prstDash val="solid"/>
          </a:ln>
        </p:spPr>
      </p:sp>
      <p:sp>
        <p:nvSpPr>
          <p:cNvPr id="7" name="number 1"/>
          <p:cNvSpPr txBox="1"/>
          <p:nvPr/>
        </p:nvSpPr>
        <p:spPr>
          <a:xfrm>
            <a:off x="4434840" y="160020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5120640" y="1463040"/>
            <a:ext cx="2148840" cy="822960"/>
          </a:xfrm>
          <a:prstGeom prst="rect">
            <a:avLst/>
          </a:prstGeom>
          <a:noFill/>
          <a:ln/>
        </p:spPr>
        <p:txBody>
          <a:bodyPr wrap="square" lIns="0" tIns="0" rIns="0" bIns="0" rtlCol="0" anchor="ctr"/>
          <a:lstStyle/>
          <a:p>
            <a:pPr indent="0" marL="0">
              <a:buNone/>
            </a:pPr>
            <a:r>
              <a:rPr lang="en-US" sz="1600" b="1" dirty="0">
                <a:solidFill>
                  <a:schemeClr val="bg1"/>
                </a:solidFill>
              </a:rPr>
              <a:t>Concrete experience</a:t>
            </a:r>
            <a:endParaRPr lang="en-US" sz="1600" dirty="0"/>
          </a:p>
          <a:p>
            <a:pPr indent="0" marL="0">
              <a:buNone/>
            </a:pPr>
            <a:r>
              <a:rPr lang="en-US" sz="1400" dirty="0">
                <a:solidFill>
                  <a:schemeClr val="accent6"/>
                </a:solidFill>
              </a:rPr>
              <a:t>Do something real</a:t>
            </a:r>
            <a:endParaRPr lang="en-US" sz="1600" dirty="0"/>
          </a:p>
        </p:txBody>
      </p:sp>
      <p:sp>
        <p:nvSpPr>
          <p:cNvPr id="9" name="Reflective observation card"/>
          <p:cNvSpPr/>
          <p:nvPr/>
        </p:nvSpPr>
        <p:spPr>
          <a:xfrm>
            <a:off x="7315200" y="2926080"/>
            <a:ext cx="3108960" cy="1005840"/>
          </a:xfrm>
          <a:prstGeom prst="roundRect">
            <a:avLst>
              <a:gd name="adj" fmla="val 7273"/>
            </a:avLst>
          </a:prstGeom>
          <a:solidFill>
            <a:schemeClr val="bg2"/>
          </a:solidFill>
          <a:ln w="12700">
            <a:solidFill>
              <a:schemeClr val="bg2"/>
            </a:solidFill>
            <a:prstDash val="solid"/>
          </a:ln>
        </p:spPr>
      </p:sp>
      <p:sp>
        <p:nvSpPr>
          <p:cNvPr id="10" name="number 2"/>
          <p:cNvSpPr txBox="1"/>
          <p:nvPr/>
        </p:nvSpPr>
        <p:spPr>
          <a:xfrm>
            <a:off x="7498080" y="31546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8183880" y="3017520"/>
            <a:ext cx="2148840" cy="822960"/>
          </a:xfrm>
          <a:prstGeom prst="rect">
            <a:avLst/>
          </a:prstGeom>
          <a:noFill/>
          <a:ln/>
        </p:spPr>
        <p:txBody>
          <a:bodyPr wrap="square" lIns="0" tIns="0" rIns="0" bIns="0" rtlCol="0" anchor="ctr"/>
          <a:lstStyle/>
          <a:p>
            <a:pPr indent="0" marL="0">
              <a:buNone/>
            </a:pPr>
            <a:r>
              <a:rPr lang="en-US" sz="1600" b="1" dirty="0">
                <a:solidFill>
                  <a:schemeClr val="tx1"/>
                </a:solidFill>
              </a:rPr>
              <a:t>Reflective observation</a:t>
            </a:r>
            <a:endParaRPr lang="en-US" sz="1600" dirty="0"/>
          </a:p>
          <a:p>
            <a:pPr indent="0" marL="0">
              <a:buNone/>
            </a:pPr>
            <a:r>
              <a:rPr lang="en-US" sz="1400" dirty="0">
                <a:solidFill>
                  <a:schemeClr val="accent3"/>
                </a:solidFill>
              </a:rPr>
              <a:t>Think about what happened</a:t>
            </a:r>
            <a:endParaRPr lang="en-US" sz="1600" dirty="0"/>
          </a:p>
        </p:txBody>
      </p:sp>
      <p:sp>
        <p:nvSpPr>
          <p:cNvPr id="12" name="Abstract conceptualisation card"/>
          <p:cNvSpPr/>
          <p:nvPr/>
        </p:nvSpPr>
        <p:spPr>
          <a:xfrm>
            <a:off x="4251960" y="4480560"/>
            <a:ext cx="3108960" cy="1005840"/>
          </a:xfrm>
          <a:prstGeom prst="roundRect">
            <a:avLst>
              <a:gd name="adj" fmla="val 7273"/>
            </a:avLst>
          </a:prstGeom>
          <a:solidFill>
            <a:schemeClr val="bg2"/>
          </a:solidFill>
          <a:ln w="12700">
            <a:solidFill>
              <a:schemeClr val="bg2"/>
            </a:solidFill>
            <a:prstDash val="solid"/>
          </a:ln>
        </p:spPr>
      </p:sp>
      <p:sp>
        <p:nvSpPr>
          <p:cNvPr id="13" name="number 3"/>
          <p:cNvSpPr txBox="1"/>
          <p:nvPr/>
        </p:nvSpPr>
        <p:spPr>
          <a:xfrm>
            <a:off x="4434840" y="47091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1"/>
          <p:cNvSpPr txBox="1"/>
          <p:nvPr/>
        </p:nvSpPr>
        <p:spPr>
          <a:xfrm>
            <a:off x="5120640" y="4572000"/>
            <a:ext cx="2148840" cy="822960"/>
          </a:xfrm>
          <a:prstGeom prst="rect">
            <a:avLst/>
          </a:prstGeom>
          <a:noFill/>
          <a:ln/>
        </p:spPr>
        <p:txBody>
          <a:bodyPr wrap="square" lIns="0" tIns="0" rIns="0" bIns="0" rtlCol="0" anchor="ctr"/>
          <a:lstStyle/>
          <a:p>
            <a:pPr indent="0" marL="0">
              <a:buNone/>
            </a:pPr>
            <a:r>
              <a:rPr lang="en-US" sz="1600" b="1" dirty="0">
                <a:solidFill>
                  <a:schemeClr val="tx1"/>
                </a:solidFill>
              </a:rPr>
              <a:t>Abstract conceptualisation</a:t>
            </a:r>
            <a:endParaRPr lang="en-US" sz="1600" dirty="0"/>
          </a:p>
          <a:p>
            <a:pPr indent="0" marL="0">
              <a:buNone/>
            </a:pPr>
            <a:r>
              <a:rPr lang="en-US" sz="1400" dirty="0">
                <a:solidFill>
                  <a:schemeClr val="accent3"/>
                </a:solidFill>
              </a:rPr>
              <a:t>Draw the lesson</a:t>
            </a:r>
            <a:endParaRPr lang="en-US" sz="1600" dirty="0"/>
          </a:p>
        </p:txBody>
      </p:sp>
      <p:sp>
        <p:nvSpPr>
          <p:cNvPr id="15" name="Active experimentation card"/>
          <p:cNvSpPr/>
          <p:nvPr/>
        </p:nvSpPr>
        <p:spPr>
          <a:xfrm>
            <a:off x="1188720" y="2926080"/>
            <a:ext cx="3108960" cy="1005840"/>
          </a:xfrm>
          <a:prstGeom prst="roundRect">
            <a:avLst>
              <a:gd name="adj" fmla="val 7273"/>
            </a:avLst>
          </a:prstGeom>
          <a:solidFill>
            <a:schemeClr val="bg2"/>
          </a:solidFill>
          <a:ln w="12700">
            <a:solidFill>
              <a:schemeClr val="bg2"/>
            </a:solidFill>
            <a:prstDash val="solid"/>
          </a:ln>
        </p:spPr>
      </p:sp>
      <p:sp>
        <p:nvSpPr>
          <p:cNvPr id="16" name="number 4"/>
          <p:cNvSpPr txBox="1"/>
          <p:nvPr/>
        </p:nvSpPr>
        <p:spPr>
          <a:xfrm>
            <a:off x="1371600" y="31546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4"/>
          <p:cNvSpPr txBox="1"/>
          <p:nvPr/>
        </p:nvSpPr>
        <p:spPr>
          <a:xfrm>
            <a:off x="2057400" y="3017520"/>
            <a:ext cx="2148840" cy="822960"/>
          </a:xfrm>
          <a:prstGeom prst="rect">
            <a:avLst/>
          </a:prstGeom>
          <a:noFill/>
          <a:ln/>
        </p:spPr>
        <p:txBody>
          <a:bodyPr wrap="square" lIns="0" tIns="0" rIns="0" bIns="0" rtlCol="0" anchor="ctr"/>
          <a:lstStyle/>
          <a:p>
            <a:pPr indent="0" marL="0">
              <a:buNone/>
            </a:pPr>
            <a:r>
              <a:rPr lang="en-US" sz="1600" b="1" dirty="0">
                <a:solidFill>
                  <a:schemeClr val="tx1"/>
                </a:solidFill>
              </a:rPr>
              <a:t>Active experimentation</a:t>
            </a:r>
            <a:endParaRPr lang="en-US" sz="1600" dirty="0"/>
          </a:p>
          <a:p>
            <a:pPr indent="0" marL="0">
              <a:buNone/>
            </a:pPr>
            <a:r>
              <a:rPr lang="en-US" sz="1400" dirty="0">
                <a:solidFill>
                  <a:schemeClr val="accent3"/>
                </a:solidFill>
              </a:rPr>
              <a:t>Try it again, differently</a:t>
            </a:r>
            <a:endParaRPr lang="en-US" sz="1600" dirty="0"/>
          </a:p>
        </p:txBody>
      </p:sp>
      <p:sp>
        <p:nvSpPr>
          <p:cNvPr id="18" name="new hire note"/>
          <p:cNvSpPr/>
          <p:nvPr/>
        </p:nvSpPr>
        <p:spPr>
          <a:xfrm>
            <a:off x="8778240" y="4572000"/>
            <a:ext cx="2834640" cy="1463040"/>
          </a:xfrm>
          <a:prstGeom prst="roundRect">
            <a:avLst>
              <a:gd name="adj" fmla="val 5000"/>
            </a:avLst>
          </a:prstGeom>
          <a:solidFill>
            <a:schemeClr val="bg2"/>
          </a:solidFill>
          <a:ln w="12700">
            <a:solidFill>
              <a:schemeClr val="bg2"/>
            </a:solidFill>
            <a:prstDash val="solid"/>
          </a:ln>
        </p:spPr>
      </p:sp>
      <p:sp>
        <p:nvSpPr>
          <p:cNvPr id="19" name="Text 16"/>
          <p:cNvSpPr txBox="1"/>
          <p:nvPr/>
        </p:nvSpPr>
        <p:spPr>
          <a:xfrm>
            <a:off x="8961120" y="4663440"/>
            <a:ext cx="2514600" cy="1280160"/>
          </a:xfrm>
          <a:prstGeom prst="rect">
            <a:avLst/>
          </a:prstGeom>
          <a:noFill/>
          <a:ln/>
        </p:spPr>
        <p:txBody>
          <a:bodyPr wrap="square" lIns="0" tIns="0" rIns="0" bIns="0" rtlCol="0" anchor="ctr"/>
          <a:lstStyle/>
          <a:p>
            <a:pPr indent="0" marL="0">
              <a:buNone/>
            </a:pPr>
            <a:r>
              <a:rPr lang="en-US" sz="1400" b="1" dirty="0">
                <a:solidFill>
                  <a:schemeClr val="accent1"/>
                </a:solidFill>
              </a:rPr>
              <a:t>For new hires: </a:t>
            </a:r>
            <a:pPr indent="0" marL="0">
              <a:buNone/>
            </a:pPr>
            <a:r>
              <a:rPr lang="en-US" sz="1400" dirty="0">
                <a:solidFill>
                  <a:schemeClr val="tx1"/>
                </a:solidFill>
              </a:rPr>
              <a:t>real tasks, followed by reflection and feedback.</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forgetting curve: we forget fast</a:t>
            </a:r>
            <a:endParaRPr lang="en-US" sz="3200" dirty="0"/>
          </a:p>
        </p:txBody>
      </p:sp>
      <p:sp>
        <p:nvSpPr>
          <p:cNvPr id="4" name="curve card"/>
          <p:cNvSpPr/>
          <p:nvPr/>
        </p:nvSpPr>
        <p:spPr>
          <a:xfrm>
            <a:off x="548640" y="1463040"/>
            <a:ext cx="6766560" cy="4480560"/>
          </a:xfrm>
          <a:prstGeom prst="roundRect">
            <a:avLst>
              <a:gd name="adj" fmla="val 1633"/>
            </a:avLst>
          </a:prstGeom>
          <a:solidFill>
            <a:schemeClr val="bg2"/>
          </a:solidFill>
          <a:ln w="12700">
            <a:solidFill>
              <a:schemeClr val="bg2"/>
            </a:solidFill>
            <a:prstDash val="solid"/>
          </a:ln>
        </p:spPr>
      </p:sp>
      <p:graphicFrame>
        <p:nvGraphicFramePr>
          <p:cNvPr id="5" name="forgetting curve chart" descr=""/>
          <p:cNvGraphicFramePr/>
          <p:nvPr/>
        </p:nvGraphicFramePr>
        <p:xfrm>
          <a:off x="731520" y="1600200"/>
          <a:ext cx="6400800" cy="39319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31520" y="5532120"/>
            <a:ext cx="6400800" cy="320040"/>
          </a:xfrm>
          <a:prstGeom prst="rect">
            <a:avLst/>
          </a:prstGeom>
          <a:noFill/>
          <a:ln/>
        </p:spPr>
        <p:txBody>
          <a:bodyPr wrap="square" lIns="0" tIns="0" rIns="0" bIns="0" rtlCol="0" anchor="t"/>
          <a:lstStyle/>
          <a:p>
            <a:pPr indent="0" marL="0">
              <a:buNone/>
            </a:pPr>
            <a:r>
              <a:rPr lang="en-US" sz="1100" i="1" dirty="0">
                <a:solidFill>
                  <a:schemeClr val="accent3"/>
                </a:solidFill>
              </a:rPr>
              <a:t>Illustrative shape, not measured data.</a:t>
            </a:r>
            <a:endParaRPr lang="en-US" sz="1100" dirty="0"/>
          </a:p>
        </p:txBody>
      </p:sp>
      <p:sp>
        <p:nvSpPr>
          <p:cNvPr id="7" name="Text 3"/>
          <p:cNvSpPr txBox="1"/>
          <p:nvPr/>
        </p:nvSpPr>
        <p:spPr>
          <a:xfrm>
            <a:off x="7680960" y="1554480"/>
            <a:ext cx="3931920" cy="329184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What the research shows</a:t>
            </a:r>
            <a:endParaRPr lang="en-US" sz="1600" dirty="0"/>
          </a:p>
          <a:p>
            <a:pPr marL="342900" indent="-342900">
              <a:spcAft>
                <a:spcPts val="1000"/>
              </a:spcAft>
              <a:buSzPct val="100000"/>
              <a:buChar char="•"/>
            </a:pPr>
            <a:r>
              <a:rPr lang="en-US" sz="1600" dirty="0">
                <a:solidFill>
                  <a:schemeClr val="accent3"/>
                </a:solidFill>
              </a:rPr>
              <a:t>Without reinforcement, much of what's learned is lost within days.</a:t>
            </a:r>
            <a:endParaRPr lang="en-US" sz="1600" dirty="0"/>
          </a:p>
          <a:p>
            <a:pPr marL="342900" indent="-342900">
              <a:spcAft>
                <a:spcPts val="1000"/>
              </a:spcAft>
              <a:buSzPct val="100000"/>
              <a:buChar char="•"/>
            </a:pPr>
            <a:r>
              <a:rPr lang="en-US" sz="1600" dirty="0">
                <a:solidFill>
                  <a:schemeClr val="accent3"/>
                </a:solidFill>
              </a:rPr>
              <a:t>Revisiting material at spaced intervals improves long-term retention (the spacing effect).</a:t>
            </a:r>
            <a:endParaRPr lang="en-US" sz="1600" dirty="0"/>
          </a:p>
          <a:p>
            <a:pPr marL="342900" indent="-342900">
              <a:spcAft>
                <a:spcPts val="1000"/>
              </a:spcAft>
              <a:buSzPct val="100000"/>
              <a:buChar char="•"/>
            </a:pPr>
            <a:r>
              <a:rPr lang="en-US" sz="1600" dirty="0">
                <a:solidFill>
                  <a:schemeClr val="accent3"/>
                </a:solidFill>
              </a:rPr>
              <a:t>One-off sessions are the least effective way to make learning stick.</a:t>
            </a:r>
            <a:endParaRPr lang="en-US" sz="1600" dirty="0"/>
          </a:p>
        </p:txBody>
      </p:sp>
      <p:sp>
        <p:nvSpPr>
          <p:cNvPr id="8" name="new hire note"/>
          <p:cNvSpPr/>
          <p:nvPr/>
        </p:nvSpPr>
        <p:spPr>
          <a:xfrm>
            <a:off x="7680960" y="4846320"/>
            <a:ext cx="3931920" cy="1097280"/>
          </a:xfrm>
          <a:prstGeom prst="roundRect">
            <a:avLst>
              <a:gd name="adj" fmla="val 6667"/>
            </a:avLst>
          </a:prstGeom>
          <a:solidFill>
            <a:schemeClr val="tx2"/>
          </a:solidFill>
          <a:ln w="12700">
            <a:solidFill>
              <a:schemeClr val="tx2"/>
            </a:solidFill>
            <a:prstDash val="solid"/>
          </a:ln>
        </p:spPr>
      </p:sp>
      <p:sp>
        <p:nvSpPr>
          <p:cNvPr id="9" name="Text 5"/>
          <p:cNvSpPr txBox="1"/>
          <p:nvPr/>
        </p:nvSpPr>
        <p:spPr>
          <a:xfrm>
            <a:off x="7909560" y="4846320"/>
            <a:ext cx="3566160" cy="1097280"/>
          </a:xfrm>
          <a:prstGeom prst="rect">
            <a:avLst/>
          </a:prstGeom>
          <a:noFill/>
          <a:ln/>
        </p:spPr>
        <p:txBody>
          <a:bodyPr wrap="square" lIns="0" tIns="0" rIns="0" bIns="0" rtlCol="0" anchor="ctr"/>
          <a:lstStyle/>
          <a:p>
            <a:pPr indent="0" marL="0">
              <a:buNone/>
            </a:pPr>
            <a:r>
              <a:rPr lang="en-US" sz="1500" b="1" dirty="0">
                <a:solidFill>
                  <a:schemeClr val="accent2"/>
                </a:solidFill>
              </a:rPr>
              <a:t>For new hires: </a:t>
            </a:r>
            <a:pPr indent="0" marL="0">
              <a:buNone/>
            </a:pPr>
            <a:r>
              <a:rPr lang="en-US" sz="1500" dirty="0">
                <a:solidFill>
                  <a:schemeClr val="bg1"/>
                </a:solidFill>
              </a:rPr>
              <a:t>revisit key content over weeks, not one long session.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Practice beats presentation</a:t>
            </a:r>
            <a:endParaRPr lang="en-US" sz="3200" dirty="0"/>
          </a:p>
        </p:txBody>
      </p:sp>
      <p:sp>
        <p:nvSpPr>
          <p:cNvPr id="4" name="Retrieval practice card"/>
          <p:cNvSpPr/>
          <p:nvPr/>
        </p:nvSpPr>
        <p:spPr>
          <a:xfrm>
            <a:off x="548640" y="1463040"/>
            <a:ext cx="5440680" cy="4480560"/>
          </a:xfrm>
          <a:prstGeom prst="roundRect">
            <a:avLst>
              <a:gd name="adj" fmla="val 1633"/>
            </a:avLst>
          </a:prstGeom>
          <a:solidFill>
            <a:schemeClr val="bg2"/>
          </a:solidFill>
          <a:ln w="12700">
            <a:solidFill>
              <a:schemeClr val="bg2"/>
            </a:solidFill>
            <a:prstDash val="solid"/>
          </a:ln>
        </p:spPr>
      </p:sp>
      <p:sp>
        <p:nvSpPr>
          <p:cNvPr id="5" name="Retrieval practice icon circle"/>
          <p:cNvSpPr/>
          <p:nvPr/>
        </p:nvSpPr>
        <p:spPr>
          <a:xfrm>
            <a:off x="914400" y="1783080"/>
            <a:ext cx="822960" cy="822960"/>
          </a:xfrm>
          <a:prstGeom prst="ellipse">
            <a:avLst/>
          </a:prstGeom>
          <a:solidFill>
            <a:schemeClr val="accent1"/>
          </a:solidFill>
          <a:ln w="12700">
            <a:solidFill>
              <a:schemeClr val="accent1"/>
            </a:solidFill>
            <a:prstDash val="solid"/>
          </a:ln>
        </p:spPr>
      </p:sp>
      <p:pic>
        <p:nvPicPr>
          <p:cNvPr id="6" name="Retrieval practice icon" descr="Retrieval practice icon">    </p:cNvPr>
          <p:cNvPicPr>
            <a:picLocks noChangeAspect="1"/>
          </p:cNvPicPr>
          <p:nvPr/>
        </p:nvPicPr>
        <p:blipFill>
          <a:blip r:embed="rId1"/>
          <a:stretch>
            <a:fillRect/>
          </a:stretch>
        </p:blipFill>
        <p:spPr>
          <a:xfrm>
            <a:off x="1120140" y="1988820"/>
            <a:ext cx="411480" cy="411480"/>
          </a:xfrm>
          <a:prstGeom prst="rect">
            <a:avLst/>
          </a:prstGeom>
        </p:spPr>
      </p:pic>
      <p:sp>
        <p:nvSpPr>
          <p:cNvPr id="7" name="Text 3"/>
          <p:cNvSpPr txBox="1"/>
          <p:nvPr/>
        </p:nvSpPr>
        <p:spPr>
          <a:xfrm>
            <a:off x="914400" y="2788920"/>
            <a:ext cx="4663440" cy="548640"/>
          </a:xfrm>
          <a:prstGeom prst="rect">
            <a:avLst/>
          </a:prstGeom>
          <a:noFill/>
          <a:ln/>
        </p:spPr>
        <p:txBody>
          <a:bodyPr wrap="square" lIns="0" tIns="0" rIns="0" bIns="0" rtlCol="0" anchor="t"/>
          <a:lstStyle/>
          <a:p>
            <a:pPr indent="0" marL="0">
              <a:buNone/>
            </a:pPr>
            <a:r>
              <a:rPr lang="en-US" sz="2400" b="1" dirty="0">
                <a:solidFill>
                  <a:schemeClr val="tx1"/>
                </a:solidFill>
              </a:rPr>
              <a:t>Retrieval practice</a:t>
            </a:r>
            <a:endParaRPr lang="en-US" sz="2400" dirty="0"/>
          </a:p>
        </p:txBody>
      </p:sp>
      <p:sp>
        <p:nvSpPr>
          <p:cNvPr id="8" name="Text 4"/>
          <p:cNvSpPr txBox="1"/>
          <p:nvPr/>
        </p:nvSpPr>
        <p:spPr>
          <a:xfrm>
            <a:off x="914400" y="3383280"/>
            <a:ext cx="4663440" cy="1097280"/>
          </a:xfrm>
          <a:prstGeom prst="rect">
            <a:avLst/>
          </a:prstGeom>
          <a:noFill/>
          <a:ln/>
        </p:spPr>
        <p:txBody>
          <a:bodyPr wrap="square" lIns="0" tIns="0" rIns="0" bIns="0" rtlCol="0" anchor="t"/>
          <a:lstStyle/>
          <a:p>
            <a:pPr indent="0" marL="0">
              <a:buNone/>
            </a:pPr>
            <a:r>
              <a:rPr lang="en-US" sz="1700" dirty="0">
                <a:solidFill>
                  <a:schemeClr val="accent3"/>
                </a:solidFill>
              </a:rPr>
              <a:t>Recalling information from memory strengthens it far more than re-reading or re-watching.</a:t>
            </a:r>
            <a:endParaRPr lang="en-US" sz="1700" dirty="0"/>
          </a:p>
        </p:txBody>
      </p:sp>
      <p:sp>
        <p:nvSpPr>
          <p:cNvPr id="9" name="Text 5"/>
          <p:cNvSpPr txBox="1"/>
          <p:nvPr/>
        </p:nvSpPr>
        <p:spPr>
          <a:xfrm>
            <a:off x="914400" y="4663440"/>
            <a:ext cx="4663440" cy="914400"/>
          </a:xfrm>
          <a:prstGeom prst="rect">
            <a:avLst/>
          </a:prstGeom>
          <a:noFill/>
          <a:ln/>
        </p:spPr>
        <p:txBody>
          <a:bodyPr wrap="square" lIns="0" tIns="0" rIns="0" bIns="0" rtlCol="0" anchor="t"/>
          <a:lstStyle/>
          <a:p>
            <a:pPr indent="0" marL="0">
              <a:buNone/>
            </a:pPr>
            <a:r>
              <a:rPr lang="en-US" sz="1600" b="1" dirty="0">
                <a:solidFill>
                  <a:schemeClr val="accent1"/>
                </a:solidFill>
              </a:rPr>
              <a:t>Looks like: </a:t>
            </a:r>
            <a:pPr indent="0" marL="0">
              <a:buNone/>
            </a:pPr>
            <a:r>
              <a:rPr lang="en-US" sz="1600" dirty="0">
                <a:solidFill>
                  <a:schemeClr val="tx1"/>
                </a:solidFill>
              </a:rPr>
              <a:t>Quizzes, explain-it-back, flashcards</a:t>
            </a:r>
            <a:endParaRPr lang="en-US" sz="1600" dirty="0"/>
          </a:p>
        </p:txBody>
      </p:sp>
      <p:sp>
        <p:nvSpPr>
          <p:cNvPr id="10" name="Deliberate practice card"/>
          <p:cNvSpPr/>
          <p:nvPr/>
        </p:nvSpPr>
        <p:spPr>
          <a:xfrm>
            <a:off x="6172200" y="1463040"/>
            <a:ext cx="5440680" cy="4480560"/>
          </a:xfrm>
          <a:prstGeom prst="roundRect">
            <a:avLst>
              <a:gd name="adj" fmla="val 1633"/>
            </a:avLst>
          </a:prstGeom>
          <a:solidFill>
            <a:schemeClr val="bg2"/>
          </a:solidFill>
          <a:ln w="12700">
            <a:solidFill>
              <a:schemeClr val="bg2"/>
            </a:solidFill>
            <a:prstDash val="solid"/>
          </a:ln>
        </p:spPr>
      </p:sp>
      <p:sp>
        <p:nvSpPr>
          <p:cNvPr id="11" name="Deliberate practice icon circle"/>
          <p:cNvSpPr/>
          <p:nvPr/>
        </p:nvSpPr>
        <p:spPr>
          <a:xfrm>
            <a:off x="6537960" y="1783080"/>
            <a:ext cx="822960" cy="822960"/>
          </a:xfrm>
          <a:prstGeom prst="ellipse">
            <a:avLst/>
          </a:prstGeom>
          <a:solidFill>
            <a:schemeClr val="accent1"/>
          </a:solidFill>
          <a:ln w="12700">
            <a:solidFill>
              <a:schemeClr val="accent1"/>
            </a:solidFill>
            <a:prstDash val="solid"/>
          </a:ln>
        </p:spPr>
      </p:sp>
      <p:pic>
        <p:nvPicPr>
          <p:cNvPr id="12" name="Deliberate practice icon" descr="Deliberate practice icon">    </p:cNvPr>
          <p:cNvPicPr>
            <a:picLocks noChangeAspect="1"/>
          </p:cNvPicPr>
          <p:nvPr/>
        </p:nvPicPr>
        <p:blipFill>
          <a:blip r:embed="rId2"/>
          <a:stretch>
            <a:fillRect/>
          </a:stretch>
        </p:blipFill>
        <p:spPr>
          <a:xfrm>
            <a:off x="6743700" y="1988820"/>
            <a:ext cx="411480" cy="411480"/>
          </a:xfrm>
          <a:prstGeom prst="rect">
            <a:avLst/>
          </a:prstGeom>
        </p:spPr>
      </p:pic>
      <p:sp>
        <p:nvSpPr>
          <p:cNvPr id="13" name="Text 8"/>
          <p:cNvSpPr txBox="1"/>
          <p:nvPr/>
        </p:nvSpPr>
        <p:spPr>
          <a:xfrm>
            <a:off x="6537960" y="2788920"/>
            <a:ext cx="4663440" cy="548640"/>
          </a:xfrm>
          <a:prstGeom prst="rect">
            <a:avLst/>
          </a:prstGeom>
          <a:noFill/>
          <a:ln/>
        </p:spPr>
        <p:txBody>
          <a:bodyPr wrap="square" lIns="0" tIns="0" rIns="0" bIns="0" rtlCol="0" anchor="t"/>
          <a:lstStyle/>
          <a:p>
            <a:pPr indent="0" marL="0">
              <a:buNone/>
            </a:pPr>
            <a:r>
              <a:rPr lang="en-US" sz="2400" b="1" dirty="0">
                <a:solidFill>
                  <a:schemeClr val="tx1"/>
                </a:solidFill>
              </a:rPr>
              <a:t>Deliberate practice</a:t>
            </a:r>
            <a:endParaRPr lang="en-US" sz="2400" dirty="0"/>
          </a:p>
        </p:txBody>
      </p:sp>
      <p:sp>
        <p:nvSpPr>
          <p:cNvPr id="14" name="Text 9"/>
          <p:cNvSpPr txBox="1"/>
          <p:nvPr/>
        </p:nvSpPr>
        <p:spPr>
          <a:xfrm>
            <a:off x="6537960" y="3383280"/>
            <a:ext cx="4663440" cy="1097280"/>
          </a:xfrm>
          <a:prstGeom prst="rect">
            <a:avLst/>
          </a:prstGeom>
          <a:noFill/>
          <a:ln/>
        </p:spPr>
        <p:txBody>
          <a:bodyPr wrap="square" lIns="0" tIns="0" rIns="0" bIns="0" rtlCol="0" anchor="t"/>
          <a:lstStyle/>
          <a:p>
            <a:pPr indent="0" marL="0">
              <a:buNone/>
            </a:pPr>
            <a:r>
              <a:rPr lang="en-US" sz="1700" dirty="0">
                <a:solidFill>
                  <a:schemeClr val="accent3"/>
                </a:solidFill>
              </a:rPr>
              <a:t>Skills grow through focused practice on specific areas, with immediate feedback.</a:t>
            </a:r>
            <a:endParaRPr lang="en-US" sz="1700" dirty="0"/>
          </a:p>
        </p:txBody>
      </p:sp>
      <p:sp>
        <p:nvSpPr>
          <p:cNvPr id="15" name="Text 10"/>
          <p:cNvSpPr txBox="1"/>
          <p:nvPr/>
        </p:nvSpPr>
        <p:spPr>
          <a:xfrm>
            <a:off x="6537960" y="4663440"/>
            <a:ext cx="4663440" cy="914400"/>
          </a:xfrm>
          <a:prstGeom prst="rect">
            <a:avLst/>
          </a:prstGeom>
          <a:noFill/>
          <a:ln/>
        </p:spPr>
        <p:txBody>
          <a:bodyPr wrap="square" lIns="0" tIns="0" rIns="0" bIns="0" rtlCol="0" anchor="t"/>
          <a:lstStyle/>
          <a:p>
            <a:pPr indent="0" marL="0">
              <a:buNone/>
            </a:pPr>
            <a:r>
              <a:rPr lang="en-US" sz="1600" b="1" dirty="0">
                <a:solidFill>
                  <a:schemeClr val="accent1"/>
                </a:solidFill>
              </a:rPr>
              <a:t>Looks like: </a:t>
            </a:r>
            <a:pPr indent="0" marL="0">
              <a:buNone/>
            </a:pPr>
            <a:r>
              <a:rPr lang="en-US" sz="1600" dirty="0">
                <a:solidFill>
                  <a:schemeClr val="tx1"/>
                </a:solidFill>
              </a:rPr>
              <a:t>Role-plays, practice calls, feedback on one skill at a time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Cognitive load: there's a limit to what people can take in</a:t>
            </a:r>
            <a:endParaRPr lang="en-US" sz="3200" dirty="0"/>
          </a:p>
        </p:txBody>
      </p:sp>
      <p:sp>
        <p:nvSpPr>
          <p:cNvPr id="4" name="Text 1"/>
          <p:cNvSpPr txBox="1"/>
          <p:nvPr/>
        </p:nvSpPr>
        <p:spPr>
          <a:xfrm>
            <a:off x="548640" y="1554480"/>
            <a:ext cx="4754880" cy="2743200"/>
          </a:xfrm>
          <a:prstGeom prst="rect">
            <a:avLst/>
          </a:prstGeom>
          <a:noFill/>
          <a:ln/>
        </p:spPr>
        <p:txBody>
          <a:bodyPr wrap="square" lIns="0" tIns="0" rIns="0" bIns="0" rtlCol="0" anchor="t"/>
          <a:lstStyle/>
          <a:p>
            <a:pPr indent="0" marL="0">
              <a:buNone/>
            </a:pPr>
            <a:r>
              <a:rPr lang="en-US" sz="2400" b="1" dirty="0">
                <a:solidFill>
                  <a:schemeClr val="tx1"/>
                </a:solidFill>
              </a:rPr>
              <a:t>Working memory is limited.</a:t>
            </a:r>
            <a:endParaRPr lang="en-US" sz="2400" dirty="0"/>
          </a:p>
          <a:p>
            <a:pPr indent="0" marL="0">
              <a:buNone/>
            </a:pPr>
            <a:r>
              <a:rPr lang="en-US" sz="1000" dirty="0">
                <a:solidFill>
                  <a:srgbClr val="000000"/>
                </a:solidFill>
              </a:rPr>
              <a:t> </a:t>
            </a:r>
            <a:endParaRPr lang="en-US" sz="2400" dirty="0"/>
          </a:p>
          <a:p>
            <a:pPr indent="0" marL="0">
              <a:buNone/>
            </a:pPr>
            <a:r>
              <a:rPr lang="en-US" sz="1800" dirty="0">
                <a:solidFill>
                  <a:schemeClr val="accent3"/>
                </a:solidFill>
              </a:rPr>
              <a:t>People can only process a few new pieces of information at once. Overload it and learning stops.</a:t>
            </a:r>
            <a:endParaRPr lang="en-US" sz="2400" dirty="0"/>
          </a:p>
        </p:txBody>
      </p:sp>
      <p:sp>
        <p:nvSpPr>
          <p:cNvPr id="5" name="new hire note"/>
          <p:cNvSpPr/>
          <p:nvPr/>
        </p:nvSpPr>
        <p:spPr>
          <a:xfrm>
            <a:off x="548640" y="3749040"/>
            <a:ext cx="4754880" cy="1371600"/>
          </a:xfrm>
          <a:prstGeom prst="roundRect">
            <a:avLst>
              <a:gd name="adj" fmla="val 5333"/>
            </a:avLst>
          </a:prstGeom>
          <a:solidFill>
            <a:schemeClr val="tx2"/>
          </a:solidFill>
          <a:ln w="12700">
            <a:solidFill>
              <a:schemeClr val="tx2"/>
            </a:solidFill>
            <a:prstDash val="solid"/>
          </a:ln>
        </p:spPr>
      </p:sp>
      <p:sp>
        <p:nvSpPr>
          <p:cNvPr id="6" name="Text 3"/>
          <p:cNvSpPr txBox="1"/>
          <p:nvPr/>
        </p:nvSpPr>
        <p:spPr>
          <a:xfrm>
            <a:off x="777240" y="3749040"/>
            <a:ext cx="4389120" cy="1371600"/>
          </a:xfrm>
          <a:prstGeom prst="rect">
            <a:avLst/>
          </a:prstGeom>
          <a:noFill/>
          <a:ln/>
        </p:spPr>
        <p:txBody>
          <a:bodyPr wrap="square" lIns="0" tIns="0" rIns="0" bIns="0" rtlCol="0" anchor="ctr"/>
          <a:lstStyle/>
          <a:p>
            <a:pPr indent="0" marL="0">
              <a:buNone/>
            </a:pPr>
            <a:r>
              <a:rPr lang="en-US" sz="1600" b="1" dirty="0">
                <a:solidFill>
                  <a:schemeClr val="accent2"/>
                </a:solidFill>
              </a:rPr>
              <a:t>For new hires: </a:t>
            </a:r>
            <a:pPr indent="0" marL="0">
              <a:buNone/>
            </a:pPr>
            <a:r>
              <a:rPr lang="en-US" sz="1600" dirty="0">
                <a:solidFill>
                  <a:schemeClr val="bg1"/>
                </a:solidFill>
              </a:rPr>
              <a:t>fewer topics at a time, in short chunks, building from basics.</a:t>
            </a:r>
            <a:endParaRPr lang="en-US" sz="1600" dirty="0"/>
          </a:p>
        </p:txBody>
      </p:sp>
      <p:sp>
        <p:nvSpPr>
          <p:cNvPr id="7" name="Intrinsic load card"/>
          <p:cNvSpPr/>
          <p:nvPr/>
        </p:nvSpPr>
        <p:spPr>
          <a:xfrm>
            <a:off x="5760720" y="1463040"/>
            <a:ext cx="5852160" cy="1371600"/>
          </a:xfrm>
          <a:prstGeom prst="roundRect">
            <a:avLst>
              <a:gd name="adj" fmla="val 5333"/>
            </a:avLst>
          </a:prstGeom>
          <a:solidFill>
            <a:schemeClr val="bg2"/>
          </a:solidFill>
          <a:ln w="12700">
            <a:solidFill>
              <a:schemeClr val="bg2"/>
            </a:solidFill>
            <a:prstDash val="solid"/>
          </a:ln>
        </p:spPr>
      </p:sp>
      <p:sp>
        <p:nvSpPr>
          <p:cNvPr id="8" name="number 1"/>
          <p:cNvSpPr txBox="1"/>
          <p:nvPr/>
        </p:nvSpPr>
        <p:spPr>
          <a:xfrm>
            <a:off x="5989320" y="18745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6766560" y="1554480"/>
            <a:ext cx="4663440" cy="1188720"/>
          </a:xfrm>
          <a:prstGeom prst="rect">
            <a:avLst/>
          </a:prstGeom>
          <a:noFill/>
          <a:ln/>
        </p:spPr>
        <p:txBody>
          <a:bodyPr wrap="square" lIns="0" tIns="0" rIns="0" bIns="0" rtlCol="0" anchor="ctr"/>
          <a:lstStyle/>
          <a:p>
            <a:pPr indent="0" marL="0">
              <a:buNone/>
            </a:pPr>
            <a:r>
              <a:rPr lang="en-US" sz="1500" b="1" dirty="0">
                <a:solidFill>
                  <a:schemeClr val="tx1"/>
                </a:solidFill>
              </a:rPr>
              <a:t>Intrinsic load: </a:t>
            </a:r>
            <a:pPr indent="0" marL="0">
              <a:buNone/>
            </a:pPr>
            <a:r>
              <a:rPr lang="en-US" sz="1500" dirty="0">
                <a:solidFill>
                  <a:schemeClr val="accent3"/>
                </a:solidFill>
              </a:rPr>
              <a:t>How complex the subject itself is</a:t>
            </a:r>
            <a:endParaRPr lang="en-US" sz="1500" dirty="0"/>
          </a:p>
          <a:p>
            <a:pPr indent="0" marL="0">
              <a:buNone/>
            </a:pPr>
            <a:r>
              <a:rPr lang="en-US" sz="1500" b="1" dirty="0">
                <a:solidFill>
                  <a:schemeClr val="accent1"/>
                </a:solidFill>
              </a:rPr>
              <a:t>Break complex topics into steps</a:t>
            </a:r>
            <a:endParaRPr lang="en-US" sz="1500" dirty="0"/>
          </a:p>
        </p:txBody>
      </p:sp>
      <p:sp>
        <p:nvSpPr>
          <p:cNvPr id="10" name="Extraneous load card"/>
          <p:cNvSpPr/>
          <p:nvPr/>
        </p:nvSpPr>
        <p:spPr>
          <a:xfrm>
            <a:off x="5760720" y="3017520"/>
            <a:ext cx="5852160" cy="1371600"/>
          </a:xfrm>
          <a:prstGeom prst="roundRect">
            <a:avLst>
              <a:gd name="adj" fmla="val 5333"/>
            </a:avLst>
          </a:prstGeom>
          <a:solidFill>
            <a:schemeClr val="bg2"/>
          </a:solidFill>
          <a:ln w="12700">
            <a:solidFill>
              <a:schemeClr val="bg2"/>
            </a:solidFill>
            <a:prstDash val="solid"/>
          </a:ln>
        </p:spPr>
      </p:sp>
      <p:sp>
        <p:nvSpPr>
          <p:cNvPr id="11" name="number 2"/>
          <p:cNvSpPr txBox="1"/>
          <p:nvPr/>
        </p:nvSpPr>
        <p:spPr>
          <a:xfrm>
            <a:off x="5989320" y="342900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6766560" y="3108960"/>
            <a:ext cx="4663440" cy="1188720"/>
          </a:xfrm>
          <a:prstGeom prst="rect">
            <a:avLst/>
          </a:prstGeom>
          <a:noFill/>
          <a:ln/>
        </p:spPr>
        <p:txBody>
          <a:bodyPr wrap="square" lIns="0" tIns="0" rIns="0" bIns="0" rtlCol="0" anchor="ctr"/>
          <a:lstStyle/>
          <a:p>
            <a:pPr indent="0" marL="0">
              <a:buNone/>
            </a:pPr>
            <a:r>
              <a:rPr lang="en-US" sz="1500" b="1" dirty="0">
                <a:solidFill>
                  <a:schemeClr val="tx1"/>
                </a:solidFill>
              </a:rPr>
              <a:t>Extraneous load: </a:t>
            </a:r>
            <a:pPr indent="0" marL="0">
              <a:buNone/>
            </a:pPr>
            <a:r>
              <a:rPr lang="en-US" sz="1500" dirty="0">
                <a:solidFill>
                  <a:schemeClr val="accent3"/>
                </a:solidFill>
              </a:rPr>
              <a:t>Effort wasted on poor design or clutter</a:t>
            </a:r>
            <a:endParaRPr lang="en-US" sz="1500" dirty="0"/>
          </a:p>
          <a:p>
            <a:pPr indent="0" marL="0">
              <a:buNone/>
            </a:pPr>
            <a:r>
              <a:rPr lang="en-US" sz="1500" b="1" dirty="0">
                <a:solidFill>
                  <a:schemeClr val="accent1"/>
                </a:solidFill>
              </a:rPr>
              <a:t>Keep materials simple and focused</a:t>
            </a:r>
            <a:endParaRPr lang="en-US" sz="1500" dirty="0"/>
          </a:p>
        </p:txBody>
      </p:sp>
      <p:sp>
        <p:nvSpPr>
          <p:cNvPr id="13" name="Germane load card"/>
          <p:cNvSpPr/>
          <p:nvPr/>
        </p:nvSpPr>
        <p:spPr>
          <a:xfrm>
            <a:off x="5760720" y="4572000"/>
            <a:ext cx="5852160" cy="1371600"/>
          </a:xfrm>
          <a:prstGeom prst="roundRect">
            <a:avLst>
              <a:gd name="adj" fmla="val 5333"/>
            </a:avLst>
          </a:prstGeom>
          <a:solidFill>
            <a:schemeClr val="bg2"/>
          </a:solidFill>
          <a:ln w="12700">
            <a:solidFill>
              <a:schemeClr val="bg2"/>
            </a:solidFill>
            <a:prstDash val="solid"/>
          </a:ln>
        </p:spPr>
      </p:sp>
      <p:sp>
        <p:nvSpPr>
          <p:cNvPr id="14" name="number 3"/>
          <p:cNvSpPr txBox="1"/>
          <p:nvPr/>
        </p:nvSpPr>
        <p:spPr>
          <a:xfrm>
            <a:off x="5989320" y="49834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6766560" y="4663440"/>
            <a:ext cx="4663440" cy="1188720"/>
          </a:xfrm>
          <a:prstGeom prst="rect">
            <a:avLst/>
          </a:prstGeom>
          <a:noFill/>
          <a:ln/>
        </p:spPr>
        <p:txBody>
          <a:bodyPr wrap="square" lIns="0" tIns="0" rIns="0" bIns="0" rtlCol="0" anchor="ctr"/>
          <a:lstStyle/>
          <a:p>
            <a:pPr indent="0" marL="0">
              <a:buNone/>
            </a:pPr>
            <a:r>
              <a:rPr lang="en-US" sz="1500" b="1" dirty="0">
                <a:solidFill>
                  <a:schemeClr val="tx1"/>
                </a:solidFill>
              </a:rPr>
              <a:t>Germane load: </a:t>
            </a:r>
            <a:pPr indent="0" marL="0">
              <a:buNone/>
            </a:pPr>
            <a:r>
              <a:rPr lang="en-US" sz="1500" dirty="0">
                <a:solidFill>
                  <a:schemeClr val="accent3"/>
                </a:solidFill>
              </a:rPr>
              <a:t>Effort spent actually building understanding</a:t>
            </a:r>
            <a:endParaRPr lang="en-US" sz="1500" dirty="0"/>
          </a:p>
          <a:p>
            <a:pPr indent="0" marL="0">
              <a:buNone/>
            </a:pPr>
            <a:r>
              <a:rPr lang="en-US" sz="1500" b="1" dirty="0">
                <a:solidFill>
                  <a:schemeClr val="accent1"/>
                </a:solidFill>
              </a:rPr>
              <a:t>Use examples and practice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Social learning: people learn by watching others</a:t>
            </a:r>
            <a:endParaRPr lang="en-US" sz="3200" dirty="0"/>
          </a:p>
        </p:txBody>
      </p:sp>
      <p:sp>
        <p:nvSpPr>
          <p:cNvPr id="4" name="Text 1"/>
          <p:cNvSpPr txBox="1"/>
          <p:nvPr/>
        </p:nvSpPr>
        <p:spPr>
          <a:xfrm>
            <a:off x="548640" y="1371600"/>
            <a:ext cx="7315200" cy="411480"/>
          </a:xfrm>
          <a:prstGeom prst="rect">
            <a:avLst/>
          </a:prstGeom>
          <a:noFill/>
          <a:ln/>
        </p:spPr>
        <p:txBody>
          <a:bodyPr wrap="square" lIns="0" tIns="0" rIns="0" bIns="0" rtlCol="0" anchor="t"/>
          <a:lstStyle/>
          <a:p>
            <a:pPr indent="0" marL="0">
              <a:buNone/>
            </a:pPr>
            <a:r>
              <a:rPr lang="en-US" sz="1800" b="1" dirty="0">
                <a:solidFill>
                  <a:schemeClr val="tx1"/>
                </a:solidFill>
              </a:rPr>
              <a:t>Bandura's four steps</a:t>
            </a:r>
            <a:endParaRPr lang="en-US" sz="1800" dirty="0"/>
          </a:p>
        </p:txBody>
      </p:sp>
      <p:sp>
        <p:nvSpPr>
          <p:cNvPr id="5" name="Attention card"/>
          <p:cNvSpPr/>
          <p:nvPr/>
        </p:nvSpPr>
        <p:spPr>
          <a:xfrm>
            <a:off x="548640" y="1874520"/>
            <a:ext cx="2560320" cy="1920240"/>
          </a:xfrm>
          <a:prstGeom prst="roundRect">
            <a:avLst>
              <a:gd name="adj" fmla="val 3810"/>
            </a:avLst>
          </a:prstGeom>
          <a:solidFill>
            <a:schemeClr val="bg2"/>
          </a:solidFill>
          <a:ln w="12700">
            <a:solidFill>
              <a:schemeClr val="bg2"/>
            </a:solidFill>
            <a:prstDash val="solid"/>
          </a:ln>
        </p:spPr>
      </p:sp>
      <p:sp>
        <p:nvSpPr>
          <p:cNvPr id="6" name="Attention icon circle"/>
          <p:cNvSpPr/>
          <p:nvPr/>
        </p:nvSpPr>
        <p:spPr>
          <a:xfrm>
            <a:off x="822960" y="2103120"/>
            <a:ext cx="640080" cy="640080"/>
          </a:xfrm>
          <a:prstGeom prst="ellipse">
            <a:avLst/>
          </a:prstGeom>
          <a:solidFill>
            <a:schemeClr val="accent1"/>
          </a:solidFill>
          <a:ln w="12700">
            <a:solidFill>
              <a:schemeClr val="accent1"/>
            </a:solidFill>
            <a:prstDash val="solid"/>
          </a:ln>
        </p:spPr>
      </p:sp>
      <p:pic>
        <p:nvPicPr>
          <p:cNvPr id="7" name="Attention icon" descr="Attention icon">    </p:cNvPr>
          <p:cNvPicPr>
            <a:picLocks noChangeAspect="1"/>
          </p:cNvPicPr>
          <p:nvPr/>
        </p:nvPicPr>
        <p:blipFill>
          <a:blip r:embed="rId1"/>
          <a:stretch>
            <a:fillRect/>
          </a:stretch>
        </p:blipFill>
        <p:spPr>
          <a:xfrm>
            <a:off x="982980" y="2263140"/>
            <a:ext cx="320040" cy="320040"/>
          </a:xfrm>
          <a:prstGeom prst="rect">
            <a:avLst/>
          </a:prstGeom>
        </p:spPr>
      </p:pic>
      <p:sp>
        <p:nvSpPr>
          <p:cNvPr id="8" name="Text 4"/>
          <p:cNvSpPr txBox="1"/>
          <p:nvPr/>
        </p:nvSpPr>
        <p:spPr>
          <a:xfrm>
            <a:off x="822960" y="2834640"/>
            <a:ext cx="2103120" cy="822960"/>
          </a:xfrm>
          <a:prstGeom prst="rect">
            <a:avLst/>
          </a:prstGeom>
          <a:noFill/>
          <a:ln/>
        </p:spPr>
        <p:txBody>
          <a:bodyPr wrap="square" lIns="0" tIns="0" rIns="0" bIns="0" rtlCol="0" anchor="t"/>
          <a:lstStyle/>
          <a:p>
            <a:pPr indent="0" marL="0">
              <a:buNone/>
            </a:pPr>
            <a:r>
              <a:rPr lang="en-US" sz="1800" b="1" dirty="0">
                <a:solidFill>
                  <a:schemeClr val="tx1"/>
                </a:solidFill>
              </a:rPr>
              <a:t>Attention</a:t>
            </a:r>
            <a:endParaRPr lang="en-US" sz="1800" dirty="0"/>
          </a:p>
          <a:p>
            <a:pPr indent="0" marL="0">
              <a:buNone/>
            </a:pPr>
            <a:r>
              <a:rPr lang="en-US" sz="1400" dirty="0">
                <a:solidFill>
                  <a:schemeClr val="accent3"/>
                </a:solidFill>
              </a:rPr>
              <a:t>Notice the behaviour</a:t>
            </a:r>
            <a:endParaRPr lang="en-US" sz="1800" dirty="0"/>
          </a:p>
        </p:txBody>
      </p:sp>
      <p:sp>
        <p:nvSpPr>
          <p:cNvPr id="9" name="arrow 1"/>
          <p:cNvSpPr/>
          <p:nvPr/>
        </p:nvSpPr>
        <p:spPr>
          <a:xfrm>
            <a:off x="3163824" y="2651760"/>
            <a:ext cx="164592" cy="365760"/>
          </a:xfrm>
          <a:prstGeom prst="chevron">
            <a:avLst/>
          </a:prstGeom>
          <a:solidFill>
            <a:schemeClr val="accent3"/>
          </a:solidFill>
          <a:ln w="12700">
            <a:solidFill>
              <a:schemeClr val="accent3"/>
            </a:solidFill>
            <a:prstDash val="solid"/>
          </a:ln>
        </p:spPr>
      </p:sp>
      <p:sp>
        <p:nvSpPr>
          <p:cNvPr id="10" name="Retention card"/>
          <p:cNvSpPr/>
          <p:nvPr/>
        </p:nvSpPr>
        <p:spPr>
          <a:xfrm>
            <a:off x="3383280" y="1874520"/>
            <a:ext cx="2560320" cy="1920240"/>
          </a:xfrm>
          <a:prstGeom prst="roundRect">
            <a:avLst>
              <a:gd name="adj" fmla="val 3810"/>
            </a:avLst>
          </a:prstGeom>
          <a:solidFill>
            <a:schemeClr val="bg2"/>
          </a:solidFill>
          <a:ln w="12700">
            <a:solidFill>
              <a:schemeClr val="bg2"/>
            </a:solidFill>
            <a:prstDash val="solid"/>
          </a:ln>
        </p:spPr>
      </p:sp>
      <p:sp>
        <p:nvSpPr>
          <p:cNvPr id="11" name="Retention icon circle"/>
          <p:cNvSpPr/>
          <p:nvPr/>
        </p:nvSpPr>
        <p:spPr>
          <a:xfrm>
            <a:off x="3657600" y="2103120"/>
            <a:ext cx="640080" cy="640080"/>
          </a:xfrm>
          <a:prstGeom prst="ellipse">
            <a:avLst/>
          </a:prstGeom>
          <a:solidFill>
            <a:schemeClr val="accent1"/>
          </a:solidFill>
          <a:ln w="12700">
            <a:solidFill>
              <a:schemeClr val="accent1"/>
            </a:solidFill>
            <a:prstDash val="solid"/>
          </a:ln>
        </p:spPr>
      </p:sp>
      <p:pic>
        <p:nvPicPr>
          <p:cNvPr id="12" name="Retention icon" descr="Retention icon">    </p:cNvPr>
          <p:cNvPicPr>
            <a:picLocks noChangeAspect="1"/>
          </p:cNvPicPr>
          <p:nvPr/>
        </p:nvPicPr>
        <p:blipFill>
          <a:blip r:embed="rId2"/>
          <a:stretch>
            <a:fillRect/>
          </a:stretch>
        </p:blipFill>
        <p:spPr>
          <a:xfrm>
            <a:off x="3817620" y="2263140"/>
            <a:ext cx="320040" cy="320040"/>
          </a:xfrm>
          <a:prstGeom prst="rect">
            <a:avLst/>
          </a:prstGeom>
        </p:spPr>
      </p:pic>
      <p:sp>
        <p:nvSpPr>
          <p:cNvPr id="13" name="Text 8"/>
          <p:cNvSpPr txBox="1"/>
          <p:nvPr/>
        </p:nvSpPr>
        <p:spPr>
          <a:xfrm>
            <a:off x="3657600" y="2834640"/>
            <a:ext cx="2103120" cy="822960"/>
          </a:xfrm>
          <a:prstGeom prst="rect">
            <a:avLst/>
          </a:prstGeom>
          <a:noFill/>
          <a:ln/>
        </p:spPr>
        <p:txBody>
          <a:bodyPr wrap="square" lIns="0" tIns="0" rIns="0" bIns="0" rtlCol="0" anchor="t"/>
          <a:lstStyle/>
          <a:p>
            <a:pPr indent="0" marL="0">
              <a:buNone/>
            </a:pPr>
            <a:r>
              <a:rPr lang="en-US" sz="1800" b="1" dirty="0">
                <a:solidFill>
                  <a:schemeClr val="tx1"/>
                </a:solidFill>
              </a:rPr>
              <a:t>Retention</a:t>
            </a:r>
            <a:endParaRPr lang="en-US" sz="1800" dirty="0"/>
          </a:p>
          <a:p>
            <a:pPr indent="0" marL="0">
              <a:buNone/>
            </a:pPr>
            <a:r>
              <a:rPr lang="en-US" sz="1400" dirty="0">
                <a:solidFill>
                  <a:schemeClr val="accent3"/>
                </a:solidFill>
              </a:rPr>
              <a:t>Remember it</a:t>
            </a:r>
            <a:endParaRPr lang="en-US" sz="1800" dirty="0"/>
          </a:p>
        </p:txBody>
      </p:sp>
      <p:sp>
        <p:nvSpPr>
          <p:cNvPr id="14" name="arrow 2"/>
          <p:cNvSpPr/>
          <p:nvPr/>
        </p:nvSpPr>
        <p:spPr>
          <a:xfrm>
            <a:off x="5998464" y="2651760"/>
            <a:ext cx="164592" cy="365760"/>
          </a:xfrm>
          <a:prstGeom prst="chevron">
            <a:avLst/>
          </a:prstGeom>
          <a:solidFill>
            <a:schemeClr val="accent3"/>
          </a:solidFill>
          <a:ln w="12700">
            <a:solidFill>
              <a:schemeClr val="accent3"/>
            </a:solidFill>
            <a:prstDash val="solid"/>
          </a:ln>
        </p:spPr>
      </p:sp>
      <p:sp>
        <p:nvSpPr>
          <p:cNvPr id="15" name="Reproduction card"/>
          <p:cNvSpPr/>
          <p:nvPr/>
        </p:nvSpPr>
        <p:spPr>
          <a:xfrm>
            <a:off x="6217920" y="1874520"/>
            <a:ext cx="2560320" cy="1920240"/>
          </a:xfrm>
          <a:prstGeom prst="roundRect">
            <a:avLst>
              <a:gd name="adj" fmla="val 3810"/>
            </a:avLst>
          </a:prstGeom>
          <a:solidFill>
            <a:schemeClr val="bg2"/>
          </a:solidFill>
          <a:ln w="12700">
            <a:solidFill>
              <a:schemeClr val="bg2"/>
            </a:solidFill>
            <a:prstDash val="solid"/>
          </a:ln>
        </p:spPr>
      </p:sp>
      <p:sp>
        <p:nvSpPr>
          <p:cNvPr id="16" name="Reproduction icon circle"/>
          <p:cNvSpPr/>
          <p:nvPr/>
        </p:nvSpPr>
        <p:spPr>
          <a:xfrm>
            <a:off x="6492240" y="2103120"/>
            <a:ext cx="640080" cy="640080"/>
          </a:xfrm>
          <a:prstGeom prst="ellipse">
            <a:avLst/>
          </a:prstGeom>
          <a:solidFill>
            <a:schemeClr val="accent1"/>
          </a:solidFill>
          <a:ln w="12700">
            <a:solidFill>
              <a:schemeClr val="accent1"/>
            </a:solidFill>
            <a:prstDash val="solid"/>
          </a:ln>
        </p:spPr>
      </p:sp>
      <p:pic>
        <p:nvPicPr>
          <p:cNvPr id="17" name="Reproduction icon" descr="Reproduction icon">    </p:cNvPr>
          <p:cNvPicPr>
            <a:picLocks noChangeAspect="1"/>
          </p:cNvPicPr>
          <p:nvPr/>
        </p:nvPicPr>
        <p:blipFill>
          <a:blip r:embed="rId3"/>
          <a:stretch>
            <a:fillRect/>
          </a:stretch>
        </p:blipFill>
        <p:spPr>
          <a:xfrm>
            <a:off x="6652260" y="2263140"/>
            <a:ext cx="320040" cy="320040"/>
          </a:xfrm>
          <a:prstGeom prst="rect">
            <a:avLst/>
          </a:prstGeom>
        </p:spPr>
      </p:pic>
      <p:sp>
        <p:nvSpPr>
          <p:cNvPr id="18" name="Text 12"/>
          <p:cNvSpPr txBox="1"/>
          <p:nvPr/>
        </p:nvSpPr>
        <p:spPr>
          <a:xfrm>
            <a:off x="6492240" y="2834640"/>
            <a:ext cx="2103120" cy="822960"/>
          </a:xfrm>
          <a:prstGeom prst="rect">
            <a:avLst/>
          </a:prstGeom>
          <a:noFill/>
          <a:ln/>
        </p:spPr>
        <p:txBody>
          <a:bodyPr wrap="square" lIns="0" tIns="0" rIns="0" bIns="0" rtlCol="0" anchor="t"/>
          <a:lstStyle/>
          <a:p>
            <a:pPr indent="0" marL="0">
              <a:buNone/>
            </a:pPr>
            <a:r>
              <a:rPr lang="en-US" sz="1800" b="1" dirty="0">
                <a:solidFill>
                  <a:schemeClr val="tx1"/>
                </a:solidFill>
              </a:rPr>
              <a:t>Reproduction</a:t>
            </a:r>
            <a:endParaRPr lang="en-US" sz="1800" dirty="0"/>
          </a:p>
          <a:p>
            <a:pPr indent="0" marL="0">
              <a:buNone/>
            </a:pPr>
            <a:r>
              <a:rPr lang="en-US" sz="1400" dirty="0">
                <a:solidFill>
                  <a:schemeClr val="accent3"/>
                </a:solidFill>
              </a:rPr>
              <a:t>Try it yourself</a:t>
            </a:r>
            <a:endParaRPr lang="en-US" sz="1800" dirty="0"/>
          </a:p>
        </p:txBody>
      </p:sp>
      <p:sp>
        <p:nvSpPr>
          <p:cNvPr id="19" name="arrow 3"/>
          <p:cNvSpPr/>
          <p:nvPr/>
        </p:nvSpPr>
        <p:spPr>
          <a:xfrm>
            <a:off x="8833104" y="2651760"/>
            <a:ext cx="164592" cy="365760"/>
          </a:xfrm>
          <a:prstGeom prst="chevron">
            <a:avLst/>
          </a:prstGeom>
          <a:solidFill>
            <a:schemeClr val="accent3"/>
          </a:solidFill>
          <a:ln w="12700">
            <a:solidFill>
              <a:schemeClr val="accent3"/>
            </a:solidFill>
            <a:prstDash val="solid"/>
          </a:ln>
        </p:spPr>
      </p:sp>
      <p:sp>
        <p:nvSpPr>
          <p:cNvPr id="20" name="Motivation card"/>
          <p:cNvSpPr/>
          <p:nvPr/>
        </p:nvSpPr>
        <p:spPr>
          <a:xfrm>
            <a:off x="9052560" y="1874520"/>
            <a:ext cx="2560320" cy="1920240"/>
          </a:xfrm>
          <a:prstGeom prst="roundRect">
            <a:avLst>
              <a:gd name="adj" fmla="val 3810"/>
            </a:avLst>
          </a:prstGeom>
          <a:solidFill>
            <a:schemeClr val="bg2"/>
          </a:solidFill>
          <a:ln w="12700">
            <a:solidFill>
              <a:schemeClr val="bg2"/>
            </a:solidFill>
            <a:prstDash val="solid"/>
          </a:ln>
        </p:spPr>
      </p:sp>
      <p:sp>
        <p:nvSpPr>
          <p:cNvPr id="21" name="Motivation icon circle"/>
          <p:cNvSpPr/>
          <p:nvPr/>
        </p:nvSpPr>
        <p:spPr>
          <a:xfrm>
            <a:off x="9326880" y="2103120"/>
            <a:ext cx="640080" cy="640080"/>
          </a:xfrm>
          <a:prstGeom prst="ellipse">
            <a:avLst/>
          </a:prstGeom>
          <a:solidFill>
            <a:schemeClr val="accent1"/>
          </a:solidFill>
          <a:ln w="12700">
            <a:solidFill>
              <a:schemeClr val="accent1"/>
            </a:solidFill>
            <a:prstDash val="solid"/>
          </a:ln>
        </p:spPr>
      </p:sp>
      <p:pic>
        <p:nvPicPr>
          <p:cNvPr id="22" name="Motivation icon" descr="Motivation icon">    </p:cNvPr>
          <p:cNvPicPr>
            <a:picLocks noChangeAspect="1"/>
          </p:cNvPicPr>
          <p:nvPr/>
        </p:nvPicPr>
        <p:blipFill>
          <a:blip r:embed="rId4"/>
          <a:stretch>
            <a:fillRect/>
          </a:stretch>
        </p:blipFill>
        <p:spPr>
          <a:xfrm>
            <a:off x="9486900" y="2263140"/>
            <a:ext cx="320040" cy="320040"/>
          </a:xfrm>
          <a:prstGeom prst="rect">
            <a:avLst/>
          </a:prstGeom>
        </p:spPr>
      </p:pic>
      <p:sp>
        <p:nvSpPr>
          <p:cNvPr id="23" name="Text 16"/>
          <p:cNvSpPr txBox="1"/>
          <p:nvPr/>
        </p:nvSpPr>
        <p:spPr>
          <a:xfrm>
            <a:off x="9326880" y="2834640"/>
            <a:ext cx="2103120" cy="822960"/>
          </a:xfrm>
          <a:prstGeom prst="rect">
            <a:avLst/>
          </a:prstGeom>
          <a:noFill/>
          <a:ln/>
        </p:spPr>
        <p:txBody>
          <a:bodyPr wrap="square" lIns="0" tIns="0" rIns="0" bIns="0" rtlCol="0" anchor="t"/>
          <a:lstStyle/>
          <a:p>
            <a:pPr indent="0" marL="0">
              <a:buNone/>
            </a:pPr>
            <a:r>
              <a:rPr lang="en-US" sz="1800" b="1" dirty="0">
                <a:solidFill>
                  <a:schemeClr val="tx1"/>
                </a:solidFill>
              </a:rPr>
              <a:t>Motivation</a:t>
            </a:r>
            <a:endParaRPr lang="en-US" sz="1800" dirty="0"/>
          </a:p>
          <a:p>
            <a:pPr indent="0" marL="0">
              <a:buNone/>
            </a:pPr>
            <a:r>
              <a:rPr lang="en-US" sz="1400" dirty="0">
                <a:solidFill>
                  <a:schemeClr val="accent3"/>
                </a:solidFill>
              </a:rPr>
              <a:t>Want to repeat it</a:t>
            </a:r>
            <a:endParaRPr lang="en-US" sz="1800" dirty="0"/>
          </a:p>
        </p:txBody>
      </p:sp>
      <p:sp>
        <p:nvSpPr>
          <p:cNvPr id="24" name="70-20-10 card"/>
          <p:cNvSpPr/>
          <p:nvPr/>
        </p:nvSpPr>
        <p:spPr>
          <a:xfrm>
            <a:off x="548640" y="4069080"/>
            <a:ext cx="11064240" cy="1920240"/>
          </a:xfrm>
          <a:prstGeom prst="roundRect">
            <a:avLst>
              <a:gd name="adj" fmla="val 3810"/>
            </a:avLst>
          </a:prstGeom>
          <a:solidFill>
            <a:schemeClr val="tx2"/>
          </a:solidFill>
          <a:ln w="12700">
            <a:solidFill>
              <a:schemeClr val="tx2"/>
            </a:solidFill>
            <a:prstDash val="solid"/>
          </a:ln>
        </p:spPr>
      </p:sp>
      <p:sp>
        <p:nvSpPr>
          <p:cNvPr id="25" name="Text 18"/>
          <p:cNvSpPr txBox="1"/>
          <p:nvPr/>
        </p:nvSpPr>
        <p:spPr>
          <a:xfrm>
            <a:off x="822960" y="4251960"/>
            <a:ext cx="3291840" cy="731520"/>
          </a:xfrm>
          <a:prstGeom prst="rect">
            <a:avLst/>
          </a:prstGeom>
          <a:noFill/>
          <a:ln/>
        </p:spPr>
        <p:txBody>
          <a:bodyPr wrap="square" lIns="0" tIns="0" rIns="0" bIns="0" rtlCol="0" anchor="ctr"/>
          <a:lstStyle/>
          <a:p>
            <a:pPr indent="0" marL="0">
              <a:buNone/>
            </a:pPr>
            <a:r>
              <a:rPr lang="en-US" sz="3000" b="1" dirty="0">
                <a:solidFill>
                  <a:schemeClr val="accent6"/>
                </a:solidFill>
              </a:rPr>
              <a:t>70% </a:t>
            </a:r>
            <a:pPr indent="0" marL="0">
              <a:buNone/>
            </a:pPr>
            <a:r>
              <a:rPr lang="en-US" sz="1600" dirty="0">
                <a:solidFill>
                  <a:schemeClr val="bg1"/>
                </a:solidFill>
              </a:rPr>
              <a:t>on the job</a:t>
            </a:r>
            <a:endParaRPr lang="en-US" sz="3000" dirty="0"/>
          </a:p>
        </p:txBody>
      </p:sp>
      <p:sp>
        <p:nvSpPr>
          <p:cNvPr id="26" name="Text 19"/>
          <p:cNvSpPr txBox="1"/>
          <p:nvPr/>
        </p:nvSpPr>
        <p:spPr>
          <a:xfrm>
            <a:off x="4297680" y="4251960"/>
            <a:ext cx="3291840" cy="731520"/>
          </a:xfrm>
          <a:prstGeom prst="rect">
            <a:avLst/>
          </a:prstGeom>
          <a:noFill/>
          <a:ln/>
        </p:spPr>
        <p:txBody>
          <a:bodyPr wrap="square" lIns="0" tIns="0" rIns="0" bIns="0" rtlCol="0" anchor="ctr"/>
          <a:lstStyle/>
          <a:p>
            <a:pPr indent="0" marL="0">
              <a:buNone/>
            </a:pPr>
            <a:r>
              <a:rPr lang="en-US" sz="3000" b="1" dirty="0">
                <a:solidFill>
                  <a:schemeClr val="accent6"/>
                </a:solidFill>
              </a:rPr>
              <a:t>20% </a:t>
            </a:r>
            <a:pPr indent="0" marL="0">
              <a:buNone/>
            </a:pPr>
            <a:r>
              <a:rPr lang="en-US" sz="1600" dirty="0">
                <a:solidFill>
                  <a:schemeClr val="bg1"/>
                </a:solidFill>
              </a:rPr>
              <a:t>through others</a:t>
            </a:r>
            <a:endParaRPr lang="en-US" sz="3000" dirty="0"/>
          </a:p>
        </p:txBody>
      </p:sp>
      <p:sp>
        <p:nvSpPr>
          <p:cNvPr id="27" name="Text 20"/>
          <p:cNvSpPr txBox="1"/>
          <p:nvPr/>
        </p:nvSpPr>
        <p:spPr>
          <a:xfrm>
            <a:off x="7772400" y="4251960"/>
            <a:ext cx="3291840" cy="731520"/>
          </a:xfrm>
          <a:prstGeom prst="rect">
            <a:avLst/>
          </a:prstGeom>
          <a:noFill/>
          <a:ln/>
        </p:spPr>
        <p:txBody>
          <a:bodyPr wrap="square" lIns="0" tIns="0" rIns="0" bIns="0" rtlCol="0" anchor="ctr"/>
          <a:lstStyle/>
          <a:p>
            <a:pPr indent="0" marL="0">
              <a:buNone/>
            </a:pPr>
            <a:r>
              <a:rPr lang="en-US" sz="3000" b="1" dirty="0">
                <a:solidFill>
                  <a:schemeClr val="accent6"/>
                </a:solidFill>
              </a:rPr>
              <a:t>10% </a:t>
            </a:r>
            <a:pPr indent="0" marL="0">
              <a:buNone/>
            </a:pPr>
            <a:r>
              <a:rPr lang="en-US" sz="1600" dirty="0">
                <a:solidFill>
                  <a:schemeClr val="bg1"/>
                </a:solidFill>
              </a:rPr>
              <a:t>formal training</a:t>
            </a:r>
            <a:endParaRPr lang="en-US" sz="3000" dirty="0"/>
          </a:p>
        </p:txBody>
      </p:sp>
      <p:sp>
        <p:nvSpPr>
          <p:cNvPr id="28" name="Text 21"/>
          <p:cNvSpPr txBox="1"/>
          <p:nvPr/>
        </p:nvSpPr>
        <p:spPr>
          <a:xfrm>
            <a:off x="822960" y="5029200"/>
            <a:ext cx="10515600" cy="822960"/>
          </a:xfrm>
          <a:prstGeom prst="rect">
            <a:avLst/>
          </a:prstGeom>
          <a:noFill/>
          <a:ln/>
        </p:spPr>
        <p:txBody>
          <a:bodyPr wrap="square" lIns="0" tIns="0" rIns="0" bIns="0" rtlCol="0" anchor="ctr"/>
          <a:lstStyle/>
          <a:p>
            <a:pPr indent="0" marL="0">
              <a:buNone/>
            </a:pPr>
            <a:r>
              <a:rPr lang="en-US" sz="1500" b="1" dirty="0">
                <a:solidFill>
                  <a:schemeClr val="accent2"/>
                </a:solidFill>
              </a:rPr>
              <a:t>70-20-10 </a:t>
            </a:r>
            <a:pPr indent="0" marL="0">
              <a:buNone/>
            </a:pPr>
            <a:r>
              <a:rPr lang="en-US" sz="1500" dirty="0">
                <a:solidFill>
                  <a:schemeClr val="bg1"/>
                </a:solidFill>
              </a:rPr>
              <a:t>is a rule of thumb, not a precise ratio. New hires learn most from real work, peers and watching experienced colleagues.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this means for how new hires learn</a:t>
            </a:r>
            <a:endParaRPr lang="en-US" sz="3200" dirty="0"/>
          </a:p>
        </p:txBody>
      </p:sp>
      <p:sp>
        <p:nvSpPr>
          <p:cNvPr id="4" name="Relevant card"/>
          <p:cNvSpPr/>
          <p:nvPr/>
        </p:nvSpPr>
        <p:spPr>
          <a:xfrm>
            <a:off x="548640" y="1463040"/>
            <a:ext cx="3566160" cy="2103120"/>
          </a:xfrm>
          <a:prstGeom prst="roundRect">
            <a:avLst>
              <a:gd name="adj" fmla="val 3478"/>
            </a:avLst>
          </a:prstGeom>
          <a:solidFill>
            <a:schemeClr val="bg2"/>
          </a:solidFill>
          <a:ln w="12700">
            <a:solidFill>
              <a:schemeClr val="bg2"/>
            </a:solidFill>
            <a:prstDash val="solid"/>
          </a:ln>
        </p:spPr>
      </p:sp>
      <p:sp>
        <p:nvSpPr>
          <p:cNvPr id="5" name="Relevant icon circle"/>
          <p:cNvSpPr/>
          <p:nvPr/>
        </p:nvSpPr>
        <p:spPr>
          <a:xfrm>
            <a:off x="822960" y="1737360"/>
            <a:ext cx="548640" cy="548640"/>
          </a:xfrm>
          <a:prstGeom prst="ellipse">
            <a:avLst/>
          </a:prstGeom>
          <a:solidFill>
            <a:schemeClr val="accent1"/>
          </a:solidFill>
          <a:ln w="12700">
            <a:solidFill>
              <a:schemeClr val="accent1"/>
            </a:solidFill>
            <a:prstDash val="solid"/>
          </a:ln>
        </p:spPr>
      </p:sp>
      <p:pic>
        <p:nvPicPr>
          <p:cNvPr id="6" name="Relevant icon" descr="Relevant icon">    </p:cNvPr>
          <p:cNvPicPr>
            <a:picLocks noChangeAspect="1"/>
          </p:cNvPicPr>
          <p:nvPr/>
        </p:nvPicPr>
        <p:blipFill>
          <a:blip r:embed="rId1"/>
          <a:stretch>
            <a:fillRect/>
          </a:stretch>
        </p:blipFill>
        <p:spPr>
          <a:xfrm>
            <a:off x="960120" y="1874520"/>
            <a:ext cx="274320" cy="274320"/>
          </a:xfrm>
          <a:prstGeom prst="rect">
            <a:avLst/>
          </a:prstGeom>
        </p:spPr>
      </p:pic>
      <p:sp>
        <p:nvSpPr>
          <p:cNvPr id="7" name="Text 3"/>
          <p:cNvSpPr txBox="1"/>
          <p:nvPr/>
        </p:nvSpPr>
        <p:spPr>
          <a:xfrm>
            <a:off x="1508760" y="1737360"/>
            <a:ext cx="2468880" cy="548640"/>
          </a:xfrm>
          <a:prstGeom prst="rect">
            <a:avLst/>
          </a:prstGeom>
          <a:noFill/>
          <a:ln/>
        </p:spPr>
        <p:txBody>
          <a:bodyPr wrap="square" lIns="0" tIns="0" rIns="0" bIns="0" rtlCol="0" anchor="ctr"/>
          <a:lstStyle/>
          <a:p>
            <a:pPr indent="0" marL="0">
              <a:buNone/>
            </a:pPr>
            <a:r>
              <a:rPr lang="en-US" sz="2200" b="1" dirty="0">
                <a:solidFill>
                  <a:schemeClr val="tx1"/>
                </a:solidFill>
              </a:rPr>
              <a:t>Relevant</a:t>
            </a:r>
            <a:endParaRPr lang="en-US" sz="2200" dirty="0"/>
          </a:p>
        </p:txBody>
      </p:sp>
      <p:sp>
        <p:nvSpPr>
          <p:cNvPr id="8" name="Text 4"/>
          <p:cNvSpPr txBox="1"/>
          <p:nvPr/>
        </p:nvSpPr>
        <p:spPr>
          <a:xfrm>
            <a:off x="822960" y="2423160"/>
            <a:ext cx="3017520" cy="685800"/>
          </a:xfrm>
          <a:prstGeom prst="rect">
            <a:avLst/>
          </a:prstGeom>
          <a:noFill/>
          <a:ln/>
        </p:spPr>
        <p:txBody>
          <a:bodyPr wrap="square" lIns="0" tIns="0" rIns="0" bIns="0" rtlCol="0" anchor="t"/>
          <a:lstStyle/>
          <a:p>
            <a:pPr indent="0" marL="0">
              <a:buNone/>
            </a:pPr>
            <a:r>
              <a:rPr lang="en-US" sz="1600" dirty="0">
                <a:solidFill>
                  <a:schemeClr val="tx1"/>
                </a:solidFill>
              </a:rPr>
              <a:t>Show why it matters to their role first</a:t>
            </a:r>
            <a:endParaRPr lang="en-US" sz="1600" dirty="0"/>
          </a:p>
        </p:txBody>
      </p:sp>
      <p:sp>
        <p:nvSpPr>
          <p:cNvPr id="9" name="Text 5"/>
          <p:cNvSpPr txBox="1"/>
          <p:nvPr/>
        </p:nvSpPr>
        <p:spPr>
          <a:xfrm>
            <a:off x="822960" y="3108960"/>
            <a:ext cx="3017520" cy="320040"/>
          </a:xfrm>
          <a:prstGeom prst="rect">
            <a:avLst/>
          </a:prstGeom>
          <a:noFill/>
          <a:ln/>
        </p:spPr>
        <p:txBody>
          <a:bodyPr wrap="square" lIns="0" tIns="0" rIns="0" bIns="0" rtlCol="0" anchor="t"/>
          <a:lstStyle/>
          <a:p>
            <a:pPr indent="0" marL="0">
              <a:buNone/>
            </a:pPr>
            <a:r>
              <a:rPr lang="en-US" sz="1200" i="1" dirty="0">
                <a:solidFill>
                  <a:schemeClr val="accent3"/>
                </a:solidFill>
              </a:rPr>
              <a:t>Knowles</a:t>
            </a:r>
            <a:endParaRPr lang="en-US" sz="1200" dirty="0"/>
          </a:p>
        </p:txBody>
      </p:sp>
      <p:sp>
        <p:nvSpPr>
          <p:cNvPr id="10" name="Hands-on card"/>
          <p:cNvSpPr/>
          <p:nvPr/>
        </p:nvSpPr>
        <p:spPr>
          <a:xfrm>
            <a:off x="4297680" y="1463040"/>
            <a:ext cx="3566160" cy="2103120"/>
          </a:xfrm>
          <a:prstGeom prst="roundRect">
            <a:avLst>
              <a:gd name="adj" fmla="val 3478"/>
            </a:avLst>
          </a:prstGeom>
          <a:solidFill>
            <a:schemeClr val="bg2"/>
          </a:solidFill>
          <a:ln w="12700">
            <a:solidFill>
              <a:schemeClr val="bg2"/>
            </a:solidFill>
            <a:prstDash val="solid"/>
          </a:ln>
        </p:spPr>
      </p:sp>
      <p:sp>
        <p:nvSpPr>
          <p:cNvPr id="11" name="Hands-on icon circle"/>
          <p:cNvSpPr/>
          <p:nvPr/>
        </p:nvSpPr>
        <p:spPr>
          <a:xfrm>
            <a:off x="4572000" y="1737360"/>
            <a:ext cx="548640" cy="548640"/>
          </a:xfrm>
          <a:prstGeom prst="ellipse">
            <a:avLst/>
          </a:prstGeom>
          <a:solidFill>
            <a:schemeClr val="accent1"/>
          </a:solidFill>
          <a:ln w="12700">
            <a:solidFill>
              <a:schemeClr val="accent1"/>
            </a:solidFill>
            <a:prstDash val="solid"/>
          </a:ln>
        </p:spPr>
      </p:sp>
      <p:pic>
        <p:nvPicPr>
          <p:cNvPr id="12" name="Hands-on icon" descr="Hands-on icon">    </p:cNvPr>
          <p:cNvPicPr>
            <a:picLocks noChangeAspect="1"/>
          </p:cNvPicPr>
          <p:nvPr/>
        </p:nvPicPr>
        <p:blipFill>
          <a:blip r:embed="rId2"/>
          <a:stretch>
            <a:fillRect/>
          </a:stretch>
        </p:blipFill>
        <p:spPr>
          <a:xfrm>
            <a:off x="4709160" y="1874520"/>
            <a:ext cx="274320" cy="274320"/>
          </a:xfrm>
          <a:prstGeom prst="rect">
            <a:avLst/>
          </a:prstGeom>
        </p:spPr>
      </p:pic>
      <p:sp>
        <p:nvSpPr>
          <p:cNvPr id="13" name="Text 8"/>
          <p:cNvSpPr txBox="1"/>
          <p:nvPr/>
        </p:nvSpPr>
        <p:spPr>
          <a:xfrm>
            <a:off x="5257800" y="1737360"/>
            <a:ext cx="2468880" cy="548640"/>
          </a:xfrm>
          <a:prstGeom prst="rect">
            <a:avLst/>
          </a:prstGeom>
          <a:noFill/>
          <a:ln/>
        </p:spPr>
        <p:txBody>
          <a:bodyPr wrap="square" lIns="0" tIns="0" rIns="0" bIns="0" rtlCol="0" anchor="ctr"/>
          <a:lstStyle/>
          <a:p>
            <a:pPr indent="0" marL="0">
              <a:buNone/>
            </a:pPr>
            <a:r>
              <a:rPr lang="en-US" sz="2200" b="1" dirty="0">
                <a:solidFill>
                  <a:schemeClr val="tx1"/>
                </a:solidFill>
              </a:rPr>
              <a:t>Hands-on</a:t>
            </a:r>
            <a:endParaRPr lang="en-US" sz="2200" dirty="0"/>
          </a:p>
        </p:txBody>
      </p:sp>
      <p:sp>
        <p:nvSpPr>
          <p:cNvPr id="14" name="Text 9"/>
          <p:cNvSpPr txBox="1"/>
          <p:nvPr/>
        </p:nvSpPr>
        <p:spPr>
          <a:xfrm>
            <a:off x="4572000" y="2423160"/>
            <a:ext cx="3017520" cy="685800"/>
          </a:xfrm>
          <a:prstGeom prst="rect">
            <a:avLst/>
          </a:prstGeom>
          <a:noFill/>
          <a:ln/>
        </p:spPr>
        <p:txBody>
          <a:bodyPr wrap="square" lIns="0" tIns="0" rIns="0" bIns="0" rtlCol="0" anchor="t"/>
          <a:lstStyle/>
          <a:p>
            <a:pPr indent="0" marL="0">
              <a:buNone/>
            </a:pPr>
            <a:r>
              <a:rPr lang="en-US" sz="1600" dirty="0">
                <a:solidFill>
                  <a:schemeClr val="tx1"/>
                </a:solidFill>
              </a:rPr>
              <a:t>Real tasks, then reflection and feedback</a:t>
            </a:r>
            <a:endParaRPr lang="en-US" sz="1600" dirty="0"/>
          </a:p>
        </p:txBody>
      </p:sp>
      <p:sp>
        <p:nvSpPr>
          <p:cNvPr id="15" name="Text 10"/>
          <p:cNvSpPr txBox="1"/>
          <p:nvPr/>
        </p:nvSpPr>
        <p:spPr>
          <a:xfrm>
            <a:off x="4572000" y="3108960"/>
            <a:ext cx="3017520" cy="320040"/>
          </a:xfrm>
          <a:prstGeom prst="rect">
            <a:avLst/>
          </a:prstGeom>
          <a:noFill/>
          <a:ln/>
        </p:spPr>
        <p:txBody>
          <a:bodyPr wrap="square" lIns="0" tIns="0" rIns="0" bIns="0" rtlCol="0" anchor="t"/>
          <a:lstStyle/>
          <a:p>
            <a:pPr indent="0" marL="0">
              <a:buNone/>
            </a:pPr>
            <a:r>
              <a:rPr lang="en-US" sz="1200" i="1" dirty="0">
                <a:solidFill>
                  <a:schemeClr val="accent3"/>
                </a:solidFill>
              </a:rPr>
              <a:t>Kolb</a:t>
            </a:r>
            <a:endParaRPr lang="en-US" sz="1200" dirty="0"/>
          </a:p>
        </p:txBody>
      </p:sp>
      <p:sp>
        <p:nvSpPr>
          <p:cNvPr id="16" name="Spaced out card"/>
          <p:cNvSpPr/>
          <p:nvPr/>
        </p:nvSpPr>
        <p:spPr>
          <a:xfrm>
            <a:off x="8046720" y="1463040"/>
            <a:ext cx="3566160" cy="2103120"/>
          </a:xfrm>
          <a:prstGeom prst="roundRect">
            <a:avLst>
              <a:gd name="adj" fmla="val 3478"/>
            </a:avLst>
          </a:prstGeom>
          <a:solidFill>
            <a:schemeClr val="bg2"/>
          </a:solidFill>
          <a:ln w="12700">
            <a:solidFill>
              <a:schemeClr val="bg2"/>
            </a:solidFill>
            <a:prstDash val="solid"/>
          </a:ln>
        </p:spPr>
      </p:sp>
      <p:sp>
        <p:nvSpPr>
          <p:cNvPr id="17" name="Spaced out icon circle"/>
          <p:cNvSpPr/>
          <p:nvPr/>
        </p:nvSpPr>
        <p:spPr>
          <a:xfrm>
            <a:off x="8321040" y="1737360"/>
            <a:ext cx="548640" cy="548640"/>
          </a:xfrm>
          <a:prstGeom prst="ellipse">
            <a:avLst/>
          </a:prstGeom>
          <a:solidFill>
            <a:schemeClr val="accent1"/>
          </a:solidFill>
          <a:ln w="12700">
            <a:solidFill>
              <a:schemeClr val="accent1"/>
            </a:solidFill>
            <a:prstDash val="solid"/>
          </a:ln>
        </p:spPr>
      </p:sp>
      <p:pic>
        <p:nvPicPr>
          <p:cNvPr id="18" name="Spaced out icon" descr="Spaced out icon">    </p:cNvPr>
          <p:cNvPicPr>
            <a:picLocks noChangeAspect="1"/>
          </p:cNvPicPr>
          <p:nvPr/>
        </p:nvPicPr>
        <p:blipFill>
          <a:blip r:embed="rId3"/>
          <a:stretch>
            <a:fillRect/>
          </a:stretch>
        </p:blipFill>
        <p:spPr>
          <a:xfrm>
            <a:off x="8458200" y="1874520"/>
            <a:ext cx="274320" cy="274320"/>
          </a:xfrm>
          <a:prstGeom prst="rect">
            <a:avLst/>
          </a:prstGeom>
        </p:spPr>
      </p:pic>
      <p:sp>
        <p:nvSpPr>
          <p:cNvPr id="19" name="Text 13"/>
          <p:cNvSpPr txBox="1"/>
          <p:nvPr/>
        </p:nvSpPr>
        <p:spPr>
          <a:xfrm>
            <a:off x="9006840" y="1737360"/>
            <a:ext cx="2468880" cy="548640"/>
          </a:xfrm>
          <a:prstGeom prst="rect">
            <a:avLst/>
          </a:prstGeom>
          <a:noFill/>
          <a:ln/>
        </p:spPr>
        <p:txBody>
          <a:bodyPr wrap="square" lIns="0" tIns="0" rIns="0" bIns="0" rtlCol="0" anchor="ctr"/>
          <a:lstStyle/>
          <a:p>
            <a:pPr indent="0" marL="0">
              <a:buNone/>
            </a:pPr>
            <a:r>
              <a:rPr lang="en-US" sz="2200" b="1" dirty="0">
                <a:solidFill>
                  <a:schemeClr val="tx1"/>
                </a:solidFill>
              </a:rPr>
              <a:t>Spaced out</a:t>
            </a:r>
            <a:endParaRPr lang="en-US" sz="2200" dirty="0"/>
          </a:p>
        </p:txBody>
      </p:sp>
      <p:sp>
        <p:nvSpPr>
          <p:cNvPr id="20" name="Text 14"/>
          <p:cNvSpPr txBox="1"/>
          <p:nvPr/>
        </p:nvSpPr>
        <p:spPr>
          <a:xfrm>
            <a:off x="8321040" y="2423160"/>
            <a:ext cx="3017520" cy="685800"/>
          </a:xfrm>
          <a:prstGeom prst="rect">
            <a:avLst/>
          </a:prstGeom>
          <a:noFill/>
          <a:ln/>
        </p:spPr>
        <p:txBody>
          <a:bodyPr wrap="square" lIns="0" tIns="0" rIns="0" bIns="0" rtlCol="0" anchor="t"/>
          <a:lstStyle/>
          <a:p>
            <a:pPr indent="0" marL="0">
              <a:buNone/>
            </a:pPr>
            <a:r>
              <a:rPr lang="en-US" sz="1600" dirty="0">
                <a:solidFill>
                  <a:schemeClr val="tx1"/>
                </a:solidFill>
              </a:rPr>
              <a:t>Revisit key content over weeks</a:t>
            </a:r>
            <a:endParaRPr lang="en-US" sz="1600" dirty="0"/>
          </a:p>
        </p:txBody>
      </p:sp>
      <p:sp>
        <p:nvSpPr>
          <p:cNvPr id="21" name="Text 15"/>
          <p:cNvSpPr txBox="1"/>
          <p:nvPr/>
        </p:nvSpPr>
        <p:spPr>
          <a:xfrm>
            <a:off x="8321040" y="3108960"/>
            <a:ext cx="3017520" cy="320040"/>
          </a:xfrm>
          <a:prstGeom prst="rect">
            <a:avLst/>
          </a:prstGeom>
          <a:noFill/>
          <a:ln/>
        </p:spPr>
        <p:txBody>
          <a:bodyPr wrap="square" lIns="0" tIns="0" rIns="0" bIns="0" rtlCol="0" anchor="t"/>
          <a:lstStyle/>
          <a:p>
            <a:pPr indent="0" marL="0">
              <a:buNone/>
            </a:pPr>
            <a:r>
              <a:rPr lang="en-US" sz="1200" i="1" dirty="0">
                <a:solidFill>
                  <a:schemeClr val="accent3"/>
                </a:solidFill>
              </a:rPr>
              <a:t>Ebbinghaus</a:t>
            </a:r>
            <a:endParaRPr lang="en-US" sz="1200" dirty="0"/>
          </a:p>
        </p:txBody>
      </p:sp>
      <p:sp>
        <p:nvSpPr>
          <p:cNvPr id="22" name="Practised card"/>
          <p:cNvSpPr/>
          <p:nvPr/>
        </p:nvSpPr>
        <p:spPr>
          <a:xfrm>
            <a:off x="548640" y="3749040"/>
            <a:ext cx="3566160" cy="2103120"/>
          </a:xfrm>
          <a:prstGeom prst="roundRect">
            <a:avLst>
              <a:gd name="adj" fmla="val 3478"/>
            </a:avLst>
          </a:prstGeom>
          <a:solidFill>
            <a:schemeClr val="bg2"/>
          </a:solidFill>
          <a:ln w="12700">
            <a:solidFill>
              <a:schemeClr val="bg2"/>
            </a:solidFill>
            <a:prstDash val="solid"/>
          </a:ln>
        </p:spPr>
      </p:sp>
      <p:sp>
        <p:nvSpPr>
          <p:cNvPr id="23" name="Practised icon circle"/>
          <p:cNvSpPr/>
          <p:nvPr/>
        </p:nvSpPr>
        <p:spPr>
          <a:xfrm>
            <a:off x="822960" y="4023360"/>
            <a:ext cx="548640" cy="548640"/>
          </a:xfrm>
          <a:prstGeom prst="ellipse">
            <a:avLst/>
          </a:prstGeom>
          <a:solidFill>
            <a:schemeClr val="accent1"/>
          </a:solidFill>
          <a:ln w="12700">
            <a:solidFill>
              <a:schemeClr val="accent1"/>
            </a:solidFill>
            <a:prstDash val="solid"/>
          </a:ln>
        </p:spPr>
      </p:sp>
      <p:pic>
        <p:nvPicPr>
          <p:cNvPr id="24" name="Practised icon" descr="Practised icon">    </p:cNvPr>
          <p:cNvPicPr>
            <a:picLocks noChangeAspect="1"/>
          </p:cNvPicPr>
          <p:nvPr/>
        </p:nvPicPr>
        <p:blipFill>
          <a:blip r:embed="rId4"/>
          <a:stretch>
            <a:fillRect/>
          </a:stretch>
        </p:blipFill>
        <p:spPr>
          <a:xfrm>
            <a:off x="960120" y="4160520"/>
            <a:ext cx="274320" cy="274320"/>
          </a:xfrm>
          <a:prstGeom prst="rect">
            <a:avLst/>
          </a:prstGeom>
        </p:spPr>
      </p:pic>
      <p:sp>
        <p:nvSpPr>
          <p:cNvPr id="25" name="Text 18"/>
          <p:cNvSpPr txBox="1"/>
          <p:nvPr/>
        </p:nvSpPr>
        <p:spPr>
          <a:xfrm>
            <a:off x="1508760" y="4023360"/>
            <a:ext cx="2468880" cy="548640"/>
          </a:xfrm>
          <a:prstGeom prst="rect">
            <a:avLst/>
          </a:prstGeom>
          <a:noFill/>
          <a:ln/>
        </p:spPr>
        <p:txBody>
          <a:bodyPr wrap="square" lIns="0" tIns="0" rIns="0" bIns="0" rtlCol="0" anchor="ctr"/>
          <a:lstStyle/>
          <a:p>
            <a:pPr indent="0" marL="0">
              <a:buNone/>
            </a:pPr>
            <a:r>
              <a:rPr lang="en-US" sz="2200" b="1" dirty="0">
                <a:solidFill>
                  <a:schemeClr val="tx1"/>
                </a:solidFill>
              </a:rPr>
              <a:t>Practised</a:t>
            </a:r>
            <a:endParaRPr lang="en-US" sz="2200" dirty="0"/>
          </a:p>
        </p:txBody>
      </p:sp>
      <p:sp>
        <p:nvSpPr>
          <p:cNvPr id="26" name="Text 19"/>
          <p:cNvSpPr txBox="1"/>
          <p:nvPr/>
        </p:nvSpPr>
        <p:spPr>
          <a:xfrm>
            <a:off x="822960" y="4709160"/>
            <a:ext cx="3017520" cy="685800"/>
          </a:xfrm>
          <a:prstGeom prst="rect">
            <a:avLst/>
          </a:prstGeom>
          <a:noFill/>
          <a:ln/>
        </p:spPr>
        <p:txBody>
          <a:bodyPr wrap="square" lIns="0" tIns="0" rIns="0" bIns="0" rtlCol="0" anchor="t"/>
          <a:lstStyle/>
          <a:p>
            <a:pPr indent="0" marL="0">
              <a:buNone/>
            </a:pPr>
            <a:r>
              <a:rPr lang="en-US" sz="1600" dirty="0">
                <a:solidFill>
                  <a:schemeClr val="tx1"/>
                </a:solidFill>
              </a:rPr>
              <a:t>Recall and rehearse, don't just listen</a:t>
            </a:r>
            <a:endParaRPr lang="en-US" sz="1600" dirty="0"/>
          </a:p>
        </p:txBody>
      </p:sp>
      <p:sp>
        <p:nvSpPr>
          <p:cNvPr id="27" name="Text 20"/>
          <p:cNvSpPr txBox="1"/>
          <p:nvPr/>
        </p:nvSpPr>
        <p:spPr>
          <a:xfrm>
            <a:off x="822960" y="5394960"/>
            <a:ext cx="3017520" cy="320040"/>
          </a:xfrm>
          <a:prstGeom prst="rect">
            <a:avLst/>
          </a:prstGeom>
          <a:noFill/>
          <a:ln/>
        </p:spPr>
        <p:txBody>
          <a:bodyPr wrap="square" lIns="0" tIns="0" rIns="0" bIns="0" rtlCol="0" anchor="t"/>
          <a:lstStyle/>
          <a:p>
            <a:pPr indent="0" marL="0">
              <a:buNone/>
            </a:pPr>
            <a:r>
              <a:rPr lang="en-US" sz="1200" i="1" dirty="0">
                <a:solidFill>
                  <a:schemeClr val="accent3"/>
                </a:solidFill>
              </a:rPr>
              <a:t>Retrieval, deliberate practice</a:t>
            </a:r>
            <a:endParaRPr lang="en-US" sz="1200" dirty="0"/>
          </a:p>
        </p:txBody>
      </p:sp>
      <p:sp>
        <p:nvSpPr>
          <p:cNvPr id="28" name="Bite-sized card"/>
          <p:cNvSpPr/>
          <p:nvPr/>
        </p:nvSpPr>
        <p:spPr>
          <a:xfrm>
            <a:off x="4297680" y="3749040"/>
            <a:ext cx="3566160" cy="2103120"/>
          </a:xfrm>
          <a:prstGeom prst="roundRect">
            <a:avLst>
              <a:gd name="adj" fmla="val 3478"/>
            </a:avLst>
          </a:prstGeom>
          <a:solidFill>
            <a:schemeClr val="bg2"/>
          </a:solidFill>
          <a:ln w="12700">
            <a:solidFill>
              <a:schemeClr val="bg2"/>
            </a:solidFill>
            <a:prstDash val="solid"/>
          </a:ln>
        </p:spPr>
      </p:sp>
      <p:sp>
        <p:nvSpPr>
          <p:cNvPr id="29" name="Bite-sized icon circle"/>
          <p:cNvSpPr/>
          <p:nvPr/>
        </p:nvSpPr>
        <p:spPr>
          <a:xfrm>
            <a:off x="4572000" y="4023360"/>
            <a:ext cx="548640" cy="548640"/>
          </a:xfrm>
          <a:prstGeom prst="ellipse">
            <a:avLst/>
          </a:prstGeom>
          <a:solidFill>
            <a:schemeClr val="accent1"/>
          </a:solidFill>
          <a:ln w="12700">
            <a:solidFill>
              <a:schemeClr val="accent1"/>
            </a:solidFill>
            <a:prstDash val="solid"/>
          </a:ln>
        </p:spPr>
      </p:sp>
      <p:pic>
        <p:nvPicPr>
          <p:cNvPr id="30" name="Bite-sized icon" descr="Bite-sized icon">    </p:cNvPr>
          <p:cNvPicPr>
            <a:picLocks noChangeAspect="1"/>
          </p:cNvPicPr>
          <p:nvPr/>
        </p:nvPicPr>
        <p:blipFill>
          <a:blip r:embed="rId5"/>
          <a:stretch>
            <a:fillRect/>
          </a:stretch>
        </p:blipFill>
        <p:spPr>
          <a:xfrm>
            <a:off x="4709160" y="4160520"/>
            <a:ext cx="274320" cy="274320"/>
          </a:xfrm>
          <a:prstGeom prst="rect">
            <a:avLst/>
          </a:prstGeom>
        </p:spPr>
      </p:pic>
      <p:sp>
        <p:nvSpPr>
          <p:cNvPr id="31" name="Text 23"/>
          <p:cNvSpPr txBox="1"/>
          <p:nvPr/>
        </p:nvSpPr>
        <p:spPr>
          <a:xfrm>
            <a:off x="5257800" y="4023360"/>
            <a:ext cx="2468880" cy="548640"/>
          </a:xfrm>
          <a:prstGeom prst="rect">
            <a:avLst/>
          </a:prstGeom>
          <a:noFill/>
          <a:ln/>
        </p:spPr>
        <p:txBody>
          <a:bodyPr wrap="square" lIns="0" tIns="0" rIns="0" bIns="0" rtlCol="0" anchor="ctr"/>
          <a:lstStyle/>
          <a:p>
            <a:pPr indent="0" marL="0">
              <a:buNone/>
            </a:pPr>
            <a:r>
              <a:rPr lang="en-US" sz="2200" b="1" dirty="0">
                <a:solidFill>
                  <a:schemeClr val="tx1"/>
                </a:solidFill>
              </a:rPr>
              <a:t>Bite-sized</a:t>
            </a:r>
            <a:endParaRPr lang="en-US" sz="2200" dirty="0"/>
          </a:p>
        </p:txBody>
      </p:sp>
      <p:sp>
        <p:nvSpPr>
          <p:cNvPr id="32" name="Text 24"/>
          <p:cNvSpPr txBox="1"/>
          <p:nvPr/>
        </p:nvSpPr>
        <p:spPr>
          <a:xfrm>
            <a:off x="4572000" y="4709160"/>
            <a:ext cx="3017520" cy="685800"/>
          </a:xfrm>
          <a:prstGeom prst="rect">
            <a:avLst/>
          </a:prstGeom>
          <a:noFill/>
          <a:ln/>
        </p:spPr>
        <p:txBody>
          <a:bodyPr wrap="square" lIns="0" tIns="0" rIns="0" bIns="0" rtlCol="0" anchor="t"/>
          <a:lstStyle/>
          <a:p>
            <a:pPr indent="0" marL="0">
              <a:buNone/>
            </a:pPr>
            <a:r>
              <a:rPr lang="en-US" sz="1600" dirty="0">
                <a:solidFill>
                  <a:schemeClr val="tx1"/>
                </a:solidFill>
              </a:rPr>
              <a:t>A few new things at a time</a:t>
            </a:r>
            <a:endParaRPr lang="en-US" sz="1600" dirty="0"/>
          </a:p>
        </p:txBody>
      </p:sp>
      <p:sp>
        <p:nvSpPr>
          <p:cNvPr id="33" name="Text 25"/>
          <p:cNvSpPr txBox="1"/>
          <p:nvPr/>
        </p:nvSpPr>
        <p:spPr>
          <a:xfrm>
            <a:off x="4572000" y="5394960"/>
            <a:ext cx="3017520" cy="320040"/>
          </a:xfrm>
          <a:prstGeom prst="rect">
            <a:avLst/>
          </a:prstGeom>
          <a:noFill/>
          <a:ln/>
        </p:spPr>
        <p:txBody>
          <a:bodyPr wrap="square" lIns="0" tIns="0" rIns="0" bIns="0" rtlCol="0" anchor="t"/>
          <a:lstStyle/>
          <a:p>
            <a:pPr indent="0" marL="0">
              <a:buNone/>
            </a:pPr>
            <a:r>
              <a:rPr lang="en-US" sz="1200" i="1" dirty="0">
                <a:solidFill>
                  <a:schemeClr val="accent3"/>
                </a:solidFill>
              </a:rPr>
              <a:t>Sweller</a:t>
            </a:r>
            <a:endParaRPr lang="en-US" sz="1200" dirty="0"/>
          </a:p>
        </p:txBody>
      </p:sp>
      <p:sp>
        <p:nvSpPr>
          <p:cNvPr id="34" name="Social card"/>
          <p:cNvSpPr/>
          <p:nvPr/>
        </p:nvSpPr>
        <p:spPr>
          <a:xfrm>
            <a:off x="8046720" y="3749040"/>
            <a:ext cx="3566160" cy="2103120"/>
          </a:xfrm>
          <a:prstGeom prst="roundRect">
            <a:avLst>
              <a:gd name="adj" fmla="val 3478"/>
            </a:avLst>
          </a:prstGeom>
          <a:solidFill>
            <a:schemeClr val="bg2"/>
          </a:solidFill>
          <a:ln w="12700">
            <a:solidFill>
              <a:schemeClr val="bg2"/>
            </a:solidFill>
            <a:prstDash val="solid"/>
          </a:ln>
        </p:spPr>
      </p:sp>
      <p:sp>
        <p:nvSpPr>
          <p:cNvPr id="35" name="Social icon circle"/>
          <p:cNvSpPr/>
          <p:nvPr/>
        </p:nvSpPr>
        <p:spPr>
          <a:xfrm>
            <a:off x="8321040" y="4023360"/>
            <a:ext cx="548640" cy="548640"/>
          </a:xfrm>
          <a:prstGeom prst="ellipse">
            <a:avLst/>
          </a:prstGeom>
          <a:solidFill>
            <a:schemeClr val="accent1"/>
          </a:solidFill>
          <a:ln w="12700">
            <a:solidFill>
              <a:schemeClr val="accent1"/>
            </a:solidFill>
            <a:prstDash val="solid"/>
          </a:ln>
        </p:spPr>
      </p:sp>
      <p:pic>
        <p:nvPicPr>
          <p:cNvPr id="36" name="Social icon" descr="Social icon">    </p:cNvPr>
          <p:cNvPicPr>
            <a:picLocks noChangeAspect="1"/>
          </p:cNvPicPr>
          <p:nvPr/>
        </p:nvPicPr>
        <p:blipFill>
          <a:blip r:embed="rId6"/>
          <a:stretch>
            <a:fillRect/>
          </a:stretch>
        </p:blipFill>
        <p:spPr>
          <a:xfrm>
            <a:off x="8458200" y="4160520"/>
            <a:ext cx="274320" cy="274320"/>
          </a:xfrm>
          <a:prstGeom prst="rect">
            <a:avLst/>
          </a:prstGeom>
        </p:spPr>
      </p:pic>
      <p:sp>
        <p:nvSpPr>
          <p:cNvPr id="37" name="Text 28"/>
          <p:cNvSpPr txBox="1"/>
          <p:nvPr/>
        </p:nvSpPr>
        <p:spPr>
          <a:xfrm>
            <a:off x="9006840" y="4023360"/>
            <a:ext cx="2468880" cy="548640"/>
          </a:xfrm>
          <a:prstGeom prst="rect">
            <a:avLst/>
          </a:prstGeom>
          <a:noFill/>
          <a:ln/>
        </p:spPr>
        <p:txBody>
          <a:bodyPr wrap="square" lIns="0" tIns="0" rIns="0" bIns="0" rtlCol="0" anchor="ctr"/>
          <a:lstStyle/>
          <a:p>
            <a:pPr indent="0" marL="0">
              <a:buNone/>
            </a:pPr>
            <a:r>
              <a:rPr lang="en-US" sz="2200" b="1" dirty="0">
                <a:solidFill>
                  <a:schemeClr val="tx1"/>
                </a:solidFill>
              </a:rPr>
              <a:t>Social</a:t>
            </a:r>
            <a:endParaRPr lang="en-US" sz="2200" dirty="0"/>
          </a:p>
        </p:txBody>
      </p:sp>
      <p:sp>
        <p:nvSpPr>
          <p:cNvPr id="38" name="Text 29"/>
          <p:cNvSpPr txBox="1"/>
          <p:nvPr/>
        </p:nvSpPr>
        <p:spPr>
          <a:xfrm>
            <a:off x="8321040" y="4709160"/>
            <a:ext cx="3017520" cy="685800"/>
          </a:xfrm>
          <a:prstGeom prst="rect">
            <a:avLst/>
          </a:prstGeom>
          <a:noFill/>
          <a:ln/>
        </p:spPr>
        <p:txBody>
          <a:bodyPr wrap="square" lIns="0" tIns="0" rIns="0" bIns="0" rtlCol="0" anchor="t"/>
          <a:lstStyle/>
          <a:p>
            <a:pPr indent="0" marL="0">
              <a:buNone/>
            </a:pPr>
            <a:r>
              <a:rPr lang="en-US" sz="1600" dirty="0">
                <a:solidFill>
                  <a:schemeClr val="tx1"/>
                </a:solidFill>
              </a:rPr>
              <a:t>Learn from watching and working with others</a:t>
            </a:r>
            <a:endParaRPr lang="en-US" sz="1600" dirty="0"/>
          </a:p>
        </p:txBody>
      </p:sp>
      <p:sp>
        <p:nvSpPr>
          <p:cNvPr id="39" name="Text 30"/>
          <p:cNvSpPr txBox="1"/>
          <p:nvPr/>
        </p:nvSpPr>
        <p:spPr>
          <a:xfrm>
            <a:off x="8321040" y="5394960"/>
            <a:ext cx="3017520" cy="320040"/>
          </a:xfrm>
          <a:prstGeom prst="rect">
            <a:avLst/>
          </a:prstGeom>
          <a:noFill/>
          <a:ln/>
        </p:spPr>
        <p:txBody>
          <a:bodyPr wrap="square" lIns="0" tIns="0" rIns="0" bIns="0" rtlCol="0" anchor="t"/>
          <a:lstStyle/>
          <a:p>
            <a:pPr indent="0" marL="0">
              <a:buNone/>
            </a:pPr>
            <a:r>
              <a:rPr lang="en-US" sz="1200" i="1" dirty="0">
                <a:solidFill>
                  <a:schemeClr val="accent3"/>
                </a:solidFill>
              </a:rPr>
              <a:t>Bandura</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Sources</a:t>
            </a:r>
            <a:endParaRPr lang="en-US" sz="3200" dirty="0"/>
          </a:p>
        </p:txBody>
      </p:sp>
      <p:pic>
        <p:nvPicPr>
          <p:cNvPr id="4" name="book icon 1" descr="book">    </p:cNvPr>
          <p:cNvPicPr>
            <a:picLocks noChangeAspect="1"/>
          </p:cNvPicPr>
          <p:nvPr/>
        </p:nvPicPr>
        <p:blipFill>
          <a:blip r:embed="rId1"/>
          <a:stretch>
            <a:fillRect/>
          </a:stretch>
        </p:blipFill>
        <p:spPr>
          <a:xfrm>
            <a:off x="548640" y="1572768"/>
            <a:ext cx="411480" cy="411480"/>
          </a:xfrm>
          <a:prstGeom prst="rect">
            <a:avLst/>
          </a:prstGeom>
        </p:spPr>
      </p:pic>
      <p:sp>
        <p:nvSpPr>
          <p:cNvPr id="5" name="Text 1"/>
          <p:cNvSpPr txBox="1"/>
          <p:nvPr/>
        </p:nvSpPr>
        <p:spPr>
          <a:xfrm>
            <a:off x="1188720" y="1463040"/>
            <a:ext cx="4846320" cy="822960"/>
          </a:xfrm>
          <a:prstGeom prst="rect">
            <a:avLst/>
          </a:prstGeom>
          <a:noFill/>
          <a:ln/>
        </p:spPr>
        <p:txBody>
          <a:bodyPr wrap="square" lIns="0" tIns="0" rIns="0" bIns="0" rtlCol="0" anchor="t"/>
          <a:lstStyle/>
          <a:p>
            <a:pPr indent="0" marL="0">
              <a:buNone/>
            </a:pPr>
            <a:r>
              <a:rPr lang="en-US" sz="1600" b="1" dirty="0">
                <a:solidFill>
                  <a:schemeClr val="tx1"/>
                </a:solidFill>
              </a:rPr>
              <a:t>Knowles, M.</a:t>
            </a:r>
            <a:endParaRPr lang="en-US" sz="1600" dirty="0"/>
          </a:p>
          <a:p>
            <a:pPr indent="0" marL="0">
              <a:buNone/>
            </a:pPr>
            <a:r>
              <a:rPr lang="en-US" sz="1600" i="1" dirty="0">
                <a:solidFill>
                  <a:schemeClr val="accent3"/>
                </a:solidFill>
              </a:rPr>
              <a:t>The Adult Learner (andragogy)</a:t>
            </a:r>
            <a:endParaRPr lang="en-US" sz="1600" dirty="0"/>
          </a:p>
        </p:txBody>
      </p:sp>
      <p:pic>
        <p:nvPicPr>
          <p:cNvPr id="6" name="book icon 2" descr="book">    </p:cNvPr>
          <p:cNvPicPr>
            <a:picLocks noChangeAspect="1"/>
          </p:cNvPicPr>
          <p:nvPr/>
        </p:nvPicPr>
        <p:blipFill>
          <a:blip r:embed="rId2"/>
          <a:stretch>
            <a:fillRect/>
          </a:stretch>
        </p:blipFill>
        <p:spPr>
          <a:xfrm>
            <a:off x="548640" y="2670048"/>
            <a:ext cx="411480" cy="411480"/>
          </a:xfrm>
          <a:prstGeom prst="rect">
            <a:avLst/>
          </a:prstGeom>
        </p:spPr>
      </p:pic>
      <p:sp>
        <p:nvSpPr>
          <p:cNvPr id="7" name="Text 2"/>
          <p:cNvSpPr txBox="1"/>
          <p:nvPr/>
        </p:nvSpPr>
        <p:spPr>
          <a:xfrm>
            <a:off x="1188720" y="2560320"/>
            <a:ext cx="4846320" cy="822960"/>
          </a:xfrm>
          <a:prstGeom prst="rect">
            <a:avLst/>
          </a:prstGeom>
          <a:noFill/>
          <a:ln/>
        </p:spPr>
        <p:txBody>
          <a:bodyPr wrap="square" lIns="0" tIns="0" rIns="0" bIns="0" rtlCol="0" anchor="t"/>
          <a:lstStyle/>
          <a:p>
            <a:pPr indent="0" marL="0">
              <a:buNone/>
            </a:pPr>
            <a:r>
              <a:rPr lang="en-US" sz="1600" b="1" dirty="0">
                <a:solidFill>
                  <a:schemeClr val="tx1"/>
                </a:solidFill>
              </a:rPr>
              <a:t>Kolb, D.</a:t>
            </a:r>
            <a:endParaRPr lang="en-US" sz="1600" dirty="0"/>
          </a:p>
          <a:p>
            <a:pPr indent="0" marL="0">
              <a:buNone/>
            </a:pPr>
            <a:r>
              <a:rPr lang="en-US" sz="1600" i="1" dirty="0">
                <a:solidFill>
                  <a:schemeClr val="accent3"/>
                </a:solidFill>
              </a:rPr>
              <a:t>Experiential Learning</a:t>
            </a:r>
            <a:endParaRPr lang="en-US" sz="1600" dirty="0"/>
          </a:p>
        </p:txBody>
      </p:sp>
      <p:pic>
        <p:nvPicPr>
          <p:cNvPr id="8" name="book icon 3" descr="book">    </p:cNvPr>
          <p:cNvPicPr>
            <a:picLocks noChangeAspect="1"/>
          </p:cNvPicPr>
          <p:nvPr/>
        </p:nvPicPr>
        <p:blipFill>
          <a:blip r:embed="rId3"/>
          <a:stretch>
            <a:fillRect/>
          </a:stretch>
        </p:blipFill>
        <p:spPr>
          <a:xfrm>
            <a:off x="548640" y="3767328"/>
            <a:ext cx="411480" cy="411480"/>
          </a:xfrm>
          <a:prstGeom prst="rect">
            <a:avLst/>
          </a:prstGeom>
        </p:spPr>
      </p:pic>
      <p:sp>
        <p:nvSpPr>
          <p:cNvPr id="9" name="Text 3"/>
          <p:cNvSpPr txBox="1"/>
          <p:nvPr/>
        </p:nvSpPr>
        <p:spPr>
          <a:xfrm>
            <a:off x="1188720" y="3657600"/>
            <a:ext cx="4846320" cy="822960"/>
          </a:xfrm>
          <a:prstGeom prst="rect">
            <a:avLst/>
          </a:prstGeom>
          <a:noFill/>
          <a:ln/>
        </p:spPr>
        <p:txBody>
          <a:bodyPr wrap="square" lIns="0" tIns="0" rIns="0" bIns="0" rtlCol="0" anchor="t"/>
          <a:lstStyle/>
          <a:p>
            <a:pPr indent="0" marL="0">
              <a:buNone/>
            </a:pPr>
            <a:r>
              <a:rPr lang="en-US" sz="1600" b="1" dirty="0">
                <a:solidFill>
                  <a:schemeClr val="tx1"/>
                </a:solidFill>
              </a:rPr>
              <a:t>Ebbinghaus, H.</a:t>
            </a:r>
            <a:endParaRPr lang="en-US" sz="1600" dirty="0"/>
          </a:p>
          <a:p>
            <a:pPr indent="0" marL="0">
              <a:buNone/>
            </a:pPr>
            <a:r>
              <a:rPr lang="en-US" sz="1600" i="1" dirty="0">
                <a:solidFill>
                  <a:schemeClr val="accent3"/>
                </a:solidFill>
              </a:rPr>
              <a:t>Memory: A Contribution to Experimental Psychology (1885)</a:t>
            </a:r>
            <a:endParaRPr lang="en-US" sz="1600" dirty="0"/>
          </a:p>
        </p:txBody>
      </p:sp>
      <p:pic>
        <p:nvPicPr>
          <p:cNvPr id="10" name="book icon 4" descr="book">    </p:cNvPr>
          <p:cNvPicPr>
            <a:picLocks noChangeAspect="1"/>
          </p:cNvPicPr>
          <p:nvPr/>
        </p:nvPicPr>
        <p:blipFill>
          <a:blip r:embed="rId4"/>
          <a:stretch>
            <a:fillRect/>
          </a:stretch>
        </p:blipFill>
        <p:spPr>
          <a:xfrm>
            <a:off x="548640" y="4864608"/>
            <a:ext cx="411480" cy="411480"/>
          </a:xfrm>
          <a:prstGeom prst="rect">
            <a:avLst/>
          </a:prstGeom>
        </p:spPr>
      </p:pic>
      <p:sp>
        <p:nvSpPr>
          <p:cNvPr id="11" name="Text 4"/>
          <p:cNvSpPr txBox="1"/>
          <p:nvPr/>
        </p:nvSpPr>
        <p:spPr>
          <a:xfrm>
            <a:off x="1188720" y="4754880"/>
            <a:ext cx="4846320" cy="822960"/>
          </a:xfrm>
          <a:prstGeom prst="rect">
            <a:avLst/>
          </a:prstGeom>
          <a:noFill/>
          <a:ln/>
        </p:spPr>
        <p:txBody>
          <a:bodyPr wrap="square" lIns="0" tIns="0" rIns="0" bIns="0" rtlCol="0" anchor="t"/>
          <a:lstStyle/>
          <a:p>
            <a:pPr indent="0" marL="0">
              <a:buNone/>
            </a:pPr>
            <a:r>
              <a:rPr lang="en-US" sz="1600" b="1" dirty="0">
                <a:solidFill>
                  <a:schemeClr val="tx1"/>
                </a:solidFill>
              </a:rPr>
              <a:t>Brown, Roediger &amp; McDaniel</a:t>
            </a:r>
            <a:endParaRPr lang="en-US" sz="1600" dirty="0"/>
          </a:p>
          <a:p>
            <a:pPr indent="0" marL="0">
              <a:buNone/>
            </a:pPr>
            <a:r>
              <a:rPr lang="en-US" sz="1600" i="1" dirty="0">
                <a:solidFill>
                  <a:schemeClr val="accent3"/>
                </a:solidFill>
              </a:rPr>
              <a:t>Make It Stick (retrieval practice, spacing)</a:t>
            </a:r>
            <a:endParaRPr lang="en-US" sz="1600" dirty="0"/>
          </a:p>
        </p:txBody>
      </p:sp>
      <p:pic>
        <p:nvPicPr>
          <p:cNvPr id="12" name="book icon 5" descr="book">    </p:cNvPr>
          <p:cNvPicPr>
            <a:picLocks noChangeAspect="1"/>
          </p:cNvPicPr>
          <p:nvPr/>
        </p:nvPicPr>
        <p:blipFill>
          <a:blip r:embed="rId5"/>
          <a:stretch>
            <a:fillRect/>
          </a:stretch>
        </p:blipFill>
        <p:spPr>
          <a:xfrm>
            <a:off x="6172200" y="1572768"/>
            <a:ext cx="411480" cy="411480"/>
          </a:xfrm>
          <a:prstGeom prst="rect">
            <a:avLst/>
          </a:prstGeom>
        </p:spPr>
      </p:pic>
      <p:sp>
        <p:nvSpPr>
          <p:cNvPr id="13" name="Text 5"/>
          <p:cNvSpPr txBox="1"/>
          <p:nvPr/>
        </p:nvSpPr>
        <p:spPr>
          <a:xfrm>
            <a:off x="6812280" y="1463040"/>
            <a:ext cx="4846320" cy="822960"/>
          </a:xfrm>
          <a:prstGeom prst="rect">
            <a:avLst/>
          </a:prstGeom>
          <a:noFill/>
          <a:ln/>
        </p:spPr>
        <p:txBody>
          <a:bodyPr wrap="square" lIns="0" tIns="0" rIns="0" bIns="0" rtlCol="0" anchor="t"/>
          <a:lstStyle/>
          <a:p>
            <a:pPr indent="0" marL="0">
              <a:buNone/>
            </a:pPr>
            <a:r>
              <a:rPr lang="en-US" sz="1600" b="1" dirty="0">
                <a:solidFill>
                  <a:schemeClr val="tx1"/>
                </a:solidFill>
              </a:rPr>
              <a:t>Ericsson, K.A.</a:t>
            </a:r>
            <a:endParaRPr lang="en-US" sz="1600" dirty="0"/>
          </a:p>
          <a:p>
            <a:pPr indent="0" marL="0">
              <a:buNone/>
            </a:pPr>
            <a:r>
              <a:rPr lang="en-US" sz="1600" i="1" dirty="0">
                <a:solidFill>
                  <a:schemeClr val="accent3"/>
                </a:solidFill>
              </a:rPr>
              <a:t>Peak (deliberate practice)</a:t>
            </a:r>
            <a:endParaRPr lang="en-US" sz="1600" dirty="0"/>
          </a:p>
        </p:txBody>
      </p:sp>
      <p:pic>
        <p:nvPicPr>
          <p:cNvPr id="14" name="book icon 6" descr="book">    </p:cNvPr>
          <p:cNvPicPr>
            <a:picLocks noChangeAspect="1"/>
          </p:cNvPicPr>
          <p:nvPr/>
        </p:nvPicPr>
        <p:blipFill>
          <a:blip r:embed="rId6"/>
          <a:stretch>
            <a:fillRect/>
          </a:stretch>
        </p:blipFill>
        <p:spPr>
          <a:xfrm>
            <a:off x="6172200" y="2670048"/>
            <a:ext cx="411480" cy="411480"/>
          </a:xfrm>
          <a:prstGeom prst="rect">
            <a:avLst/>
          </a:prstGeom>
        </p:spPr>
      </p:pic>
      <p:sp>
        <p:nvSpPr>
          <p:cNvPr id="15" name="Text 6"/>
          <p:cNvSpPr txBox="1"/>
          <p:nvPr/>
        </p:nvSpPr>
        <p:spPr>
          <a:xfrm>
            <a:off x="6812280" y="2560320"/>
            <a:ext cx="4846320" cy="822960"/>
          </a:xfrm>
          <a:prstGeom prst="rect">
            <a:avLst/>
          </a:prstGeom>
          <a:noFill/>
          <a:ln/>
        </p:spPr>
        <p:txBody>
          <a:bodyPr wrap="square" lIns="0" tIns="0" rIns="0" bIns="0" rtlCol="0" anchor="t"/>
          <a:lstStyle/>
          <a:p>
            <a:pPr indent="0" marL="0">
              <a:buNone/>
            </a:pPr>
            <a:r>
              <a:rPr lang="en-US" sz="1600" b="1" dirty="0">
                <a:solidFill>
                  <a:schemeClr val="tx1"/>
                </a:solidFill>
              </a:rPr>
              <a:t>Sweller, J.</a:t>
            </a:r>
            <a:endParaRPr lang="en-US" sz="1600" dirty="0"/>
          </a:p>
          <a:p>
            <a:pPr indent="0" marL="0">
              <a:buNone/>
            </a:pPr>
            <a:r>
              <a:rPr lang="en-US" sz="1600" i="1" dirty="0">
                <a:solidFill>
                  <a:schemeClr val="accent3"/>
                </a:solidFill>
              </a:rPr>
              <a:t>Cognitive Load Theory</a:t>
            </a:r>
            <a:endParaRPr lang="en-US" sz="1600" dirty="0"/>
          </a:p>
        </p:txBody>
      </p:sp>
      <p:pic>
        <p:nvPicPr>
          <p:cNvPr id="16" name="book icon 7" descr="book">    </p:cNvPr>
          <p:cNvPicPr>
            <a:picLocks noChangeAspect="1"/>
          </p:cNvPicPr>
          <p:nvPr/>
        </p:nvPicPr>
        <p:blipFill>
          <a:blip r:embed="rId7"/>
          <a:stretch>
            <a:fillRect/>
          </a:stretch>
        </p:blipFill>
        <p:spPr>
          <a:xfrm>
            <a:off x="6172200" y="3767328"/>
            <a:ext cx="411480" cy="411480"/>
          </a:xfrm>
          <a:prstGeom prst="rect">
            <a:avLst/>
          </a:prstGeom>
        </p:spPr>
      </p:pic>
      <p:sp>
        <p:nvSpPr>
          <p:cNvPr id="17" name="Text 7"/>
          <p:cNvSpPr txBox="1"/>
          <p:nvPr/>
        </p:nvSpPr>
        <p:spPr>
          <a:xfrm>
            <a:off x="6812280" y="3657600"/>
            <a:ext cx="4846320" cy="822960"/>
          </a:xfrm>
          <a:prstGeom prst="rect">
            <a:avLst/>
          </a:prstGeom>
          <a:noFill/>
          <a:ln/>
        </p:spPr>
        <p:txBody>
          <a:bodyPr wrap="square" lIns="0" tIns="0" rIns="0" bIns="0" rtlCol="0" anchor="t"/>
          <a:lstStyle/>
          <a:p>
            <a:pPr indent="0" marL="0">
              <a:buNone/>
            </a:pPr>
            <a:r>
              <a:rPr lang="en-US" sz="1600" b="1" dirty="0">
                <a:solidFill>
                  <a:schemeClr val="tx1"/>
                </a:solidFill>
              </a:rPr>
              <a:t>Bandura, A.</a:t>
            </a:r>
            <a:endParaRPr lang="en-US" sz="1600" dirty="0"/>
          </a:p>
          <a:p>
            <a:pPr indent="0" marL="0">
              <a:buNone/>
            </a:pPr>
            <a:r>
              <a:rPr lang="en-US" sz="1600" i="1" dirty="0">
                <a:solidFill>
                  <a:schemeClr val="accent3"/>
                </a:solidFill>
              </a:rPr>
              <a:t>Social Learning Theory</a:t>
            </a:r>
            <a:endParaRPr lang="en-US" sz="1600" dirty="0"/>
          </a:p>
        </p:txBody>
      </p:sp>
      <p:pic>
        <p:nvPicPr>
          <p:cNvPr id="18" name="book icon 8" descr="book">    </p:cNvPr>
          <p:cNvPicPr>
            <a:picLocks noChangeAspect="1"/>
          </p:cNvPicPr>
          <p:nvPr/>
        </p:nvPicPr>
        <p:blipFill>
          <a:blip r:embed="rId8"/>
          <a:stretch>
            <a:fillRect/>
          </a:stretch>
        </p:blipFill>
        <p:spPr>
          <a:xfrm>
            <a:off x="6172200" y="4864608"/>
            <a:ext cx="411480" cy="411480"/>
          </a:xfrm>
          <a:prstGeom prst="rect">
            <a:avLst/>
          </a:prstGeom>
        </p:spPr>
      </p:pic>
      <p:sp>
        <p:nvSpPr>
          <p:cNvPr id="19" name="Text 8"/>
          <p:cNvSpPr txBox="1"/>
          <p:nvPr/>
        </p:nvSpPr>
        <p:spPr>
          <a:xfrm>
            <a:off x="6812280" y="4754880"/>
            <a:ext cx="4846320" cy="822960"/>
          </a:xfrm>
          <a:prstGeom prst="rect">
            <a:avLst/>
          </a:prstGeom>
          <a:noFill/>
          <a:ln/>
        </p:spPr>
        <p:txBody>
          <a:bodyPr wrap="square" lIns="0" tIns="0" rIns="0" bIns="0" rtlCol="0" anchor="t"/>
          <a:lstStyle/>
          <a:p>
            <a:pPr indent="0" marL="0">
              <a:buNone/>
            </a:pPr>
            <a:r>
              <a:rPr lang="en-US" sz="1600" b="1" dirty="0">
                <a:solidFill>
                  <a:schemeClr val="tx1"/>
                </a:solidFill>
              </a:rPr>
              <a:t>Lombardo &amp; Eichinger (CCL)</a:t>
            </a:r>
            <a:endParaRPr lang="en-US" sz="1600" dirty="0"/>
          </a:p>
          <a:p>
            <a:pPr indent="0" marL="0">
              <a:buNone/>
            </a:pPr>
            <a:r>
              <a:rPr lang="en-US" sz="1600" i="1" dirty="0">
                <a:solidFill>
                  <a:schemeClr val="accent3"/>
                </a:solidFill>
              </a:rPr>
              <a:t>The 70-20-10 model</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NORAM Enablement">
  <a:themeElements>
    <a:clrScheme name="NORAM Enablement">
      <a:dk1>
        <a:srgbClr val="0B1F33"/>
      </a:dk1>
      <a:lt1>
        <a:srgbClr val="FFFFFF"/>
      </a:lt1>
      <a:dk2>
        <a:srgbClr val="0A1A2F"/>
      </a:dk2>
      <a:lt2>
        <a:srgbClr val="EEF2F6"/>
      </a:lt2>
      <a:accent1>
        <a:srgbClr val="00857A"/>
      </a:accent1>
      <a:accent2>
        <a:srgbClr val="E89B2C"/>
      </a:accent2>
      <a:accent3>
        <a:srgbClr val="5B6B7F"/>
      </a:accent3>
      <a:accent4>
        <a:srgbClr val="1F3A5A"/>
      </a:accent4>
      <a:accent5>
        <a:srgbClr val="C0392B"/>
      </a:accent5>
      <a:accent6>
        <a:srgbClr val="5ED3C6"/>
      </a:accent6>
      <a:hlink>
        <a:srgbClr val="00857A"/>
      </a:hlink>
      <a:folHlink>
        <a:srgbClr val="1F3A5A"/>
      </a:folHlink>
    </a:clrScheme>
    <a:fontScheme name="NORAM Enablem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New Hires Learn: Adult Learning Principles</dc:title>
  <dc:subject>PptxGenJS Presentation</dc:subject>
  <dc:creator>NORAM Revenue Enablement</dc:creator>
  <cp:lastModifiedBy>NORAM Revenue Enablement</cp:lastModifiedBy>
  <cp:revision>1</cp:revision>
  <dcterms:created xsi:type="dcterms:W3CDTF">2026-10-02T20:27:08Z</dcterms:created>
  <dcterms:modified xsi:type="dcterms:W3CDTF">2026-10-02T20:27:08Z</dcterms:modified>
</cp:coreProperties>
</file>